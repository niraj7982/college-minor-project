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48.jpg" ContentType="image/jpg"/>
  <Override PartName="/ppt/media/image49.jpg" ContentType="image/jpg"/>
  <Override PartName="/ppt/media/image50.jpg" ContentType="image/jpg"/>
  <Override PartName="/ppt/media/image51.jpg" ContentType="image/jpg"/>
  <Override PartName="/ppt/media/image52.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7"/>
  </p:notesMasterIdLst>
  <p:sldIdLst>
    <p:sldId id="284" r:id="rId2"/>
    <p:sldId id="285" r:id="rId3"/>
    <p:sldId id="282" r:id="rId4"/>
    <p:sldId id="283" r:id="rId5"/>
    <p:sldId id="258" r:id="rId6"/>
    <p:sldId id="259" r:id="rId7"/>
    <p:sldId id="260" r:id="rId8"/>
    <p:sldId id="288" r:id="rId9"/>
    <p:sldId id="261" r:id="rId10"/>
    <p:sldId id="262" r:id="rId11"/>
    <p:sldId id="263" r:id="rId12"/>
    <p:sldId id="286" r:id="rId13"/>
    <p:sldId id="287" r:id="rId14"/>
    <p:sldId id="264" r:id="rId15"/>
    <p:sldId id="265" r:id="rId16"/>
    <p:sldId id="289" r:id="rId17"/>
    <p:sldId id="266" r:id="rId18"/>
    <p:sldId id="267" r:id="rId19"/>
    <p:sldId id="268" r:id="rId20"/>
    <p:sldId id="293" r:id="rId21"/>
    <p:sldId id="290" r:id="rId22"/>
    <p:sldId id="291" r:id="rId23"/>
    <p:sldId id="294" r:id="rId24"/>
    <p:sldId id="292" r:id="rId25"/>
    <p:sldId id="295" r:id="rId26"/>
    <p:sldId id="296" r:id="rId27"/>
    <p:sldId id="297" r:id="rId28"/>
    <p:sldId id="298" r:id="rId29"/>
    <p:sldId id="299" r:id="rId30"/>
    <p:sldId id="300" r:id="rId31"/>
    <p:sldId id="301" r:id="rId32"/>
    <p:sldId id="302" r:id="rId33"/>
    <p:sldId id="303" r:id="rId34"/>
    <p:sldId id="304" r:id="rId35"/>
    <p:sldId id="305" r:id="rId36"/>
    <p:sldId id="269" r:id="rId37"/>
    <p:sldId id="270" r:id="rId38"/>
    <p:sldId id="271" r:id="rId39"/>
    <p:sldId id="272" r:id="rId40"/>
    <p:sldId id="273" r:id="rId41"/>
    <p:sldId id="274" r:id="rId42"/>
    <p:sldId id="275" r:id="rId43"/>
    <p:sldId id="276" r:id="rId44"/>
    <p:sldId id="277" r:id="rId45"/>
    <p:sldId id="278"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 id="338" r:id="rId79"/>
    <p:sldId id="339" r:id="rId80"/>
    <p:sldId id="340" r:id="rId81"/>
    <p:sldId id="341" r:id="rId82"/>
    <p:sldId id="342" r:id="rId83"/>
    <p:sldId id="343" r:id="rId84"/>
    <p:sldId id="344" r:id="rId85"/>
    <p:sldId id="345" r:id="rId86"/>
    <p:sldId id="346" r:id="rId87"/>
    <p:sldId id="347" r:id="rId88"/>
    <p:sldId id="348" r:id="rId89"/>
    <p:sldId id="349" r:id="rId90"/>
    <p:sldId id="350" r:id="rId91"/>
    <p:sldId id="351" r:id="rId92"/>
    <p:sldId id="352" r:id="rId93"/>
    <p:sldId id="353" r:id="rId94"/>
    <p:sldId id="354" r:id="rId95"/>
    <p:sldId id="355" r:id="rId96"/>
    <p:sldId id="356" r:id="rId97"/>
    <p:sldId id="357" r:id="rId98"/>
    <p:sldId id="358" r:id="rId99"/>
    <p:sldId id="359" r:id="rId100"/>
    <p:sldId id="360" r:id="rId101"/>
    <p:sldId id="361" r:id="rId102"/>
    <p:sldId id="362" r:id="rId103"/>
    <p:sldId id="363" r:id="rId104"/>
    <p:sldId id="364" r:id="rId105"/>
    <p:sldId id="365" r:id="rId106"/>
    <p:sldId id="366" r:id="rId107"/>
    <p:sldId id="367" r:id="rId108"/>
    <p:sldId id="368" r:id="rId109"/>
    <p:sldId id="369" r:id="rId110"/>
    <p:sldId id="370" r:id="rId111"/>
    <p:sldId id="371" r:id="rId112"/>
    <p:sldId id="372" r:id="rId113"/>
    <p:sldId id="373" r:id="rId114"/>
    <p:sldId id="374" r:id="rId115"/>
    <p:sldId id="375" r:id="rId116"/>
    <p:sldId id="376" r:id="rId117"/>
    <p:sldId id="377" r:id="rId118"/>
    <p:sldId id="378" r:id="rId119"/>
    <p:sldId id="379" r:id="rId120"/>
    <p:sldId id="380" r:id="rId121"/>
    <p:sldId id="381" r:id="rId122"/>
    <p:sldId id="382" r:id="rId123"/>
    <p:sldId id="383" r:id="rId124"/>
    <p:sldId id="384" r:id="rId125"/>
    <p:sldId id="385" r:id="rId126"/>
    <p:sldId id="386" r:id="rId127"/>
    <p:sldId id="387" r:id="rId128"/>
    <p:sldId id="388" r:id="rId129"/>
    <p:sldId id="389" r:id="rId130"/>
    <p:sldId id="390" r:id="rId131"/>
    <p:sldId id="391" r:id="rId132"/>
    <p:sldId id="392" r:id="rId133"/>
    <p:sldId id="393" r:id="rId134"/>
    <p:sldId id="394" r:id="rId135"/>
    <p:sldId id="395" r:id="rId136"/>
    <p:sldId id="396" r:id="rId137"/>
    <p:sldId id="397" r:id="rId138"/>
    <p:sldId id="398" r:id="rId139"/>
    <p:sldId id="399" r:id="rId140"/>
    <p:sldId id="400" r:id="rId141"/>
    <p:sldId id="401" r:id="rId142"/>
    <p:sldId id="402" r:id="rId143"/>
    <p:sldId id="403" r:id="rId144"/>
    <p:sldId id="404" r:id="rId145"/>
    <p:sldId id="405" r:id="rId146"/>
    <p:sldId id="406" r:id="rId147"/>
    <p:sldId id="407" r:id="rId148"/>
    <p:sldId id="408" r:id="rId149"/>
    <p:sldId id="409" r:id="rId150"/>
    <p:sldId id="410" r:id="rId151"/>
    <p:sldId id="411" r:id="rId152"/>
    <p:sldId id="412" r:id="rId153"/>
    <p:sldId id="413" r:id="rId154"/>
    <p:sldId id="414" r:id="rId155"/>
    <p:sldId id="415" r:id="rId156"/>
    <p:sldId id="416" r:id="rId157"/>
    <p:sldId id="417" r:id="rId158"/>
    <p:sldId id="418" r:id="rId159"/>
    <p:sldId id="419" r:id="rId160"/>
    <p:sldId id="420" r:id="rId161"/>
    <p:sldId id="421" r:id="rId162"/>
    <p:sldId id="422" r:id="rId163"/>
    <p:sldId id="423" r:id="rId164"/>
    <p:sldId id="424" r:id="rId165"/>
    <p:sldId id="425" r:id="rId166"/>
    <p:sldId id="426" r:id="rId167"/>
    <p:sldId id="427" r:id="rId168"/>
    <p:sldId id="428" r:id="rId169"/>
    <p:sldId id="429" r:id="rId170"/>
    <p:sldId id="430" r:id="rId171"/>
    <p:sldId id="431" r:id="rId172"/>
    <p:sldId id="432" r:id="rId173"/>
    <p:sldId id="433" r:id="rId174"/>
    <p:sldId id="434" r:id="rId175"/>
    <p:sldId id="435" r:id="rId176"/>
    <p:sldId id="436" r:id="rId177"/>
    <p:sldId id="437" r:id="rId178"/>
    <p:sldId id="438" r:id="rId179"/>
    <p:sldId id="439" r:id="rId180"/>
    <p:sldId id="440" r:id="rId181"/>
    <p:sldId id="441" r:id="rId182"/>
    <p:sldId id="442" r:id="rId183"/>
    <p:sldId id="443" r:id="rId184"/>
    <p:sldId id="444" r:id="rId185"/>
    <p:sldId id="445" r:id="rId186"/>
    <p:sldId id="446" r:id="rId187"/>
    <p:sldId id="447" r:id="rId188"/>
    <p:sldId id="448" r:id="rId189"/>
    <p:sldId id="449" r:id="rId190"/>
    <p:sldId id="450" r:id="rId191"/>
    <p:sldId id="451" r:id="rId192"/>
    <p:sldId id="452" r:id="rId193"/>
    <p:sldId id="453" r:id="rId194"/>
    <p:sldId id="454" r:id="rId195"/>
    <p:sldId id="455" r:id="rId196"/>
    <p:sldId id="456" r:id="rId197"/>
    <p:sldId id="457" r:id="rId198"/>
    <p:sldId id="458" r:id="rId199"/>
    <p:sldId id="459" r:id="rId200"/>
    <p:sldId id="460" r:id="rId201"/>
    <p:sldId id="461" r:id="rId202"/>
    <p:sldId id="462" r:id="rId203"/>
    <p:sldId id="463" r:id="rId204"/>
    <p:sldId id="464" r:id="rId205"/>
    <p:sldId id="465" r:id="rId206"/>
    <p:sldId id="466" r:id="rId207"/>
    <p:sldId id="467" r:id="rId208"/>
    <p:sldId id="468" r:id="rId209"/>
    <p:sldId id="469" r:id="rId210"/>
    <p:sldId id="470" r:id="rId211"/>
    <p:sldId id="471" r:id="rId212"/>
    <p:sldId id="472" r:id="rId213"/>
    <p:sldId id="473" r:id="rId214"/>
    <p:sldId id="474" r:id="rId215"/>
    <p:sldId id="475" r:id="rId216"/>
    <p:sldId id="476" r:id="rId217"/>
    <p:sldId id="477" r:id="rId218"/>
    <p:sldId id="478" r:id="rId219"/>
    <p:sldId id="479" r:id="rId220"/>
    <p:sldId id="480" r:id="rId221"/>
    <p:sldId id="481" r:id="rId222"/>
    <p:sldId id="482" r:id="rId223"/>
    <p:sldId id="483" r:id="rId224"/>
    <p:sldId id="484" r:id="rId225"/>
    <p:sldId id="485" r:id="rId226"/>
    <p:sldId id="486" r:id="rId227"/>
    <p:sldId id="487" r:id="rId228"/>
    <p:sldId id="488" r:id="rId229"/>
    <p:sldId id="489" r:id="rId230"/>
    <p:sldId id="490" r:id="rId231"/>
    <p:sldId id="491" r:id="rId232"/>
    <p:sldId id="492" r:id="rId233"/>
    <p:sldId id="493" r:id="rId234"/>
    <p:sldId id="494" r:id="rId235"/>
    <p:sldId id="495" r:id="rId236"/>
    <p:sldId id="496" r:id="rId237"/>
    <p:sldId id="497" r:id="rId238"/>
    <p:sldId id="498" r:id="rId239"/>
    <p:sldId id="499" r:id="rId240"/>
    <p:sldId id="500" r:id="rId241"/>
    <p:sldId id="501" r:id="rId242"/>
    <p:sldId id="502" r:id="rId243"/>
    <p:sldId id="503" r:id="rId244"/>
    <p:sldId id="504" r:id="rId245"/>
    <p:sldId id="505" r:id="rId246"/>
    <p:sldId id="506" r:id="rId247"/>
    <p:sldId id="507" r:id="rId248"/>
    <p:sldId id="508" r:id="rId249"/>
    <p:sldId id="509" r:id="rId250"/>
    <p:sldId id="510" r:id="rId251"/>
    <p:sldId id="511" r:id="rId252"/>
    <p:sldId id="512" r:id="rId253"/>
    <p:sldId id="513" r:id="rId254"/>
    <p:sldId id="514" r:id="rId255"/>
    <p:sldId id="515" r:id="rId256"/>
    <p:sldId id="516" r:id="rId257"/>
    <p:sldId id="517" r:id="rId258"/>
    <p:sldId id="518" r:id="rId259"/>
    <p:sldId id="519" r:id="rId260"/>
    <p:sldId id="520" r:id="rId261"/>
    <p:sldId id="521" r:id="rId262"/>
    <p:sldId id="522" r:id="rId263"/>
    <p:sldId id="523" r:id="rId264"/>
    <p:sldId id="524" r:id="rId265"/>
    <p:sldId id="525" r:id="rId26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50" d="100"/>
          <a:sy n="50" d="100"/>
        </p:scale>
        <p:origin x="-1956" y="-4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tableStyles" Target="tableStyle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C687E5-B75A-482E-B0EA-54A63421B93E}" type="datetimeFigureOut">
              <a:rPr lang="en-US" smtClean="0"/>
              <a:t>9/10/2025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D8A244-4F04-4850-ACBE-384F03D982A4}" type="slidenum">
              <a:rPr lang="en-US" smtClean="0"/>
              <a:t>‹#›</a:t>
            </a:fld>
            <a:endParaRPr lang="en-US"/>
          </a:p>
        </p:txBody>
      </p:sp>
    </p:spTree>
    <p:extLst>
      <p:ext uri="{BB962C8B-B14F-4D97-AF65-F5344CB8AC3E}">
        <p14:creationId xmlns:p14="http://schemas.microsoft.com/office/powerpoint/2010/main" val="909565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300">
                <a:solidFill>
                  <a:schemeClr val="tx1"/>
                </a:solidFill>
                <a:latin typeface="Tahoma" pitchFamily="34" charset="0"/>
              </a:defRPr>
            </a:lvl1pPr>
            <a:lvl2pPr marL="739274" indent="-283980">
              <a:defRPr sz="2300">
                <a:solidFill>
                  <a:schemeClr val="tx1"/>
                </a:solidFill>
                <a:latin typeface="Tahoma" pitchFamily="34" charset="0"/>
              </a:defRPr>
            </a:lvl2pPr>
            <a:lvl3pPr marL="1140549" indent="-226876">
              <a:defRPr sz="2300">
                <a:solidFill>
                  <a:schemeClr val="tx1"/>
                </a:solidFill>
                <a:latin typeface="Tahoma" pitchFamily="34" charset="0"/>
              </a:defRPr>
            </a:lvl3pPr>
            <a:lvl4pPr marL="1597386" indent="-226876">
              <a:defRPr sz="2300">
                <a:solidFill>
                  <a:schemeClr val="tx1"/>
                </a:solidFill>
                <a:latin typeface="Tahoma" pitchFamily="34" charset="0"/>
              </a:defRPr>
            </a:lvl4pPr>
            <a:lvl5pPr marL="2054223" indent="-226876">
              <a:defRPr sz="2300">
                <a:solidFill>
                  <a:schemeClr val="tx1"/>
                </a:solidFill>
                <a:latin typeface="Tahoma" pitchFamily="34" charset="0"/>
              </a:defRPr>
            </a:lvl5pPr>
            <a:lvl6pPr marL="2498712" indent="-226876" eaLnBrk="0" fontAlgn="base" hangingPunct="0">
              <a:spcBef>
                <a:spcPct val="0"/>
              </a:spcBef>
              <a:spcAft>
                <a:spcPct val="0"/>
              </a:spcAft>
              <a:defRPr sz="2300">
                <a:solidFill>
                  <a:schemeClr val="tx1"/>
                </a:solidFill>
                <a:latin typeface="Tahoma" pitchFamily="34" charset="0"/>
              </a:defRPr>
            </a:lvl6pPr>
            <a:lvl7pPr marL="2943202" indent="-226876" eaLnBrk="0" fontAlgn="base" hangingPunct="0">
              <a:spcBef>
                <a:spcPct val="0"/>
              </a:spcBef>
              <a:spcAft>
                <a:spcPct val="0"/>
              </a:spcAft>
              <a:defRPr sz="2300">
                <a:solidFill>
                  <a:schemeClr val="tx1"/>
                </a:solidFill>
                <a:latin typeface="Tahoma" pitchFamily="34" charset="0"/>
              </a:defRPr>
            </a:lvl7pPr>
            <a:lvl8pPr marL="3387692" indent="-226876" eaLnBrk="0" fontAlgn="base" hangingPunct="0">
              <a:spcBef>
                <a:spcPct val="0"/>
              </a:spcBef>
              <a:spcAft>
                <a:spcPct val="0"/>
              </a:spcAft>
              <a:defRPr sz="2300">
                <a:solidFill>
                  <a:schemeClr val="tx1"/>
                </a:solidFill>
                <a:latin typeface="Tahoma" pitchFamily="34" charset="0"/>
              </a:defRPr>
            </a:lvl8pPr>
            <a:lvl9pPr marL="3832182" indent="-226876" eaLnBrk="0" fontAlgn="base" hangingPunct="0">
              <a:spcBef>
                <a:spcPct val="0"/>
              </a:spcBef>
              <a:spcAft>
                <a:spcPct val="0"/>
              </a:spcAft>
              <a:defRPr sz="2300">
                <a:solidFill>
                  <a:schemeClr val="tx1"/>
                </a:solidFill>
                <a:latin typeface="Tahoma" pitchFamily="34" charset="0"/>
              </a:defRPr>
            </a:lvl9pPr>
          </a:lstStyle>
          <a:p>
            <a:fld id="{9C037CA0-707E-42DB-8E7E-5D08191E53A4}" type="slidenum">
              <a:rPr lang="en-US" altLang="en-US" sz="1200">
                <a:latin typeface="Times New Roman" pitchFamily="18" charset="0"/>
              </a:rPr>
              <a:pPr/>
              <a:t>188</a:t>
            </a:fld>
            <a:endParaRPr lang="en-US" altLang="en-US" sz="1200">
              <a:latin typeface="Times New Roman" pitchFamily="18" charset="0"/>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F4F2FC-D1FD-4E2B-97B8-24D5BB3CD0C0}" type="slidenum">
              <a:rPr lang="en-US" smtClean="0"/>
              <a:t>209</a:t>
            </a:fld>
            <a:endParaRPr lang="en-US"/>
          </a:p>
        </p:txBody>
      </p:sp>
    </p:spTree>
    <p:extLst>
      <p:ext uri="{BB962C8B-B14F-4D97-AF65-F5344CB8AC3E}">
        <p14:creationId xmlns:p14="http://schemas.microsoft.com/office/powerpoint/2010/main" val="3932883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regular-expressions-regular-grammar-and-regular-languages/" TargetMode="External"/><Relationship Id="rId2" Type="http://schemas.openxmlformats.org/officeDocument/2006/relationships/hyperlink" Target="https://www.geeksforgeeks.org/difference-between-dfa-and-nfa/"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s://en.wikipedia.org/wiki/Deterministic_finite_automaton#Complete_and_incomplete"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hyperlink" Target="https://www.tutorialandexample.com/minimization-of-finite-automata"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5.wmf"/></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image" Target="../media/image76.wmf"/></Relationships>
</file>

<file path=ppt/slides/_rels/slide133.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oleObject" Target="../embeddings/oleObject6.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image" Target="../media/image76.wmf"/></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88.jp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116.jp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image" Target="../media/image117.jp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image" Target="../media/image118.jp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image" Target="../media/image119.jp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image" Target="../media/image120.jp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121.jp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124.jp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image" Target="../media/image126.jp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image" Target="../media/image127.jpg"/><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image" Target="../media/image128.jp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129.jpg"/><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image" Target="../media/image130.jp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image" Target="../media/image131.jpg"/><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image" Target="../media/image132.jpg"/><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image" Target="../media/image133.jpg"/><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2" Type="http://schemas.openxmlformats.org/officeDocument/2006/relationships/image" Target="../media/image134.jpg"/><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image" Target="../media/image135.jpg"/><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image" Target="../media/image136.jp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2" Type="http://schemas.openxmlformats.org/officeDocument/2006/relationships/image" Target="../media/image137.jpg"/><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2" Type="http://schemas.openxmlformats.org/officeDocument/2006/relationships/image" Target="../media/image138.jpg"/><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image" Target="../media/image139.jpg"/><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image" Target="../media/image140.jpg"/><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image" Target="../media/image141.jpg"/><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hyperlink" Target="https://cstaleem.com/introduction-to-finite-automata" TargetMode="Externa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hyperlink" Target="https://cstaleem.com/non-deterministic-finite-automata-nfa" TargetMode="External"/><Relationship Id="rId2" Type="http://schemas.openxmlformats.org/officeDocument/2006/relationships/hyperlink" Target="https://cstaleem.com/deterministic-finite-automata" TargetMode="Externa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image" Target="../media/image151.emf"/><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image" Target="../media/image166.emf"/><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Finite-Automata-Deterministic-And-Non-deterministic-Finite-Automaton-DFA-2-2048.jpg"/>
          <p:cNvPicPr>
            <a:picLocks noChangeAspect="1"/>
          </p:cNvPicPr>
          <p:nvPr/>
        </p:nvPicPr>
        <p:blipFill>
          <a:blip r:embed="rId2"/>
          <a:stretch>
            <a:fillRect/>
          </a:stretch>
        </p:blipFill>
        <p:spPr>
          <a:xfrm>
            <a:off x="0" y="-16764"/>
            <a:ext cx="9144000" cy="6858000"/>
          </a:xfrm>
          <a:prstGeom prst="rect">
            <a:avLst/>
          </a:prstGeom>
        </p:spPr>
      </p:pic>
    </p:spTree>
    <p:extLst>
      <p:ext uri="{BB962C8B-B14F-4D97-AF65-F5344CB8AC3E}">
        <p14:creationId xmlns:p14="http://schemas.microsoft.com/office/powerpoint/2010/main" val="42706679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81000"/>
            <a:ext cx="7772400" cy="1470025"/>
          </a:xfrm>
        </p:spPr>
        <p:txBody>
          <a:bodyPr/>
          <a:lstStyle/>
          <a:p>
            <a:r>
              <a:rPr lang="en-US" b="1" dirty="0"/>
              <a:t>Introduction of Finite Automata</a:t>
            </a:r>
            <a:br>
              <a:rPr lang="en-US" b="1" dirty="0"/>
            </a:br>
            <a:endParaRPr lang="en-US" dirty="0"/>
          </a:p>
        </p:txBody>
      </p:sp>
      <p:sp>
        <p:nvSpPr>
          <p:cNvPr id="3" name="Subtitle 2"/>
          <p:cNvSpPr>
            <a:spLocks noGrp="1"/>
          </p:cNvSpPr>
          <p:nvPr>
            <p:ph type="subTitle" idx="1"/>
          </p:nvPr>
        </p:nvSpPr>
        <p:spPr>
          <a:xfrm>
            <a:off x="457200" y="1447800"/>
            <a:ext cx="7848600" cy="4648200"/>
          </a:xfrm>
        </p:spPr>
        <p:txBody>
          <a:bodyPr>
            <a:normAutofit fontScale="92500"/>
          </a:bodyPr>
          <a:lstStyle/>
          <a:p>
            <a:pPr algn="just"/>
            <a:r>
              <a:rPr lang="en-US" dirty="0">
                <a:solidFill>
                  <a:schemeClr val="tx1"/>
                </a:solidFill>
              </a:rPr>
              <a:t>Finite automata are abstract machines used to recognize patterns in input sequences, forming the basis for understanding regular languages in computer science</a:t>
            </a:r>
            <a:r>
              <a:rPr lang="en-US" dirty="0" smtClean="0">
                <a:solidFill>
                  <a:schemeClr val="tx1"/>
                </a:solidFill>
              </a:rPr>
              <a:t>.</a:t>
            </a:r>
          </a:p>
          <a:p>
            <a:pPr algn="just"/>
            <a:r>
              <a:rPr lang="en-US" dirty="0">
                <a:solidFill>
                  <a:schemeClr val="tx1"/>
                </a:solidFill>
              </a:rPr>
              <a:t>T</a:t>
            </a:r>
            <a:r>
              <a:rPr lang="en-US" dirty="0" smtClean="0">
                <a:solidFill>
                  <a:schemeClr val="tx1"/>
                </a:solidFill>
              </a:rPr>
              <a:t>hey </a:t>
            </a:r>
            <a:r>
              <a:rPr lang="en-US" dirty="0">
                <a:solidFill>
                  <a:schemeClr val="tx1"/>
                </a:solidFill>
              </a:rPr>
              <a:t>consist of states, transitions, and input symbols, processing each symbol step-by-step. </a:t>
            </a:r>
            <a:endParaRPr lang="en-US" dirty="0" smtClean="0">
              <a:solidFill>
                <a:schemeClr val="tx1"/>
              </a:solidFill>
            </a:endParaRPr>
          </a:p>
          <a:p>
            <a:pPr algn="just"/>
            <a:r>
              <a:rPr lang="en-US" dirty="0">
                <a:solidFill>
                  <a:schemeClr val="tx1"/>
                </a:solidFill>
              </a:rPr>
              <a:t>If the machine ends in an accepting state after processing the input, it is accepted; otherwise, it is rejected</a:t>
            </a:r>
            <a:r>
              <a:rPr lang="en-US" dirty="0" smtClean="0">
                <a:solidFill>
                  <a:schemeClr val="tx1"/>
                </a:solidFill>
              </a:rPr>
              <a:t>.</a:t>
            </a:r>
            <a:endParaRPr lang="en-US" dirty="0">
              <a:solidFill>
                <a:schemeClr val="tx1"/>
              </a:solidFill>
            </a:endParaRPr>
          </a:p>
        </p:txBody>
      </p:sp>
    </p:spTree>
    <p:extLst>
      <p:ext uri="{BB962C8B-B14F-4D97-AF65-F5344CB8AC3E}">
        <p14:creationId xmlns:p14="http://schemas.microsoft.com/office/powerpoint/2010/main" val="30342048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685800"/>
            <a:ext cx="7696200" cy="5509200"/>
          </a:xfrm>
          <a:prstGeom prst="rect">
            <a:avLst/>
          </a:prstGeom>
        </p:spPr>
        <p:txBody>
          <a:bodyPr wrap="square">
            <a:spAutoFit/>
          </a:bodyPr>
          <a:lstStyle/>
          <a:p>
            <a:pPr fontAlgn="base"/>
            <a:r>
              <a:rPr lang="en-US" sz="3200" b="1" dirty="0"/>
              <a:t>Features of Finite Automata</a:t>
            </a:r>
          </a:p>
          <a:p>
            <a:pPr fontAlgn="base"/>
            <a:r>
              <a:rPr lang="en-US" sz="3200" b="1" dirty="0"/>
              <a:t>Input:</a:t>
            </a:r>
            <a:r>
              <a:rPr lang="en-US" sz="3200" dirty="0"/>
              <a:t> Set of symbols or characters provided to the machine.</a:t>
            </a:r>
          </a:p>
          <a:p>
            <a:pPr fontAlgn="base"/>
            <a:r>
              <a:rPr lang="en-US" sz="3200" b="1" dirty="0"/>
              <a:t>Output:</a:t>
            </a:r>
            <a:r>
              <a:rPr lang="en-US" sz="3200" dirty="0"/>
              <a:t> Accept or reject based on the input pattern.</a:t>
            </a:r>
          </a:p>
          <a:p>
            <a:pPr fontAlgn="base"/>
            <a:r>
              <a:rPr lang="en-US" sz="3200" b="1" dirty="0"/>
              <a:t>States of Automata:</a:t>
            </a:r>
            <a:r>
              <a:rPr lang="en-US" sz="3200" dirty="0"/>
              <a:t> The conditions or configurations of the machine.</a:t>
            </a:r>
          </a:p>
          <a:p>
            <a:pPr fontAlgn="base"/>
            <a:r>
              <a:rPr lang="en-US" sz="3200" b="1" dirty="0"/>
              <a:t>State Relation:</a:t>
            </a:r>
            <a:r>
              <a:rPr lang="en-US" sz="3200" dirty="0"/>
              <a:t> The transitions between states.</a:t>
            </a:r>
          </a:p>
          <a:p>
            <a:pPr fontAlgn="base"/>
            <a:r>
              <a:rPr lang="en-US" sz="3200" b="1" dirty="0"/>
              <a:t>Output Relation:</a:t>
            </a:r>
            <a:r>
              <a:rPr lang="en-US" sz="3200" dirty="0"/>
              <a:t> Based on the final state, the output decision is made.</a:t>
            </a:r>
          </a:p>
        </p:txBody>
      </p:sp>
    </p:spTree>
    <p:extLst>
      <p:ext uri="{BB962C8B-B14F-4D97-AF65-F5344CB8AC3E}">
        <p14:creationId xmlns:p14="http://schemas.microsoft.com/office/powerpoint/2010/main" val="17758431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fontAlgn="base"/>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smtClean="0"/>
              <a:t>		Types </a:t>
            </a:r>
            <a:r>
              <a:rPr lang="en-US" b="1" dirty="0"/>
              <a:t>of Finite </a:t>
            </a:r>
            <a:r>
              <a:rPr lang="en-US" b="1" dirty="0" smtClean="0"/>
              <a:t>Automata</a:t>
            </a:r>
            <a:br>
              <a:rPr lang="en-US" b="1" dirty="0" smtClean="0"/>
            </a:br>
            <a:r>
              <a:rPr lang="en-US" b="1" dirty="0"/>
              <a:t/>
            </a:r>
            <a:br>
              <a:rPr lang="en-US" b="1" dirty="0"/>
            </a:br>
            <a:r>
              <a:rPr lang="en-US" dirty="0"/>
              <a:t>There are two types of finite automata:</a:t>
            </a:r>
            <a:br>
              <a:rPr lang="en-US" dirty="0"/>
            </a:br>
            <a:r>
              <a:rPr lang="en-US" dirty="0"/>
              <a:t>Deterministic </a:t>
            </a:r>
            <a:r>
              <a:rPr lang="en-US" dirty="0" smtClean="0"/>
              <a:t>Finite </a:t>
            </a:r>
            <a:r>
              <a:rPr lang="en-US" dirty="0"/>
              <a:t>Automata (DFA)</a:t>
            </a:r>
            <a:br>
              <a:rPr lang="en-US" dirty="0"/>
            </a:br>
            <a:r>
              <a:rPr lang="en-US" dirty="0"/>
              <a:t>Non-Deterministic Finite Automata (NFA)</a:t>
            </a:r>
            <a:br>
              <a:rPr lang="en-US" dirty="0"/>
            </a:br>
            <a:endParaRPr lang="en-US" dirty="0"/>
          </a:p>
        </p:txBody>
      </p:sp>
    </p:spTree>
    <p:extLst>
      <p:ext uri="{BB962C8B-B14F-4D97-AF65-F5344CB8AC3E}">
        <p14:creationId xmlns:p14="http://schemas.microsoft.com/office/powerpoint/2010/main" val="20334730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Finite-Automata-Deterministic-And-Non-deterministic-Finite-Automaton-DFA-3-2048.jpg"/>
          <p:cNvPicPr>
            <a:picLocks noChangeAspect="1"/>
          </p:cNvPicPr>
          <p:nvPr/>
        </p:nvPicPr>
        <p:blipFill>
          <a:blip r:embed="rId2"/>
          <a:stretch>
            <a:fillRect/>
          </a:stretch>
        </p:blipFill>
        <p:spPr>
          <a:xfrm>
            <a:off x="0" y="2286"/>
            <a:ext cx="9144000" cy="6858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Finite-Automata-Deterministic-And-Non-deterministic-Finite-Automaton-DFA-4-2048.jpg"/>
          <p:cNvPicPr>
            <a:picLocks noChangeAspect="1"/>
          </p:cNvPicPr>
          <p:nvPr/>
        </p:nvPicPr>
        <p:blipFill>
          <a:blip r:embed="rId2"/>
          <a:stretch>
            <a:fillRect/>
          </a:stretch>
        </p:blipFill>
        <p:spPr>
          <a:xfrm>
            <a:off x="0" y="21336"/>
            <a:ext cx="9144000" cy="68580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Finite-Automata-Deterministic-And-Non-deterministic-Finite-Automaton-DFA-5-2048.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7917" y="1024759"/>
            <a:ext cx="8056180" cy="4247317"/>
          </a:xfrm>
          <a:prstGeom prst="rect">
            <a:avLst/>
          </a:prstGeom>
        </p:spPr>
        <p:txBody>
          <a:bodyPr wrap="square">
            <a:spAutoFit/>
          </a:bodyPr>
          <a:lstStyle/>
          <a:p>
            <a:pPr>
              <a:lnSpc>
                <a:spcPct val="150000"/>
              </a:lnSpc>
            </a:pPr>
            <a:r>
              <a:rPr lang="en-US" sz="3600" dirty="0"/>
              <a:t>T</a:t>
            </a:r>
            <a:r>
              <a:rPr lang="en-US" sz="3600" dirty="0" smtClean="0"/>
              <a:t>he </a:t>
            </a:r>
            <a:r>
              <a:rPr lang="en-US" sz="3600" dirty="0"/>
              <a:t>machine transitions to one and only one state. </a:t>
            </a:r>
            <a:endParaRPr lang="en-US" sz="3600" dirty="0" smtClean="0"/>
          </a:p>
          <a:p>
            <a:pPr>
              <a:lnSpc>
                <a:spcPct val="150000"/>
              </a:lnSpc>
            </a:pPr>
            <a:r>
              <a:rPr lang="en-US" sz="3600" dirty="0" smtClean="0"/>
              <a:t>DFA </a:t>
            </a:r>
            <a:r>
              <a:rPr lang="en-US" sz="3600" dirty="0"/>
              <a:t>does not allow any null transitions, meaning every state must have a transition defined for every input symbol.</a:t>
            </a:r>
          </a:p>
        </p:txBody>
      </p:sp>
    </p:spTree>
    <p:extLst>
      <p:ext uri="{BB962C8B-B14F-4D97-AF65-F5344CB8AC3E}">
        <p14:creationId xmlns:p14="http://schemas.microsoft.com/office/powerpoint/2010/main" val="28421417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Finite-Automata-Deterministic-And-Non-deterministic-Finite-Automaton-DFA-6-2048.jpg"/>
          <p:cNvPicPr>
            <a:picLocks noChangeAspect="1"/>
          </p:cNvPicPr>
          <p:nvPr/>
        </p:nvPicPr>
        <p:blipFill>
          <a:blip r:embed="rId2"/>
          <a:stretch>
            <a:fillRect/>
          </a:stretch>
        </p:blipFill>
        <p:spPr>
          <a:xfrm>
            <a:off x="0" y="2286"/>
            <a:ext cx="9144000" cy="68580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Finite-Automata-Deterministic-And-Non-deterministic-Finite-Automaton-DFA-7-2048.jpg"/>
          <p:cNvPicPr>
            <a:picLocks noChangeAspect="1"/>
          </p:cNvPicPr>
          <p:nvPr/>
        </p:nvPicPr>
        <p:blipFill>
          <a:blip r:embed="rId2"/>
          <a:stretch>
            <a:fillRect/>
          </a:stretch>
        </p:blipFill>
        <p:spPr>
          <a:xfrm>
            <a:off x="0" y="21336"/>
            <a:ext cx="9144000" cy="68580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Finite-Automata-Deterministic-And-Non-deterministic-Finite-Automaton-DFA-8-2048.jpg"/>
          <p:cNvPicPr>
            <a:picLocks noChangeAspect="1"/>
          </p:cNvPicPr>
          <p:nvPr/>
        </p:nvPicPr>
        <p:blipFill>
          <a:blip r:embed="rId2"/>
          <a:stretch>
            <a:fillRect/>
          </a:stretch>
        </p:blipFill>
        <p:spPr>
          <a:xfrm>
            <a:off x="0" y="21336"/>
            <a:ext cx="9144000" cy="68580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1338" y="630622"/>
            <a:ext cx="7457090" cy="4401205"/>
          </a:xfrm>
          <a:prstGeom prst="rect">
            <a:avLst/>
          </a:prstGeom>
        </p:spPr>
        <p:txBody>
          <a:bodyPr wrap="square">
            <a:spAutoFit/>
          </a:bodyPr>
          <a:lstStyle/>
          <a:p>
            <a:pPr fontAlgn="base"/>
            <a:r>
              <a:rPr lang="en-US" sz="4000" b="1" dirty="0"/>
              <a:t>Example:</a:t>
            </a:r>
          </a:p>
          <a:p>
            <a:pPr fontAlgn="base"/>
            <a:r>
              <a:rPr lang="en-US" sz="4000" dirty="0"/>
              <a:t>Construct a DFA that accepts all strings ending with ‘a’.</a:t>
            </a:r>
          </a:p>
          <a:p>
            <a:pPr fontAlgn="base"/>
            <a:r>
              <a:rPr lang="en-US" sz="4000" dirty="0"/>
              <a:t>Given:</a:t>
            </a:r>
          </a:p>
          <a:p>
            <a:pPr fontAlgn="base"/>
            <a:r>
              <a:rPr lang="en-US" sz="4000" dirty="0"/>
              <a:t>Σ = {a, b},</a:t>
            </a:r>
          </a:p>
          <a:p>
            <a:pPr fontAlgn="base"/>
            <a:r>
              <a:rPr lang="en-US" sz="4000" dirty="0"/>
              <a:t>Q = {q0, q1},</a:t>
            </a:r>
          </a:p>
          <a:p>
            <a:pPr fontAlgn="base"/>
            <a:r>
              <a:rPr lang="en-US" sz="4000" dirty="0"/>
              <a:t>F = {q1}</a:t>
            </a:r>
          </a:p>
        </p:txBody>
      </p:sp>
    </p:spTree>
    <p:extLst>
      <p:ext uri="{BB962C8B-B14F-4D97-AF65-F5344CB8AC3E}">
        <p14:creationId xmlns:p14="http://schemas.microsoft.com/office/powerpoint/2010/main" val="6164289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443913" cy="558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99088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Finite-Automata-Deterministic-And-Non-deterministic-Finite-Automaton-DFA-9-2048.jpg"/>
          <p:cNvPicPr>
            <a:picLocks noChangeAspect="1"/>
          </p:cNvPicPr>
          <p:nvPr/>
        </p:nvPicPr>
        <p:blipFill>
          <a:blip r:embed="rId2"/>
          <a:stretch>
            <a:fillRect/>
          </a:stretch>
        </p:blipFill>
        <p:spPr>
          <a:xfrm>
            <a:off x="0" y="21336"/>
            <a:ext cx="9144000" cy="68580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Finite-Automata-Deterministic-And-Non-deterministic-Finite-Automaton-DFA-10-2048.jpg"/>
          <p:cNvPicPr>
            <a:picLocks noChangeAspect="1"/>
          </p:cNvPicPr>
          <p:nvPr/>
        </p:nvPicPr>
        <p:blipFill>
          <a:blip r:embed="rId2"/>
          <a:stretch>
            <a:fillRect/>
          </a:stretch>
        </p:blipFill>
        <p:spPr>
          <a:xfrm>
            <a:off x="0" y="2286"/>
            <a:ext cx="9144000" cy="68580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9806" y="488732"/>
            <a:ext cx="7315201" cy="5262979"/>
          </a:xfrm>
          <a:prstGeom prst="rect">
            <a:avLst/>
          </a:prstGeom>
        </p:spPr>
        <p:txBody>
          <a:bodyPr wrap="square">
            <a:spAutoFit/>
          </a:bodyPr>
          <a:lstStyle/>
          <a:p>
            <a:pPr fontAlgn="base">
              <a:lnSpc>
                <a:spcPct val="150000"/>
              </a:lnSpc>
            </a:pPr>
            <a:r>
              <a:rPr lang="en-US" sz="3200" b="1" dirty="0"/>
              <a:t>NFA is similar to DFA but includes the following features:</a:t>
            </a:r>
          </a:p>
          <a:p>
            <a:pPr fontAlgn="base">
              <a:lnSpc>
                <a:spcPct val="150000"/>
              </a:lnSpc>
            </a:pPr>
            <a:r>
              <a:rPr lang="en-US" sz="3200" dirty="0" smtClean="0"/>
              <a:t>*It </a:t>
            </a:r>
            <a:r>
              <a:rPr lang="en-US" sz="3200" dirty="0"/>
              <a:t>can transition to multiple states for the same input.</a:t>
            </a:r>
          </a:p>
          <a:p>
            <a:pPr fontAlgn="base">
              <a:lnSpc>
                <a:spcPct val="150000"/>
              </a:lnSpc>
            </a:pPr>
            <a:r>
              <a:rPr lang="en-US" sz="3200" dirty="0" smtClean="0"/>
              <a:t>*It </a:t>
            </a:r>
            <a:r>
              <a:rPr lang="en-US" sz="3200" dirty="0"/>
              <a:t>allows null (ϵ) moves, where the machine can change states without consuming any input</a:t>
            </a:r>
            <a:r>
              <a:rPr lang="en-US" sz="3200" dirty="0" smtClean="0"/>
              <a:t>.</a:t>
            </a:r>
            <a:endParaRPr lang="en-US" sz="3200" dirty="0"/>
          </a:p>
        </p:txBody>
      </p:sp>
    </p:spTree>
    <p:extLst>
      <p:ext uri="{BB962C8B-B14F-4D97-AF65-F5344CB8AC3E}">
        <p14:creationId xmlns:p14="http://schemas.microsoft.com/office/powerpoint/2010/main" val="34290060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Finite-Automata-Deterministic-And-Non-deterministic-Finite-Automaton-DFA-11-2048.jpg"/>
          <p:cNvPicPr>
            <a:picLocks noChangeAspect="1"/>
          </p:cNvPicPr>
          <p:nvPr/>
        </p:nvPicPr>
        <p:blipFill>
          <a:blip r:embed="rId2"/>
          <a:stretch>
            <a:fillRect/>
          </a:stretch>
        </p:blipFill>
        <p:spPr>
          <a:xfrm>
            <a:off x="0" y="40386"/>
            <a:ext cx="9144000" cy="68580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Finite-Automata-Deterministic-And-Non-deterministic-Finite-Automaton-DFA-12-2048.jpg"/>
          <p:cNvPicPr>
            <a:picLocks noChangeAspect="1"/>
          </p:cNvPicPr>
          <p:nvPr/>
        </p:nvPicPr>
        <p:blipFill>
          <a:blip r:embed="rId2"/>
          <a:stretch>
            <a:fillRect/>
          </a:stretch>
        </p:blipFill>
        <p:spPr>
          <a:xfrm>
            <a:off x="0" y="0"/>
            <a:ext cx="9144000" cy="68580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7638"/>
            <a:ext cx="8915400" cy="365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a:spLocks noGrp="1"/>
          </p:cNvSpPr>
          <p:nvPr>
            <p:ph type="title"/>
          </p:nvPr>
        </p:nvSpPr>
        <p:spPr/>
        <p:txBody>
          <a:bodyPr/>
          <a:lstStyle/>
          <a:p>
            <a:r>
              <a:rPr lang="en-US" dirty="0" smtClean="0"/>
              <a:t>Transition Table</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0204"/>
            <a:ext cx="9143999" cy="3704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00170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0165" y="709448"/>
            <a:ext cx="7803931" cy="5186676"/>
          </a:xfrm>
          <a:prstGeom prst="rect">
            <a:avLst/>
          </a:prstGeom>
        </p:spPr>
        <p:txBody>
          <a:bodyPr wrap="square">
            <a:spAutoFit/>
          </a:bodyPr>
          <a:lstStyle/>
          <a:p>
            <a:pPr fontAlgn="base">
              <a:lnSpc>
                <a:spcPct val="150000"/>
              </a:lnSpc>
            </a:pPr>
            <a:r>
              <a:rPr lang="en-US" sz="3200" dirty="0"/>
              <a:t>Example:</a:t>
            </a:r>
          </a:p>
          <a:p>
            <a:pPr fontAlgn="base">
              <a:lnSpc>
                <a:spcPct val="150000"/>
              </a:lnSpc>
            </a:pPr>
            <a:r>
              <a:rPr lang="en-US" sz="3200" dirty="0"/>
              <a:t>Construct an NFA that accepts strings ending in ‘a’.</a:t>
            </a:r>
          </a:p>
          <a:p>
            <a:pPr fontAlgn="base">
              <a:lnSpc>
                <a:spcPct val="150000"/>
              </a:lnSpc>
            </a:pPr>
            <a:r>
              <a:rPr lang="en-US" sz="3200" dirty="0"/>
              <a:t>Given:</a:t>
            </a:r>
          </a:p>
          <a:p>
            <a:pPr fontAlgn="base">
              <a:lnSpc>
                <a:spcPct val="150000"/>
              </a:lnSpc>
            </a:pPr>
            <a:r>
              <a:rPr lang="en-US" sz="3200" dirty="0"/>
              <a:t>Σ = {a, b},</a:t>
            </a:r>
          </a:p>
          <a:p>
            <a:pPr fontAlgn="base">
              <a:lnSpc>
                <a:spcPct val="150000"/>
              </a:lnSpc>
            </a:pPr>
            <a:r>
              <a:rPr lang="en-US" sz="3200" dirty="0"/>
              <a:t>Q = {q0, q1},</a:t>
            </a:r>
          </a:p>
          <a:p>
            <a:pPr fontAlgn="base">
              <a:lnSpc>
                <a:spcPct val="150000"/>
              </a:lnSpc>
            </a:pPr>
            <a:r>
              <a:rPr lang="en-US" sz="3200" dirty="0"/>
              <a:t>F = {q1}</a:t>
            </a:r>
          </a:p>
        </p:txBody>
      </p:sp>
    </p:spTree>
    <p:extLst>
      <p:ext uri="{BB962C8B-B14F-4D97-AF65-F5344CB8AC3E}">
        <p14:creationId xmlns:p14="http://schemas.microsoft.com/office/powerpoint/2010/main" val="25587766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395" y="723900"/>
            <a:ext cx="9030605"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1165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46" y="590550"/>
            <a:ext cx="8745517" cy="499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07589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5214" y="195752"/>
            <a:ext cx="7709338" cy="6488828"/>
          </a:xfrm>
          <a:prstGeom prst="rect">
            <a:avLst/>
          </a:prstGeom>
        </p:spPr>
        <p:txBody>
          <a:bodyPr wrap="square">
            <a:spAutoFit/>
          </a:bodyPr>
          <a:lstStyle/>
          <a:p>
            <a:pPr fontAlgn="base">
              <a:lnSpc>
                <a:spcPct val="150000"/>
              </a:lnSpc>
            </a:pPr>
            <a:r>
              <a:rPr lang="en-US" sz="2800" b="1" dirty="0"/>
              <a:t>Comparison of DFA and NFA</a:t>
            </a:r>
          </a:p>
          <a:p>
            <a:pPr fontAlgn="base">
              <a:lnSpc>
                <a:spcPct val="150000"/>
              </a:lnSpc>
            </a:pPr>
            <a:r>
              <a:rPr lang="en-US" sz="2800" dirty="0"/>
              <a:t>Although NFAs appear more flexible, they do not have more computational power than DFAs. Every NFA can be converted to an equivalent DFA, although the resulting DFA may have more states.</a:t>
            </a:r>
          </a:p>
          <a:p>
            <a:pPr fontAlgn="base">
              <a:lnSpc>
                <a:spcPct val="150000"/>
              </a:lnSpc>
            </a:pPr>
            <a:r>
              <a:rPr lang="en-US" sz="2800" dirty="0"/>
              <a:t>DFA: Single transition for each input symbol, no null moves.</a:t>
            </a:r>
          </a:p>
          <a:p>
            <a:pPr fontAlgn="base">
              <a:lnSpc>
                <a:spcPct val="150000"/>
              </a:lnSpc>
            </a:pPr>
            <a:r>
              <a:rPr lang="en-US" sz="2800" dirty="0"/>
              <a:t>NFA: Multiple transitions and null moves allowed.</a:t>
            </a:r>
          </a:p>
          <a:p>
            <a:pPr fontAlgn="base">
              <a:lnSpc>
                <a:spcPct val="150000"/>
              </a:lnSpc>
            </a:pPr>
            <a:r>
              <a:rPr lang="en-US" sz="2800" dirty="0"/>
              <a:t>Power: Both </a:t>
            </a:r>
            <a:r>
              <a:rPr lang="en-US" sz="2800" u="sng" dirty="0">
                <a:hlinkClick r:id="rId2"/>
              </a:rPr>
              <a:t>DFA and NFA</a:t>
            </a:r>
            <a:r>
              <a:rPr lang="en-US" sz="2800" dirty="0"/>
              <a:t> recognize the same set of </a:t>
            </a:r>
            <a:r>
              <a:rPr lang="en-US" sz="2800" u="sng" dirty="0">
                <a:hlinkClick r:id="rId3"/>
              </a:rPr>
              <a:t>regular languages</a:t>
            </a:r>
            <a:r>
              <a:rPr lang="en-US" sz="2800" dirty="0"/>
              <a:t>.</a:t>
            </a:r>
          </a:p>
        </p:txBody>
      </p:sp>
    </p:spTree>
    <p:extLst>
      <p:ext uri="{BB962C8B-B14F-4D97-AF65-F5344CB8AC3E}">
        <p14:creationId xmlns:p14="http://schemas.microsoft.com/office/powerpoint/2010/main" val="21433343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93738"/>
            <a:ext cx="8229600" cy="1649412"/>
          </a:xfrm>
        </p:spPr>
        <p:txBody>
          <a:bodyPr>
            <a:normAutofit fontScale="90000"/>
          </a:bodyPr>
          <a:lstStyle/>
          <a:p>
            <a:pPr algn="l"/>
            <a:r>
              <a:rPr lang="en-US" dirty="0" smtClean="0"/>
              <a:t>Example 1:</a:t>
            </a:r>
            <a:br>
              <a:rPr lang="en-US" dirty="0" smtClean="0"/>
            </a:br>
            <a:r>
              <a:rPr lang="en-US" dirty="0" smtClean="0"/>
              <a:t> Design </a:t>
            </a:r>
            <a:r>
              <a:rPr lang="en-US" dirty="0"/>
              <a:t>an NFA over the alphabet Σ = {a, b} that accepts only the strings that start with “b”</a:t>
            </a:r>
          </a:p>
        </p:txBody>
      </p:sp>
      <p:sp>
        <p:nvSpPr>
          <p:cNvPr id="5" name="Content Placeholder 4"/>
          <p:cNvSpPr>
            <a:spLocks noGrp="1"/>
          </p:cNvSpPr>
          <p:nvPr>
            <p:ph idx="1"/>
          </p:nvPr>
        </p:nvSpPr>
        <p:spPr>
          <a:xfrm>
            <a:off x="457200" y="2762250"/>
            <a:ext cx="8229600" cy="3668713"/>
          </a:xfrm>
        </p:spPr>
        <p:txBody>
          <a:bodyPr>
            <a:noAutofit/>
          </a:bodyPr>
          <a:lstStyle/>
          <a:p>
            <a:r>
              <a:rPr lang="en-US" sz="3600" b="1" u="sng" dirty="0"/>
              <a:t>Solution</a:t>
            </a:r>
            <a:endParaRPr lang="en-US" sz="3600" u="sng" dirty="0"/>
          </a:p>
          <a:p>
            <a:r>
              <a:rPr lang="en-US" sz="3600" dirty="0"/>
              <a:t>The language generated by this example will include all strings that start with </a:t>
            </a:r>
            <a:r>
              <a:rPr lang="en-US" sz="3600" dirty="0" smtClean="0"/>
              <a:t>b</a:t>
            </a:r>
            <a:endParaRPr lang="en-US" sz="3600" dirty="0"/>
          </a:p>
          <a:p>
            <a:r>
              <a:rPr lang="en-US" sz="3600" dirty="0"/>
              <a:t>L = {b, </a:t>
            </a:r>
            <a:r>
              <a:rPr lang="en-US" sz="3600" dirty="0" err="1"/>
              <a:t>ba</a:t>
            </a:r>
            <a:r>
              <a:rPr lang="en-US" sz="3600" dirty="0"/>
              <a:t>, bb, </a:t>
            </a:r>
            <a:r>
              <a:rPr lang="en-US" sz="3600" dirty="0" err="1"/>
              <a:t>bab</a:t>
            </a:r>
            <a:r>
              <a:rPr lang="en-US" sz="3600" dirty="0"/>
              <a:t>, baa……..}</a:t>
            </a:r>
          </a:p>
          <a:p>
            <a:r>
              <a:rPr lang="en-US" sz="3600" dirty="0"/>
              <a:t>The following NFA machine accepts all strings that start with “b”</a:t>
            </a:r>
          </a:p>
          <a:p>
            <a:r>
              <a:rPr lang="en-US" sz="3600" dirty="0"/>
              <a:t/>
            </a:r>
            <a:br>
              <a:rPr lang="en-US" sz="3600" dirty="0"/>
            </a:br>
            <a:endParaRPr lang="en-US" sz="3600" dirty="0"/>
          </a:p>
        </p:txBody>
      </p:sp>
    </p:spTree>
    <p:extLst>
      <p:ext uri="{BB962C8B-B14F-4D97-AF65-F5344CB8AC3E}">
        <p14:creationId xmlns:p14="http://schemas.microsoft.com/office/powerpoint/2010/main" val="6869195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NFA Example - All strings starts with “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525" y="247650"/>
            <a:ext cx="4997450" cy="291687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3164528"/>
            <a:ext cx="8877300" cy="3108543"/>
          </a:xfrm>
          <a:prstGeom prst="rect">
            <a:avLst/>
          </a:prstGeom>
        </p:spPr>
        <p:txBody>
          <a:bodyPr wrap="square">
            <a:spAutoFit/>
          </a:bodyPr>
          <a:lstStyle/>
          <a:p>
            <a:r>
              <a:rPr lang="en-US" sz="2800" dirty="0"/>
              <a:t>5 Tuples of the above NFA are given below,</a:t>
            </a:r>
          </a:p>
          <a:p>
            <a:pPr fontAlgn="base"/>
            <a:r>
              <a:rPr lang="en-US" sz="2800" dirty="0"/>
              <a:t>{q0, q1, q2, q3} refers to the set of states</a:t>
            </a:r>
          </a:p>
          <a:p>
            <a:pPr fontAlgn="base"/>
            <a:r>
              <a:rPr lang="en-US" sz="2800" dirty="0"/>
              <a:t>{</a:t>
            </a:r>
            <a:r>
              <a:rPr lang="en-US" sz="2800" dirty="0" err="1"/>
              <a:t>a,b</a:t>
            </a:r>
            <a:r>
              <a:rPr lang="en-US" sz="2800" dirty="0"/>
              <a:t>} refers to the set of input alphabets</a:t>
            </a:r>
          </a:p>
          <a:p>
            <a:pPr fontAlgn="base"/>
            <a:r>
              <a:rPr lang="en-US" sz="2800" dirty="0"/>
              <a:t>δ refers to the transition </a:t>
            </a:r>
            <a:r>
              <a:rPr lang="en-US" sz="2800" dirty="0" smtClean="0"/>
              <a:t>function</a:t>
            </a:r>
          </a:p>
          <a:p>
            <a:pPr fontAlgn="base"/>
            <a:r>
              <a:rPr lang="en-US" sz="2800" dirty="0" smtClean="0"/>
              <a:t>δ </a:t>
            </a:r>
            <a:r>
              <a:rPr lang="en-US" sz="2800" dirty="0"/>
              <a:t>(q0, a) =</a:t>
            </a:r>
            <a:r>
              <a:rPr lang="en-US" sz="2800" dirty="0" smtClean="0"/>
              <a:t>ϕ		δ </a:t>
            </a:r>
            <a:r>
              <a:rPr lang="en-US" sz="2800" dirty="0"/>
              <a:t>(q0, b) = </a:t>
            </a:r>
            <a:r>
              <a:rPr lang="en-US" sz="2800" dirty="0" smtClean="0"/>
              <a:t>q1	δ </a:t>
            </a:r>
            <a:r>
              <a:rPr lang="en-US" sz="2800" dirty="0"/>
              <a:t>(q1, a) = </a:t>
            </a:r>
            <a:r>
              <a:rPr lang="en-US" sz="2800" dirty="0" smtClean="0"/>
              <a:t>q2	δ </a:t>
            </a:r>
            <a:r>
              <a:rPr lang="en-US" sz="2800" dirty="0"/>
              <a:t>(q1, b) =q2</a:t>
            </a:r>
          </a:p>
          <a:p>
            <a:pPr fontAlgn="base"/>
            <a:r>
              <a:rPr lang="en-US" sz="2800" dirty="0"/>
              <a:t>q0 refers to the initial state</a:t>
            </a:r>
          </a:p>
          <a:p>
            <a:pPr fontAlgn="base"/>
            <a:r>
              <a:rPr lang="en-US" sz="2800" dirty="0"/>
              <a:t>{q1} refers to the set of final states</a:t>
            </a:r>
          </a:p>
        </p:txBody>
      </p:sp>
    </p:spTree>
    <p:extLst>
      <p:ext uri="{BB962C8B-B14F-4D97-AF65-F5344CB8AC3E}">
        <p14:creationId xmlns:p14="http://schemas.microsoft.com/office/powerpoint/2010/main" val="285896945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transition table for the above NFA is given below</a:t>
            </a:r>
          </a:p>
        </p:txBody>
      </p:sp>
      <p:graphicFrame>
        <p:nvGraphicFramePr>
          <p:cNvPr id="5" name="Table 4"/>
          <p:cNvGraphicFramePr>
            <a:graphicFrameLocks noGrp="1"/>
          </p:cNvGraphicFramePr>
          <p:nvPr>
            <p:extLst>
              <p:ext uri="{D42A27DB-BD31-4B8C-83A1-F6EECF244321}">
                <p14:modId xmlns:p14="http://schemas.microsoft.com/office/powerpoint/2010/main" val="548241137"/>
              </p:ext>
            </p:extLst>
          </p:nvPr>
        </p:nvGraphicFramePr>
        <p:xfrm>
          <a:off x="1524000" y="1797050"/>
          <a:ext cx="6096000" cy="4108449"/>
        </p:xfrm>
        <a:graphic>
          <a:graphicData uri="http://schemas.openxmlformats.org/drawingml/2006/table">
            <a:tbl>
              <a:tblPr firstRow="1" bandRow="1">
                <a:tableStyleId>{5C22544A-7EE6-4342-B048-85BDC9FD1C3A}</a:tableStyleId>
              </a:tblPr>
              <a:tblGrid>
                <a:gridCol w="2032000"/>
                <a:gridCol w="2032000"/>
                <a:gridCol w="2032000"/>
              </a:tblGrid>
              <a:tr h="1369483">
                <a:tc>
                  <a:txBody>
                    <a:bodyPr/>
                    <a:lstStyle/>
                    <a:p>
                      <a:pPr algn="ctr" fontAlgn="t"/>
                      <a:r>
                        <a:rPr lang="en-US" sz="4000">
                          <a:solidFill>
                            <a:srgbClr val="990000"/>
                          </a:solidFill>
                          <a:effectLst/>
                          <a:latin typeface="arial"/>
                        </a:rPr>
                        <a:t>States</a:t>
                      </a:r>
                      <a:endParaRPr lang="en-US" sz="4000">
                        <a:solidFill>
                          <a:srgbClr val="990000"/>
                        </a:solidFill>
                        <a:effectLst/>
                      </a:endParaRPr>
                    </a:p>
                  </a:txBody>
                  <a:tcPr marL="132902" marR="132902" marT="132902" marB="132902"/>
                </a:tc>
                <a:tc>
                  <a:txBody>
                    <a:bodyPr/>
                    <a:lstStyle/>
                    <a:p>
                      <a:pPr algn="ctr" fontAlgn="t"/>
                      <a:r>
                        <a:rPr lang="en-US" sz="4000">
                          <a:solidFill>
                            <a:srgbClr val="990000"/>
                          </a:solidFill>
                          <a:effectLst/>
                          <a:latin typeface="arial"/>
                        </a:rPr>
                        <a:t>a</a:t>
                      </a:r>
                      <a:endParaRPr lang="en-US" sz="4000">
                        <a:solidFill>
                          <a:srgbClr val="990000"/>
                        </a:solidFill>
                        <a:effectLst/>
                      </a:endParaRPr>
                    </a:p>
                  </a:txBody>
                  <a:tcPr marL="132902" marR="132902" marT="132902" marB="132902"/>
                </a:tc>
                <a:tc>
                  <a:txBody>
                    <a:bodyPr/>
                    <a:lstStyle/>
                    <a:p>
                      <a:pPr algn="ctr" fontAlgn="t"/>
                      <a:r>
                        <a:rPr lang="en-US" sz="4000">
                          <a:solidFill>
                            <a:srgbClr val="990000"/>
                          </a:solidFill>
                          <a:effectLst/>
                          <a:latin typeface="arial"/>
                        </a:rPr>
                        <a:t>b</a:t>
                      </a:r>
                      <a:endParaRPr lang="en-US" sz="4000">
                        <a:solidFill>
                          <a:srgbClr val="990000"/>
                        </a:solidFill>
                        <a:effectLst/>
                      </a:endParaRPr>
                    </a:p>
                  </a:txBody>
                  <a:tcPr marL="132902" marR="132902" marT="132902" marB="132902"/>
                </a:tc>
              </a:tr>
              <a:tr h="1369483">
                <a:tc>
                  <a:txBody>
                    <a:bodyPr/>
                    <a:lstStyle/>
                    <a:p>
                      <a:pPr algn="ctr" fontAlgn="t"/>
                      <a:r>
                        <a:rPr lang="en-US" sz="4000">
                          <a:solidFill>
                            <a:srgbClr val="990000"/>
                          </a:solidFill>
                          <a:effectLst/>
                          <a:latin typeface="arial"/>
                        </a:rPr>
                        <a:t>q0</a:t>
                      </a:r>
                      <a:endParaRPr lang="en-US" sz="4000">
                        <a:solidFill>
                          <a:srgbClr val="990000"/>
                        </a:solidFill>
                        <a:effectLst/>
                      </a:endParaRPr>
                    </a:p>
                  </a:txBody>
                  <a:tcPr marL="132902" marR="132902" marT="132902" marB="132902"/>
                </a:tc>
                <a:tc>
                  <a:txBody>
                    <a:bodyPr/>
                    <a:lstStyle/>
                    <a:p>
                      <a:pPr algn="ctr" fontAlgn="t"/>
                      <a:r>
                        <a:rPr lang="el-GR" sz="4000">
                          <a:solidFill>
                            <a:srgbClr val="990000"/>
                          </a:solidFill>
                          <a:effectLst/>
                          <a:latin typeface="arial"/>
                        </a:rPr>
                        <a:t>ϕ</a:t>
                      </a:r>
                      <a:endParaRPr lang="el-GR" sz="4000">
                        <a:solidFill>
                          <a:srgbClr val="990000"/>
                        </a:solidFill>
                        <a:effectLst/>
                      </a:endParaRPr>
                    </a:p>
                  </a:txBody>
                  <a:tcPr marL="132902" marR="132902" marT="132902" marB="132902"/>
                </a:tc>
                <a:tc>
                  <a:txBody>
                    <a:bodyPr/>
                    <a:lstStyle/>
                    <a:p>
                      <a:pPr algn="ctr" fontAlgn="t"/>
                      <a:r>
                        <a:rPr lang="en-US" sz="4000">
                          <a:solidFill>
                            <a:srgbClr val="990000"/>
                          </a:solidFill>
                          <a:effectLst/>
                          <a:latin typeface="arial"/>
                        </a:rPr>
                        <a:t>q1</a:t>
                      </a:r>
                      <a:endParaRPr lang="en-US" sz="4000">
                        <a:solidFill>
                          <a:srgbClr val="990000"/>
                        </a:solidFill>
                        <a:effectLst/>
                      </a:endParaRPr>
                    </a:p>
                  </a:txBody>
                  <a:tcPr marL="132902" marR="132902" marT="132902" marB="132902"/>
                </a:tc>
              </a:tr>
              <a:tr h="1369483">
                <a:tc>
                  <a:txBody>
                    <a:bodyPr/>
                    <a:lstStyle/>
                    <a:p>
                      <a:pPr algn="ctr" fontAlgn="t"/>
                      <a:r>
                        <a:rPr lang="en-US" sz="4000">
                          <a:solidFill>
                            <a:srgbClr val="990000"/>
                          </a:solidFill>
                          <a:effectLst/>
                          <a:latin typeface="arial"/>
                        </a:rPr>
                        <a:t>q1</a:t>
                      </a:r>
                      <a:endParaRPr lang="en-US" sz="4000">
                        <a:solidFill>
                          <a:srgbClr val="990000"/>
                        </a:solidFill>
                        <a:effectLst/>
                      </a:endParaRPr>
                    </a:p>
                  </a:txBody>
                  <a:tcPr marL="132902" marR="132902" marT="132902" marB="132902"/>
                </a:tc>
                <a:tc>
                  <a:txBody>
                    <a:bodyPr/>
                    <a:lstStyle/>
                    <a:p>
                      <a:pPr algn="ctr" fontAlgn="t"/>
                      <a:r>
                        <a:rPr lang="en-US" sz="4000">
                          <a:solidFill>
                            <a:srgbClr val="990000"/>
                          </a:solidFill>
                          <a:effectLst/>
                          <a:latin typeface="arial"/>
                        </a:rPr>
                        <a:t>q1</a:t>
                      </a:r>
                      <a:endParaRPr lang="en-US" sz="4000">
                        <a:solidFill>
                          <a:srgbClr val="990000"/>
                        </a:solidFill>
                        <a:effectLst/>
                      </a:endParaRPr>
                    </a:p>
                  </a:txBody>
                  <a:tcPr marL="132902" marR="132902" marT="132902" marB="132902"/>
                </a:tc>
                <a:tc>
                  <a:txBody>
                    <a:bodyPr/>
                    <a:lstStyle/>
                    <a:p>
                      <a:pPr algn="ctr" fontAlgn="t"/>
                      <a:r>
                        <a:rPr lang="en-US" sz="4000" dirty="0">
                          <a:solidFill>
                            <a:srgbClr val="990000"/>
                          </a:solidFill>
                          <a:effectLst/>
                          <a:latin typeface="arial"/>
                        </a:rPr>
                        <a:t>q1</a:t>
                      </a:r>
                      <a:endParaRPr lang="en-US" sz="4000" dirty="0">
                        <a:solidFill>
                          <a:srgbClr val="990000"/>
                        </a:solidFill>
                        <a:effectLst/>
                      </a:endParaRPr>
                    </a:p>
                  </a:txBody>
                  <a:tcPr marL="132902" marR="132902" marT="132902" marB="132902"/>
                </a:tc>
              </a:tr>
            </a:tbl>
          </a:graphicData>
        </a:graphic>
      </p:graphicFrame>
    </p:spTree>
    <p:extLst>
      <p:ext uri="{BB962C8B-B14F-4D97-AF65-F5344CB8AC3E}">
        <p14:creationId xmlns:p14="http://schemas.microsoft.com/office/powerpoint/2010/main" val="27048672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97062"/>
          </a:xfrm>
        </p:spPr>
        <p:txBody>
          <a:bodyPr>
            <a:normAutofit fontScale="90000"/>
          </a:bodyPr>
          <a:lstStyle/>
          <a:p>
            <a:pPr algn="l"/>
            <a:r>
              <a:rPr lang="en-US" b="1" u="sng" dirty="0" smtClean="0"/>
              <a:t> </a:t>
            </a:r>
            <a:r>
              <a:rPr lang="en-US" b="1" u="sng" dirty="0"/>
              <a:t>Example: 2</a:t>
            </a:r>
            <a:r>
              <a:rPr lang="en-US" u="sng" dirty="0"/>
              <a:t/>
            </a:r>
            <a:br>
              <a:rPr lang="en-US" u="sng" dirty="0"/>
            </a:br>
            <a:r>
              <a:rPr lang="en-US" dirty="0"/>
              <a:t>Design an NFA over the alphabet Σ = {a, b} that accepts only the strings that start with “</a:t>
            </a:r>
            <a:r>
              <a:rPr lang="en-US" dirty="0" err="1"/>
              <a:t>bab</a:t>
            </a:r>
            <a:r>
              <a:rPr lang="en-US" dirty="0"/>
              <a:t>”</a:t>
            </a:r>
          </a:p>
        </p:txBody>
      </p:sp>
      <p:sp>
        <p:nvSpPr>
          <p:cNvPr id="3" name="Content Placeholder 2"/>
          <p:cNvSpPr>
            <a:spLocks noGrp="1"/>
          </p:cNvSpPr>
          <p:nvPr>
            <p:ph idx="1"/>
          </p:nvPr>
        </p:nvSpPr>
        <p:spPr>
          <a:xfrm>
            <a:off x="457200" y="2952750"/>
            <a:ext cx="8229600" cy="3173413"/>
          </a:xfrm>
        </p:spPr>
        <p:txBody>
          <a:bodyPr>
            <a:normAutofit/>
          </a:bodyPr>
          <a:lstStyle/>
          <a:p>
            <a:r>
              <a:rPr lang="en-US" sz="3600" b="1" u="sng" dirty="0"/>
              <a:t>Solution</a:t>
            </a:r>
            <a:endParaRPr lang="en-US" sz="3600" u="sng" dirty="0"/>
          </a:p>
          <a:p>
            <a:r>
              <a:rPr lang="en-US" sz="3600" dirty="0"/>
              <a:t>The language generated by this example will include all strings that start with “</a:t>
            </a:r>
            <a:r>
              <a:rPr lang="en-US" sz="3600" dirty="0" err="1"/>
              <a:t>bab</a:t>
            </a:r>
            <a:r>
              <a:rPr lang="en-US" sz="3600" dirty="0"/>
              <a:t>”</a:t>
            </a:r>
          </a:p>
          <a:p>
            <a:r>
              <a:rPr lang="en-US" sz="3600" dirty="0"/>
              <a:t>L = {</a:t>
            </a:r>
            <a:r>
              <a:rPr lang="en-US" sz="3600" dirty="0" err="1"/>
              <a:t>bab</a:t>
            </a:r>
            <a:r>
              <a:rPr lang="en-US" sz="3600" dirty="0"/>
              <a:t>, baba, </a:t>
            </a:r>
            <a:r>
              <a:rPr lang="en-US" sz="3600" dirty="0" err="1"/>
              <a:t>babb</a:t>
            </a:r>
            <a:r>
              <a:rPr lang="en-US" sz="3600" dirty="0"/>
              <a:t>, </a:t>
            </a:r>
            <a:r>
              <a:rPr lang="en-US" sz="3600" dirty="0" err="1"/>
              <a:t>babab</a:t>
            </a:r>
            <a:r>
              <a:rPr lang="en-US" sz="3600" dirty="0"/>
              <a:t>, </a:t>
            </a:r>
            <a:r>
              <a:rPr lang="en-US" sz="3600" dirty="0" err="1"/>
              <a:t>babba</a:t>
            </a:r>
            <a:r>
              <a:rPr lang="en-US" sz="3600" dirty="0"/>
              <a:t>……..}</a:t>
            </a:r>
          </a:p>
          <a:p>
            <a:pPr marL="0" indent="0">
              <a:buNone/>
            </a:pPr>
            <a:endParaRPr lang="en-US" sz="3600" dirty="0"/>
          </a:p>
        </p:txBody>
      </p:sp>
    </p:spTree>
    <p:extLst>
      <p:ext uri="{BB962C8B-B14F-4D97-AF65-F5344CB8AC3E}">
        <p14:creationId xmlns:p14="http://schemas.microsoft.com/office/powerpoint/2010/main" val="743538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following NFA automaton machine accepts all strings that start with “</a:t>
            </a:r>
            <a:r>
              <a:rPr lang="en-US" dirty="0" err="1"/>
              <a:t>bab</a:t>
            </a:r>
            <a:r>
              <a:rPr lang="en-US" dirty="0"/>
              <a:t>”</a:t>
            </a:r>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427" y="2286000"/>
            <a:ext cx="8464373" cy="2258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7155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4525963"/>
          </a:xfrm>
        </p:spPr>
        <p:txBody>
          <a:bodyPr>
            <a:noAutofit/>
          </a:bodyPr>
          <a:lstStyle/>
          <a:p>
            <a:pPr fontAlgn="base"/>
            <a:r>
              <a:rPr lang="en-US" sz="2800" dirty="0"/>
              <a:t>{q0, q1, q2, q3} refers to the set of states</a:t>
            </a:r>
          </a:p>
          <a:p>
            <a:pPr fontAlgn="base"/>
            <a:r>
              <a:rPr lang="en-US" sz="2800" dirty="0"/>
              <a:t>{</a:t>
            </a:r>
            <a:r>
              <a:rPr lang="en-US" sz="2800" dirty="0" err="1"/>
              <a:t>a,b</a:t>
            </a:r>
            <a:r>
              <a:rPr lang="en-US" sz="2800" dirty="0"/>
              <a:t>} refers to the set of input alphabets</a:t>
            </a:r>
          </a:p>
          <a:p>
            <a:pPr fontAlgn="base"/>
            <a:r>
              <a:rPr lang="el-GR" sz="2800" dirty="0"/>
              <a:t>δ </a:t>
            </a:r>
            <a:r>
              <a:rPr lang="en-US" sz="2800" dirty="0"/>
              <a:t>refers to the transition function</a:t>
            </a:r>
          </a:p>
          <a:p>
            <a:pPr lvl="1" fontAlgn="base"/>
            <a:r>
              <a:rPr lang="el-GR" dirty="0"/>
              <a:t>δ (</a:t>
            </a:r>
            <a:r>
              <a:rPr lang="en-US" dirty="0"/>
              <a:t>q0, a) =</a:t>
            </a:r>
            <a:r>
              <a:rPr lang="el-GR" dirty="0"/>
              <a:t>ϕ</a:t>
            </a:r>
          </a:p>
          <a:p>
            <a:pPr lvl="1" fontAlgn="base"/>
            <a:r>
              <a:rPr lang="el-GR" dirty="0"/>
              <a:t>δ (</a:t>
            </a:r>
            <a:r>
              <a:rPr lang="en-US" dirty="0"/>
              <a:t>q0, b) = q1</a:t>
            </a:r>
          </a:p>
          <a:p>
            <a:pPr lvl="1" fontAlgn="base"/>
            <a:r>
              <a:rPr lang="el-GR" dirty="0"/>
              <a:t>δ (</a:t>
            </a:r>
            <a:r>
              <a:rPr lang="en-US" dirty="0"/>
              <a:t>q1, a) = q2</a:t>
            </a:r>
          </a:p>
          <a:p>
            <a:pPr lvl="1" fontAlgn="base"/>
            <a:r>
              <a:rPr lang="el-GR" dirty="0"/>
              <a:t>δ (</a:t>
            </a:r>
            <a:r>
              <a:rPr lang="en-US" dirty="0"/>
              <a:t>q1, b) =</a:t>
            </a:r>
            <a:r>
              <a:rPr lang="el-GR" dirty="0"/>
              <a:t>ϕ</a:t>
            </a:r>
          </a:p>
          <a:p>
            <a:pPr lvl="1" fontAlgn="base"/>
            <a:r>
              <a:rPr lang="el-GR" dirty="0"/>
              <a:t>δ (</a:t>
            </a:r>
            <a:r>
              <a:rPr lang="en-US" dirty="0"/>
              <a:t>q2, a) = </a:t>
            </a:r>
            <a:r>
              <a:rPr lang="el-GR" dirty="0"/>
              <a:t>ϕ</a:t>
            </a:r>
          </a:p>
          <a:p>
            <a:pPr lvl="1" fontAlgn="base"/>
            <a:r>
              <a:rPr lang="el-GR" dirty="0"/>
              <a:t>δ (</a:t>
            </a:r>
            <a:r>
              <a:rPr lang="en-US" dirty="0"/>
              <a:t>q2, b) = q3</a:t>
            </a:r>
          </a:p>
          <a:p>
            <a:pPr lvl="1" fontAlgn="base"/>
            <a:r>
              <a:rPr lang="el-GR" dirty="0"/>
              <a:t>δ (</a:t>
            </a:r>
            <a:r>
              <a:rPr lang="en-US" dirty="0"/>
              <a:t>q3, a) = q3</a:t>
            </a:r>
          </a:p>
          <a:p>
            <a:pPr lvl="1" fontAlgn="base"/>
            <a:r>
              <a:rPr lang="el-GR" dirty="0"/>
              <a:t>δ (</a:t>
            </a:r>
            <a:r>
              <a:rPr lang="en-US" dirty="0"/>
              <a:t>q3, b) = q3</a:t>
            </a:r>
          </a:p>
          <a:p>
            <a:pPr fontAlgn="base"/>
            <a:r>
              <a:rPr lang="en-US" sz="2800" dirty="0"/>
              <a:t>q0 refers to the initial state</a:t>
            </a:r>
          </a:p>
          <a:p>
            <a:pPr fontAlgn="base"/>
            <a:r>
              <a:rPr lang="en-US" sz="2800" dirty="0"/>
              <a:t>{q3} refers to the set of final states</a:t>
            </a:r>
          </a:p>
          <a:p>
            <a:endParaRPr lang="en-US" sz="2800" dirty="0"/>
          </a:p>
        </p:txBody>
      </p:sp>
    </p:spTree>
    <p:extLst>
      <p:ext uri="{BB962C8B-B14F-4D97-AF65-F5344CB8AC3E}">
        <p14:creationId xmlns:p14="http://schemas.microsoft.com/office/powerpoint/2010/main" val="3430544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Transition Table for the above Non-Deterministic Finite Automata is-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46127583"/>
              </p:ext>
            </p:extLst>
          </p:nvPr>
        </p:nvGraphicFramePr>
        <p:xfrm>
          <a:off x="457200" y="1981200"/>
          <a:ext cx="8229600" cy="4210050"/>
        </p:xfrm>
        <a:graphic>
          <a:graphicData uri="http://schemas.openxmlformats.org/drawingml/2006/table">
            <a:tbl>
              <a:tblPr firstRow="1" bandRow="1">
                <a:tableStyleId>{5C22544A-7EE6-4342-B048-85BDC9FD1C3A}</a:tableStyleId>
              </a:tblPr>
              <a:tblGrid>
                <a:gridCol w="2743200"/>
                <a:gridCol w="2743200"/>
                <a:gridCol w="2743200"/>
              </a:tblGrid>
              <a:tr h="842010">
                <a:tc>
                  <a:txBody>
                    <a:bodyPr/>
                    <a:lstStyle/>
                    <a:p>
                      <a:pPr algn="ctr" fontAlgn="t"/>
                      <a:r>
                        <a:rPr lang="en-US" sz="3600" dirty="0">
                          <a:solidFill>
                            <a:srgbClr val="990000"/>
                          </a:solidFill>
                          <a:effectLst/>
                          <a:latin typeface="arial"/>
                        </a:rPr>
                        <a:t>States</a:t>
                      </a:r>
                      <a:endParaRPr lang="en-US" sz="3600" dirty="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a</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b</a:t>
                      </a:r>
                      <a:endParaRPr lang="en-US" sz="3600">
                        <a:solidFill>
                          <a:srgbClr val="990000"/>
                        </a:solidFill>
                        <a:effectLst/>
                      </a:endParaRPr>
                    </a:p>
                  </a:txBody>
                  <a:tcPr marL="132902" marR="132902" marT="132902" marB="132902"/>
                </a:tc>
              </a:tr>
              <a:tr h="842010">
                <a:tc>
                  <a:txBody>
                    <a:bodyPr/>
                    <a:lstStyle/>
                    <a:p>
                      <a:pPr algn="ctr" fontAlgn="t"/>
                      <a:r>
                        <a:rPr lang="en-US" sz="3600" dirty="0">
                          <a:solidFill>
                            <a:srgbClr val="990000"/>
                          </a:solidFill>
                          <a:effectLst/>
                          <a:latin typeface="arial"/>
                        </a:rPr>
                        <a:t>q0</a:t>
                      </a:r>
                      <a:endParaRPr lang="en-US" sz="3600" dirty="0">
                        <a:solidFill>
                          <a:srgbClr val="990000"/>
                        </a:solidFill>
                        <a:effectLst/>
                      </a:endParaRPr>
                    </a:p>
                  </a:txBody>
                  <a:tcPr marL="132902" marR="132902" marT="132902" marB="132902"/>
                </a:tc>
                <a:tc>
                  <a:txBody>
                    <a:bodyPr/>
                    <a:lstStyle/>
                    <a:p>
                      <a:pPr algn="ctr" fontAlgn="t"/>
                      <a:r>
                        <a:rPr lang="el-GR" sz="3600">
                          <a:solidFill>
                            <a:srgbClr val="990000"/>
                          </a:solidFill>
                          <a:effectLst/>
                          <a:latin typeface="arial"/>
                        </a:rPr>
                        <a:t>ϕ</a:t>
                      </a:r>
                      <a:endParaRPr lang="el-GR"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q1</a:t>
                      </a:r>
                      <a:endParaRPr lang="en-US" sz="3600">
                        <a:solidFill>
                          <a:srgbClr val="990000"/>
                        </a:solidFill>
                        <a:effectLst/>
                      </a:endParaRPr>
                    </a:p>
                  </a:txBody>
                  <a:tcPr marL="132902" marR="132902" marT="132902" marB="132902"/>
                </a:tc>
              </a:tr>
              <a:tr h="842010">
                <a:tc>
                  <a:txBody>
                    <a:bodyPr/>
                    <a:lstStyle/>
                    <a:p>
                      <a:pPr algn="ctr" fontAlgn="t"/>
                      <a:r>
                        <a:rPr lang="en-US" sz="3600" dirty="0">
                          <a:solidFill>
                            <a:srgbClr val="990000"/>
                          </a:solidFill>
                          <a:effectLst/>
                          <a:latin typeface="arial"/>
                        </a:rPr>
                        <a:t>q1</a:t>
                      </a:r>
                      <a:endParaRPr lang="en-US" sz="3600" dirty="0">
                        <a:solidFill>
                          <a:srgbClr val="990000"/>
                        </a:solidFill>
                        <a:effectLst/>
                      </a:endParaRPr>
                    </a:p>
                  </a:txBody>
                  <a:tcPr marL="132902" marR="132902" marT="132902" marB="132902"/>
                </a:tc>
                <a:tc>
                  <a:txBody>
                    <a:bodyPr/>
                    <a:lstStyle/>
                    <a:p>
                      <a:pPr algn="ctr" fontAlgn="t"/>
                      <a:r>
                        <a:rPr lang="en-US" sz="3600" dirty="0">
                          <a:solidFill>
                            <a:srgbClr val="990000"/>
                          </a:solidFill>
                          <a:effectLst/>
                          <a:latin typeface="arial"/>
                        </a:rPr>
                        <a:t>q2</a:t>
                      </a:r>
                      <a:endParaRPr lang="en-US" sz="3600" dirty="0">
                        <a:solidFill>
                          <a:srgbClr val="990000"/>
                        </a:solidFill>
                        <a:effectLst/>
                      </a:endParaRPr>
                    </a:p>
                  </a:txBody>
                  <a:tcPr marL="132902" marR="132902" marT="132902" marB="132902"/>
                </a:tc>
                <a:tc>
                  <a:txBody>
                    <a:bodyPr/>
                    <a:lstStyle/>
                    <a:p>
                      <a:pPr algn="ctr" fontAlgn="t"/>
                      <a:r>
                        <a:rPr lang="el-GR" sz="3600">
                          <a:solidFill>
                            <a:srgbClr val="990000"/>
                          </a:solidFill>
                          <a:effectLst/>
                          <a:latin typeface="arial"/>
                        </a:rPr>
                        <a:t>ϕ</a:t>
                      </a:r>
                      <a:endParaRPr lang="el-GR" sz="3600">
                        <a:solidFill>
                          <a:srgbClr val="990000"/>
                        </a:solidFill>
                        <a:effectLst/>
                      </a:endParaRPr>
                    </a:p>
                  </a:txBody>
                  <a:tcPr marL="132902" marR="132902" marT="132902" marB="132902"/>
                </a:tc>
              </a:tr>
              <a:tr h="842010">
                <a:tc>
                  <a:txBody>
                    <a:bodyPr/>
                    <a:lstStyle/>
                    <a:p>
                      <a:pPr algn="ctr" fontAlgn="t"/>
                      <a:r>
                        <a:rPr lang="en-US" sz="3600">
                          <a:solidFill>
                            <a:srgbClr val="990000"/>
                          </a:solidFill>
                          <a:effectLst/>
                          <a:latin typeface="arial"/>
                        </a:rPr>
                        <a:t>q2</a:t>
                      </a:r>
                      <a:endParaRPr lang="en-US" sz="3600">
                        <a:solidFill>
                          <a:srgbClr val="990000"/>
                        </a:solidFill>
                        <a:effectLst/>
                      </a:endParaRPr>
                    </a:p>
                  </a:txBody>
                  <a:tcPr marL="132902" marR="132902" marT="132902" marB="132902"/>
                </a:tc>
                <a:tc>
                  <a:txBody>
                    <a:bodyPr/>
                    <a:lstStyle/>
                    <a:p>
                      <a:pPr algn="ctr" fontAlgn="t"/>
                      <a:r>
                        <a:rPr lang="el-GR" sz="3600" dirty="0">
                          <a:solidFill>
                            <a:srgbClr val="990000"/>
                          </a:solidFill>
                          <a:effectLst/>
                          <a:latin typeface="arial"/>
                        </a:rPr>
                        <a:t>ϕ</a:t>
                      </a:r>
                      <a:endParaRPr lang="el-GR" sz="3600" dirty="0">
                        <a:solidFill>
                          <a:srgbClr val="990000"/>
                        </a:solidFill>
                        <a:effectLst/>
                      </a:endParaRPr>
                    </a:p>
                  </a:txBody>
                  <a:tcPr marL="132902" marR="132902" marT="132902" marB="132902"/>
                </a:tc>
                <a:tc>
                  <a:txBody>
                    <a:bodyPr/>
                    <a:lstStyle/>
                    <a:p>
                      <a:pPr algn="ctr" fontAlgn="t"/>
                      <a:r>
                        <a:rPr lang="en-US" sz="3600" dirty="0">
                          <a:solidFill>
                            <a:srgbClr val="990000"/>
                          </a:solidFill>
                          <a:effectLst/>
                          <a:latin typeface="arial"/>
                        </a:rPr>
                        <a:t>q3</a:t>
                      </a:r>
                      <a:endParaRPr lang="en-US" sz="3600" dirty="0">
                        <a:solidFill>
                          <a:srgbClr val="990000"/>
                        </a:solidFill>
                        <a:effectLst/>
                      </a:endParaRPr>
                    </a:p>
                  </a:txBody>
                  <a:tcPr marL="132902" marR="132902" marT="132902" marB="132902"/>
                </a:tc>
              </a:tr>
              <a:tr h="842010">
                <a:tc>
                  <a:txBody>
                    <a:bodyPr/>
                    <a:lstStyle/>
                    <a:p>
                      <a:pPr algn="ctr" fontAlgn="t"/>
                      <a:r>
                        <a:rPr lang="en-US" sz="3600">
                          <a:solidFill>
                            <a:srgbClr val="990000"/>
                          </a:solidFill>
                          <a:effectLst/>
                          <a:latin typeface="arial"/>
                        </a:rPr>
                        <a:t>q3</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q3</a:t>
                      </a:r>
                      <a:endParaRPr lang="en-US" sz="3600">
                        <a:solidFill>
                          <a:srgbClr val="990000"/>
                        </a:solidFill>
                        <a:effectLst/>
                      </a:endParaRPr>
                    </a:p>
                  </a:txBody>
                  <a:tcPr marL="132902" marR="132902" marT="132902" marB="132902"/>
                </a:tc>
                <a:tc>
                  <a:txBody>
                    <a:bodyPr/>
                    <a:lstStyle/>
                    <a:p>
                      <a:pPr algn="ctr" fontAlgn="t"/>
                      <a:r>
                        <a:rPr lang="en-US" sz="3600" dirty="0">
                          <a:solidFill>
                            <a:srgbClr val="990000"/>
                          </a:solidFill>
                          <a:effectLst/>
                          <a:latin typeface="arial"/>
                        </a:rPr>
                        <a:t>q3</a:t>
                      </a:r>
                      <a:endParaRPr lang="en-US" sz="3600" dirty="0">
                        <a:solidFill>
                          <a:srgbClr val="990000"/>
                        </a:solidFill>
                        <a:effectLst/>
                      </a:endParaRPr>
                    </a:p>
                  </a:txBody>
                  <a:tcPr marL="132902" marR="132902" marT="132902" marB="132902"/>
                </a:tc>
              </a:tr>
            </a:tbl>
          </a:graphicData>
        </a:graphic>
      </p:graphicFrame>
    </p:spTree>
    <p:extLst>
      <p:ext uri="{BB962C8B-B14F-4D97-AF65-F5344CB8AC3E}">
        <p14:creationId xmlns:p14="http://schemas.microsoft.com/office/powerpoint/2010/main" val="3509519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581150"/>
          </a:xfrm>
        </p:spPr>
        <p:txBody>
          <a:bodyPr>
            <a:normAutofit fontScale="90000"/>
          </a:bodyPr>
          <a:lstStyle/>
          <a:p>
            <a:pPr algn="l"/>
            <a:r>
              <a:rPr lang="en-US" b="1" u="sng" dirty="0"/>
              <a:t>NFA Example: </a:t>
            </a:r>
            <a:r>
              <a:rPr lang="en-US" b="1" u="sng" dirty="0" smtClean="0"/>
              <a:t>3</a:t>
            </a:r>
            <a:br>
              <a:rPr lang="en-US" b="1" u="sng" dirty="0" smtClean="0"/>
            </a:br>
            <a:r>
              <a:rPr lang="en-US" dirty="0"/>
              <a:t>Design an NFA over the alphabet Σ = {a, b} that accepts only the strings that start with “</a:t>
            </a:r>
            <a:r>
              <a:rPr lang="en-US" dirty="0" err="1"/>
              <a:t>aa</a:t>
            </a:r>
            <a:r>
              <a:rPr lang="en-US" dirty="0"/>
              <a:t>” or “bb”</a:t>
            </a:r>
            <a:r>
              <a:rPr lang="en-US" u="sng" dirty="0"/>
              <a:t/>
            </a:r>
            <a:br>
              <a:rPr lang="en-US" u="sng" dirty="0"/>
            </a:br>
            <a:endParaRPr lang="en-US" dirty="0"/>
          </a:p>
        </p:txBody>
      </p:sp>
      <p:sp>
        <p:nvSpPr>
          <p:cNvPr id="3" name="Content Placeholder 2"/>
          <p:cNvSpPr>
            <a:spLocks noGrp="1"/>
          </p:cNvSpPr>
          <p:nvPr>
            <p:ph idx="1"/>
          </p:nvPr>
        </p:nvSpPr>
        <p:spPr>
          <a:xfrm>
            <a:off x="457200" y="2990850"/>
            <a:ext cx="8229600" cy="3135313"/>
          </a:xfrm>
        </p:spPr>
        <p:txBody>
          <a:bodyPr/>
          <a:lstStyle/>
          <a:p>
            <a:r>
              <a:rPr lang="en-US" b="1" u="sng" dirty="0"/>
              <a:t>Solution</a:t>
            </a:r>
            <a:endParaRPr lang="en-US" u="sng" dirty="0"/>
          </a:p>
          <a:p>
            <a:r>
              <a:rPr lang="en-US" dirty="0"/>
              <a:t>The language generated by this example will include all strings that start with “</a:t>
            </a:r>
            <a:r>
              <a:rPr lang="en-US" dirty="0" err="1"/>
              <a:t>aa</a:t>
            </a:r>
            <a:r>
              <a:rPr lang="en-US" dirty="0"/>
              <a:t>” or “bb”</a:t>
            </a:r>
          </a:p>
          <a:p>
            <a:r>
              <a:rPr lang="en-US" dirty="0"/>
              <a:t>L = { </a:t>
            </a:r>
            <a:r>
              <a:rPr lang="en-US" dirty="0" err="1"/>
              <a:t>aa</a:t>
            </a:r>
            <a:r>
              <a:rPr lang="en-US" dirty="0"/>
              <a:t>, bb, </a:t>
            </a:r>
            <a:r>
              <a:rPr lang="en-US" dirty="0" err="1"/>
              <a:t>aaa</a:t>
            </a:r>
            <a:r>
              <a:rPr lang="en-US" dirty="0"/>
              <a:t>, </a:t>
            </a:r>
            <a:r>
              <a:rPr lang="en-US" dirty="0" err="1"/>
              <a:t>bbb</a:t>
            </a:r>
            <a:r>
              <a:rPr lang="en-US" dirty="0"/>
              <a:t>, </a:t>
            </a:r>
            <a:r>
              <a:rPr lang="en-US" dirty="0" err="1"/>
              <a:t>aaab</a:t>
            </a:r>
            <a:r>
              <a:rPr lang="en-US" dirty="0"/>
              <a:t>, </a:t>
            </a:r>
            <a:r>
              <a:rPr lang="en-US" dirty="0" err="1"/>
              <a:t>aaba</a:t>
            </a:r>
            <a:r>
              <a:rPr lang="en-US" dirty="0"/>
              <a:t>,……..}</a:t>
            </a:r>
          </a:p>
          <a:p>
            <a:endParaRPr lang="en-US" dirty="0"/>
          </a:p>
        </p:txBody>
      </p:sp>
    </p:spTree>
    <p:extLst>
      <p:ext uri="{BB962C8B-B14F-4D97-AF65-F5344CB8AC3E}">
        <p14:creationId xmlns:p14="http://schemas.microsoft.com/office/powerpoint/2010/main" val="42237748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following NFA automaton machine accepts all strings that start with “</a:t>
            </a:r>
            <a:r>
              <a:rPr lang="en-US" dirty="0" err="1"/>
              <a:t>bab</a:t>
            </a:r>
            <a:r>
              <a:rPr lang="en-US" dirty="0"/>
              <a:t>”</a:t>
            </a:r>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1" y="1962611"/>
            <a:ext cx="8058150" cy="4115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38764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96050"/>
          </a:xfrm>
        </p:spPr>
        <p:txBody>
          <a:bodyPr>
            <a:noAutofit/>
          </a:bodyPr>
          <a:lstStyle/>
          <a:p>
            <a:pPr fontAlgn="base"/>
            <a:r>
              <a:rPr lang="en-US" sz="2400" dirty="0"/>
              <a:t>{q0, q1, q2, q3, q4} refers to the set of states</a:t>
            </a:r>
          </a:p>
          <a:p>
            <a:pPr fontAlgn="base"/>
            <a:r>
              <a:rPr lang="en-US" sz="2400" dirty="0"/>
              <a:t>{</a:t>
            </a:r>
            <a:r>
              <a:rPr lang="en-US" sz="2400" dirty="0" err="1"/>
              <a:t>a,b</a:t>
            </a:r>
            <a:r>
              <a:rPr lang="en-US" sz="2400" dirty="0"/>
              <a:t>} refers to the set of input alphabets</a:t>
            </a:r>
          </a:p>
          <a:p>
            <a:pPr fontAlgn="base"/>
            <a:r>
              <a:rPr lang="el-GR" sz="2400" dirty="0"/>
              <a:t>δ </a:t>
            </a:r>
            <a:r>
              <a:rPr lang="en-US" sz="2400" dirty="0"/>
              <a:t>refers to the transition function</a:t>
            </a:r>
          </a:p>
          <a:p>
            <a:pPr lvl="1" fontAlgn="base"/>
            <a:r>
              <a:rPr lang="el-GR" sz="2400" dirty="0"/>
              <a:t>δ (</a:t>
            </a:r>
            <a:r>
              <a:rPr lang="en-US" sz="2400" dirty="0"/>
              <a:t>q0, a) =q3</a:t>
            </a:r>
          </a:p>
          <a:p>
            <a:pPr lvl="1" fontAlgn="base"/>
            <a:r>
              <a:rPr lang="el-GR" sz="2400" dirty="0"/>
              <a:t>δ (</a:t>
            </a:r>
            <a:r>
              <a:rPr lang="en-US" sz="2400" dirty="0"/>
              <a:t>q0, b) = q1</a:t>
            </a:r>
          </a:p>
          <a:p>
            <a:pPr lvl="1" fontAlgn="base"/>
            <a:r>
              <a:rPr lang="el-GR" sz="2400" dirty="0"/>
              <a:t>δ (</a:t>
            </a:r>
            <a:r>
              <a:rPr lang="en-US" sz="2400" dirty="0"/>
              <a:t>q1, a) =</a:t>
            </a:r>
            <a:r>
              <a:rPr lang="el-GR" sz="2400" dirty="0"/>
              <a:t>ϕ</a:t>
            </a:r>
          </a:p>
          <a:p>
            <a:pPr lvl="1" fontAlgn="base"/>
            <a:r>
              <a:rPr lang="el-GR" sz="2400" dirty="0"/>
              <a:t>δ (</a:t>
            </a:r>
            <a:r>
              <a:rPr lang="en-US" sz="2400" dirty="0"/>
              <a:t>q1, b) = q2</a:t>
            </a:r>
          </a:p>
          <a:p>
            <a:pPr lvl="1" fontAlgn="base"/>
            <a:r>
              <a:rPr lang="el-GR" sz="2400" dirty="0"/>
              <a:t>δ (</a:t>
            </a:r>
            <a:r>
              <a:rPr lang="en-US" sz="2400" dirty="0"/>
              <a:t>q2, a) = q2</a:t>
            </a:r>
          </a:p>
          <a:p>
            <a:pPr lvl="1" fontAlgn="base"/>
            <a:r>
              <a:rPr lang="el-GR" sz="2400" dirty="0"/>
              <a:t>δ (</a:t>
            </a:r>
            <a:r>
              <a:rPr lang="en-US" sz="2400" dirty="0"/>
              <a:t>q2, b) = q2</a:t>
            </a:r>
          </a:p>
          <a:p>
            <a:pPr lvl="1" fontAlgn="base"/>
            <a:r>
              <a:rPr lang="el-GR" sz="2400" dirty="0"/>
              <a:t>δ (</a:t>
            </a:r>
            <a:r>
              <a:rPr lang="en-US" sz="2400" dirty="0"/>
              <a:t>q3, a) = q4</a:t>
            </a:r>
          </a:p>
          <a:p>
            <a:pPr lvl="1" fontAlgn="base"/>
            <a:r>
              <a:rPr lang="el-GR" sz="2400" dirty="0"/>
              <a:t>δ (</a:t>
            </a:r>
            <a:r>
              <a:rPr lang="en-US" sz="2400" dirty="0"/>
              <a:t>q3, b) =</a:t>
            </a:r>
            <a:r>
              <a:rPr lang="el-GR" sz="2400" dirty="0"/>
              <a:t>ϕ</a:t>
            </a:r>
          </a:p>
          <a:p>
            <a:pPr lvl="1" fontAlgn="base"/>
            <a:r>
              <a:rPr lang="el-GR" sz="2400" dirty="0"/>
              <a:t>δ (</a:t>
            </a:r>
            <a:r>
              <a:rPr lang="en-US" sz="2400" dirty="0"/>
              <a:t>q4, a) = q4</a:t>
            </a:r>
          </a:p>
          <a:p>
            <a:pPr lvl="1" fontAlgn="base"/>
            <a:r>
              <a:rPr lang="el-GR" sz="2400" dirty="0"/>
              <a:t>δ (</a:t>
            </a:r>
            <a:r>
              <a:rPr lang="en-US" sz="2400" dirty="0"/>
              <a:t>q4, b) = q4</a:t>
            </a:r>
          </a:p>
          <a:p>
            <a:pPr fontAlgn="base"/>
            <a:r>
              <a:rPr lang="en-US" sz="2400" dirty="0"/>
              <a:t>q0 refers to the initial state</a:t>
            </a:r>
          </a:p>
          <a:p>
            <a:pPr fontAlgn="base"/>
            <a:r>
              <a:rPr lang="en-US" sz="2400" dirty="0"/>
              <a:t>{q2,q4} refers to the set of final states</a:t>
            </a:r>
          </a:p>
          <a:p>
            <a:endParaRPr lang="en-US" sz="2400" dirty="0"/>
          </a:p>
        </p:txBody>
      </p:sp>
    </p:spTree>
    <p:extLst>
      <p:ext uri="{BB962C8B-B14F-4D97-AF65-F5344CB8AC3E}">
        <p14:creationId xmlns:p14="http://schemas.microsoft.com/office/powerpoint/2010/main" val="31590406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Transition Table for the above Non-Deterministic Finite Automata is-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5448262"/>
              </p:ext>
            </p:extLst>
          </p:nvPr>
        </p:nvGraphicFramePr>
        <p:xfrm>
          <a:off x="457200" y="1600200"/>
          <a:ext cx="8229600" cy="4886664"/>
        </p:xfrm>
        <a:graphic>
          <a:graphicData uri="http://schemas.openxmlformats.org/drawingml/2006/table">
            <a:tbl>
              <a:tblPr firstRow="1" bandRow="1">
                <a:tableStyleId>{5C22544A-7EE6-4342-B048-85BDC9FD1C3A}</a:tableStyleId>
              </a:tblPr>
              <a:tblGrid>
                <a:gridCol w="2743200"/>
                <a:gridCol w="2743200"/>
                <a:gridCol w="2743200"/>
              </a:tblGrid>
              <a:tr h="771525">
                <a:tc>
                  <a:txBody>
                    <a:bodyPr/>
                    <a:lstStyle/>
                    <a:p>
                      <a:pPr algn="ctr" fontAlgn="t"/>
                      <a:r>
                        <a:rPr lang="en-US" sz="3600">
                          <a:solidFill>
                            <a:srgbClr val="990000"/>
                          </a:solidFill>
                          <a:effectLst/>
                          <a:latin typeface="arial"/>
                        </a:rPr>
                        <a:t>States</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a</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b</a:t>
                      </a:r>
                      <a:endParaRPr lang="en-US" sz="3600">
                        <a:solidFill>
                          <a:srgbClr val="990000"/>
                        </a:solidFill>
                        <a:effectLst/>
                      </a:endParaRPr>
                    </a:p>
                  </a:txBody>
                  <a:tcPr marL="132902" marR="132902" marT="132902" marB="132902"/>
                </a:tc>
              </a:tr>
              <a:tr h="771525">
                <a:tc>
                  <a:txBody>
                    <a:bodyPr/>
                    <a:lstStyle/>
                    <a:p>
                      <a:pPr algn="ctr" fontAlgn="t"/>
                      <a:r>
                        <a:rPr lang="en-US" sz="3600">
                          <a:solidFill>
                            <a:srgbClr val="990000"/>
                          </a:solidFill>
                          <a:effectLst/>
                          <a:latin typeface="arial"/>
                        </a:rPr>
                        <a:t>q0</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q3</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q1</a:t>
                      </a:r>
                      <a:endParaRPr lang="en-US" sz="3600">
                        <a:solidFill>
                          <a:srgbClr val="990000"/>
                        </a:solidFill>
                        <a:effectLst/>
                      </a:endParaRPr>
                    </a:p>
                  </a:txBody>
                  <a:tcPr marL="132902" marR="132902" marT="132902" marB="132902"/>
                </a:tc>
              </a:tr>
              <a:tr h="771525">
                <a:tc>
                  <a:txBody>
                    <a:bodyPr/>
                    <a:lstStyle/>
                    <a:p>
                      <a:pPr algn="ctr" fontAlgn="t"/>
                      <a:r>
                        <a:rPr lang="en-US" sz="3600">
                          <a:solidFill>
                            <a:srgbClr val="990000"/>
                          </a:solidFill>
                          <a:effectLst/>
                          <a:latin typeface="arial"/>
                        </a:rPr>
                        <a:t>q1</a:t>
                      </a:r>
                      <a:endParaRPr lang="en-US" sz="3600">
                        <a:solidFill>
                          <a:srgbClr val="990000"/>
                        </a:solidFill>
                        <a:effectLst/>
                      </a:endParaRPr>
                    </a:p>
                  </a:txBody>
                  <a:tcPr marL="132902" marR="132902" marT="132902" marB="132902"/>
                </a:tc>
                <a:tc>
                  <a:txBody>
                    <a:bodyPr/>
                    <a:lstStyle/>
                    <a:p>
                      <a:pPr algn="ctr" fontAlgn="t"/>
                      <a:r>
                        <a:rPr lang="el-GR" sz="3600">
                          <a:solidFill>
                            <a:srgbClr val="990000"/>
                          </a:solidFill>
                          <a:effectLst/>
                          <a:latin typeface="arial"/>
                        </a:rPr>
                        <a:t>ϕ</a:t>
                      </a:r>
                      <a:endParaRPr lang="el-GR"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q2</a:t>
                      </a:r>
                      <a:endParaRPr lang="en-US" sz="3600">
                        <a:solidFill>
                          <a:srgbClr val="990000"/>
                        </a:solidFill>
                        <a:effectLst/>
                      </a:endParaRPr>
                    </a:p>
                  </a:txBody>
                  <a:tcPr marL="132902" marR="132902" marT="132902" marB="132902"/>
                </a:tc>
              </a:tr>
              <a:tr h="771525">
                <a:tc>
                  <a:txBody>
                    <a:bodyPr/>
                    <a:lstStyle/>
                    <a:p>
                      <a:pPr algn="ctr" fontAlgn="t"/>
                      <a:r>
                        <a:rPr lang="en-US" sz="3600">
                          <a:solidFill>
                            <a:srgbClr val="990000"/>
                          </a:solidFill>
                          <a:effectLst/>
                          <a:latin typeface="arial"/>
                        </a:rPr>
                        <a:t>q2</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q2</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q2</a:t>
                      </a:r>
                      <a:endParaRPr lang="en-US" sz="3600">
                        <a:solidFill>
                          <a:srgbClr val="990000"/>
                        </a:solidFill>
                        <a:effectLst/>
                      </a:endParaRPr>
                    </a:p>
                  </a:txBody>
                  <a:tcPr marL="132902" marR="132902" marT="132902" marB="132902"/>
                </a:tc>
              </a:tr>
              <a:tr h="771525">
                <a:tc>
                  <a:txBody>
                    <a:bodyPr/>
                    <a:lstStyle/>
                    <a:p>
                      <a:pPr algn="ctr" fontAlgn="t"/>
                      <a:r>
                        <a:rPr lang="en-US" sz="3600">
                          <a:solidFill>
                            <a:srgbClr val="990000"/>
                          </a:solidFill>
                          <a:effectLst/>
                          <a:latin typeface="arial"/>
                        </a:rPr>
                        <a:t>q3</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q4</a:t>
                      </a:r>
                      <a:endParaRPr lang="en-US" sz="3600">
                        <a:solidFill>
                          <a:srgbClr val="990000"/>
                        </a:solidFill>
                        <a:effectLst/>
                      </a:endParaRPr>
                    </a:p>
                  </a:txBody>
                  <a:tcPr marL="132902" marR="132902" marT="132902" marB="132902"/>
                </a:tc>
                <a:tc>
                  <a:txBody>
                    <a:bodyPr/>
                    <a:lstStyle/>
                    <a:p>
                      <a:pPr algn="ctr" fontAlgn="t"/>
                      <a:r>
                        <a:rPr lang="el-GR" sz="3600">
                          <a:solidFill>
                            <a:srgbClr val="990000"/>
                          </a:solidFill>
                          <a:effectLst/>
                          <a:latin typeface="arial"/>
                        </a:rPr>
                        <a:t>ϕ</a:t>
                      </a:r>
                      <a:endParaRPr lang="el-GR" sz="3600">
                        <a:solidFill>
                          <a:srgbClr val="990000"/>
                        </a:solidFill>
                        <a:effectLst/>
                      </a:endParaRPr>
                    </a:p>
                  </a:txBody>
                  <a:tcPr marL="132902" marR="132902" marT="132902" marB="132902"/>
                </a:tc>
              </a:tr>
              <a:tr h="771525">
                <a:tc>
                  <a:txBody>
                    <a:bodyPr/>
                    <a:lstStyle/>
                    <a:p>
                      <a:pPr algn="ctr" fontAlgn="t"/>
                      <a:r>
                        <a:rPr lang="en-US" sz="3600">
                          <a:solidFill>
                            <a:srgbClr val="990000"/>
                          </a:solidFill>
                          <a:effectLst/>
                          <a:latin typeface="arial"/>
                        </a:rPr>
                        <a:t>q4</a:t>
                      </a:r>
                      <a:endParaRPr lang="en-US" sz="3600">
                        <a:solidFill>
                          <a:srgbClr val="990000"/>
                        </a:solidFill>
                        <a:effectLst/>
                      </a:endParaRPr>
                    </a:p>
                  </a:txBody>
                  <a:tcPr marL="132902" marR="132902" marT="132902" marB="132902"/>
                </a:tc>
                <a:tc>
                  <a:txBody>
                    <a:bodyPr/>
                    <a:lstStyle/>
                    <a:p>
                      <a:pPr algn="ctr" fontAlgn="t"/>
                      <a:r>
                        <a:rPr lang="en-US" sz="3600">
                          <a:solidFill>
                            <a:srgbClr val="990000"/>
                          </a:solidFill>
                          <a:effectLst/>
                          <a:latin typeface="arial"/>
                        </a:rPr>
                        <a:t>q4</a:t>
                      </a:r>
                      <a:endParaRPr lang="en-US" sz="3600">
                        <a:solidFill>
                          <a:srgbClr val="990000"/>
                        </a:solidFill>
                        <a:effectLst/>
                      </a:endParaRPr>
                    </a:p>
                  </a:txBody>
                  <a:tcPr marL="132902" marR="132902" marT="132902" marB="132902"/>
                </a:tc>
                <a:tc>
                  <a:txBody>
                    <a:bodyPr/>
                    <a:lstStyle/>
                    <a:p>
                      <a:pPr algn="ctr" fontAlgn="t"/>
                      <a:r>
                        <a:rPr lang="en-US" sz="3600" dirty="0">
                          <a:solidFill>
                            <a:srgbClr val="990000"/>
                          </a:solidFill>
                          <a:effectLst/>
                          <a:latin typeface="arial"/>
                        </a:rPr>
                        <a:t>q4</a:t>
                      </a:r>
                      <a:endParaRPr lang="en-US" sz="3600" dirty="0">
                        <a:solidFill>
                          <a:srgbClr val="990000"/>
                        </a:solidFill>
                        <a:effectLst/>
                      </a:endParaRPr>
                    </a:p>
                  </a:txBody>
                  <a:tcPr marL="132902" marR="132902" marT="132902" marB="132902"/>
                </a:tc>
              </a:tr>
            </a:tbl>
          </a:graphicData>
        </a:graphic>
      </p:graphicFrame>
    </p:spTree>
    <p:extLst>
      <p:ext uri="{BB962C8B-B14F-4D97-AF65-F5344CB8AC3E}">
        <p14:creationId xmlns:p14="http://schemas.microsoft.com/office/powerpoint/2010/main" val="25939080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Finite-Automata-Deterministic-And-Non-deterministic-Finite-Automaton-DFA-14-2048.jpg"/>
          <p:cNvPicPr>
            <a:picLocks noChangeAspect="1"/>
          </p:cNvPicPr>
          <p:nvPr/>
        </p:nvPicPr>
        <p:blipFill>
          <a:blip r:embed="rId2"/>
          <a:stretch>
            <a:fillRect/>
          </a:stretch>
        </p:blipFill>
        <p:spPr>
          <a:xfrm>
            <a:off x="0" y="-23360"/>
            <a:ext cx="9144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Finite-Automata-Deterministic-And-Non-deterministic-Finite-Automaton-DFA-15-2048.jpg"/>
          <p:cNvPicPr>
            <a:picLocks noChangeAspect="1"/>
          </p:cNvPicPr>
          <p:nvPr/>
        </p:nvPicPr>
        <p:blipFill>
          <a:blip r:embed="rId2"/>
          <a:stretch>
            <a:fillRect/>
          </a:stretch>
        </p:blipFill>
        <p:spPr>
          <a:xfrm>
            <a:off x="0" y="21336"/>
            <a:ext cx="9144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Finite-Automata-Deterministic-And-Non-deterministic-Finite-Automaton-DFA-16-2048.jpg"/>
          <p:cNvPicPr>
            <a:picLocks noChangeAspect="1"/>
          </p:cNvPicPr>
          <p:nvPr/>
        </p:nvPicPr>
        <p:blipFill>
          <a:blip r:embed="rId2"/>
          <a:stretch>
            <a:fillRect/>
          </a:stretch>
        </p:blipFill>
        <p:spPr>
          <a:xfrm>
            <a:off x="0" y="2286"/>
            <a:ext cx="9144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Finite-Automata-Deterministic-And-Non-deterministic-Finite-Automaton-DFA-17-2048.jpg"/>
          <p:cNvPicPr>
            <a:picLocks noChangeAspect="1"/>
          </p:cNvPicPr>
          <p:nvPr/>
        </p:nvPicPr>
        <p:blipFill>
          <a:blip r:embed="rId2"/>
          <a:stretch>
            <a:fillRect/>
          </a:stretch>
        </p:blipFill>
        <p:spPr>
          <a:xfrm>
            <a:off x="0" y="2286"/>
            <a:ext cx="9144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Finite-Automata-Deterministic-And-Non-deterministic-Finite-Automaton-DFA-18-2048.jpg"/>
          <p:cNvPicPr>
            <a:picLocks noChangeAspect="1"/>
          </p:cNvPicPr>
          <p:nvPr/>
        </p:nvPicPr>
        <p:blipFill>
          <a:blip r:embed="rId2"/>
          <a:stretch>
            <a:fillRect/>
          </a:stretch>
        </p:blipFill>
        <p:spPr>
          <a:xfrm>
            <a:off x="0" y="2286"/>
            <a:ext cx="9144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Finite-Automata-Deterministic-And-Non-deterministic-Finite-Automaton-DFA-19-2048.jpg"/>
          <p:cNvPicPr>
            <a:picLocks noChangeAspect="1"/>
          </p:cNvPicPr>
          <p:nvPr/>
        </p:nvPicPr>
        <p:blipFill>
          <a:blip r:embed="rId2"/>
          <a:stretch>
            <a:fillRect/>
          </a:stretch>
        </p:blipFill>
        <p:spPr>
          <a:xfrm>
            <a:off x="0" y="-54864"/>
            <a:ext cx="9144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Finite-Automata-Deterministic-And-Non-deterministic-Finite-Automaton-DFA-20-2048.jpg"/>
          <p:cNvPicPr>
            <a:picLocks noChangeAspect="1"/>
          </p:cNvPicPr>
          <p:nvPr/>
        </p:nvPicPr>
        <p:blipFill>
          <a:blip r:embed="rId2"/>
          <a:stretch>
            <a:fillRect/>
          </a:stretch>
        </p:blipFill>
        <p:spPr>
          <a:xfrm>
            <a:off x="0" y="59436"/>
            <a:ext cx="9144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1-Finite-Automata-Deterministic-And-Non-deterministic-Finite-Automaton-DFA-21-2048.jpg"/>
          <p:cNvPicPr>
            <a:picLocks noChangeAspect="1"/>
          </p:cNvPicPr>
          <p:nvPr/>
        </p:nvPicPr>
        <p:blipFill>
          <a:blip r:embed="rId2"/>
          <a:stretch>
            <a:fillRect/>
          </a:stretch>
        </p:blipFill>
        <p:spPr>
          <a:xfrm>
            <a:off x="0" y="-35814"/>
            <a:ext cx="9144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Finite-Automata-Deterministic-And-Non-deterministic-Finite-Automaton-DFA-22-2048.jpg"/>
          <p:cNvPicPr>
            <a:picLocks noChangeAspect="1"/>
          </p:cNvPicPr>
          <p:nvPr/>
        </p:nvPicPr>
        <p:blipFill>
          <a:blip r:embed="rId2"/>
          <a:stretch>
            <a:fillRect/>
          </a:stretch>
        </p:blipFill>
        <p:spPr>
          <a:xfrm>
            <a:off x="0" y="-35814"/>
            <a:ext cx="9144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3-Finite-Automata-Deterministic-And-Non-deterministic-Finite-Automaton-DFA-23-2048.jpg"/>
          <p:cNvPicPr>
            <a:picLocks noChangeAspect="1"/>
          </p:cNvPicPr>
          <p:nvPr/>
        </p:nvPicPr>
        <p:blipFill>
          <a:blip r:embed="rId2"/>
          <a:stretch>
            <a:fillRect/>
          </a:stretch>
        </p:blipFill>
        <p:spPr>
          <a:xfrm>
            <a:off x="0" y="-35814"/>
            <a:ext cx="9144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0"/>
            <a:ext cx="7772400" cy="1470025"/>
          </a:xfrm>
        </p:spPr>
        <p:txBody>
          <a:bodyPr>
            <a:normAutofit fontScale="90000"/>
          </a:bodyPr>
          <a:lstStyle/>
          <a:p>
            <a:r>
              <a:rPr lang="en-US" b="1" dirty="0"/>
              <a:t>Draw DFA which accepts the string starting with ‘</a:t>
            </a:r>
            <a:r>
              <a:rPr lang="en-US" b="1" dirty="0" err="1"/>
              <a:t>ab</a:t>
            </a:r>
            <a:r>
              <a:rPr lang="en-US" b="1" dirty="0"/>
              <a:t>’.</a:t>
            </a:r>
            <a:br>
              <a:rPr lang="en-US" b="1" dirty="0"/>
            </a:br>
            <a:endParaRPr lang="en-US" dirty="0"/>
          </a:p>
        </p:txBody>
      </p:sp>
      <p:sp>
        <p:nvSpPr>
          <p:cNvPr id="3" name="Subtitle 2"/>
          <p:cNvSpPr>
            <a:spLocks noGrp="1"/>
          </p:cNvSpPr>
          <p:nvPr>
            <p:ph type="subTitle" idx="1"/>
          </p:nvPr>
        </p:nvSpPr>
        <p:spPr>
          <a:xfrm>
            <a:off x="762000" y="1600200"/>
            <a:ext cx="7696200" cy="4876800"/>
          </a:xfrm>
        </p:spPr>
        <p:txBody>
          <a:bodyPr>
            <a:normAutofit fontScale="92500" lnSpcReduction="10000"/>
          </a:bodyPr>
          <a:lstStyle/>
          <a:p>
            <a:pPr algn="l"/>
            <a:r>
              <a:rPr lang="en-US" b="1" dirty="0">
                <a:solidFill>
                  <a:schemeClr val="tx1"/>
                </a:solidFill>
              </a:rPr>
              <a:t>Problem</a:t>
            </a:r>
          </a:p>
          <a:p>
            <a:pPr algn="l"/>
            <a:r>
              <a:rPr lang="en-US" dirty="0">
                <a:solidFill>
                  <a:schemeClr val="tx1"/>
                </a:solidFill>
              </a:rPr>
              <a:t>Draw the state transition diagram over an alphabet Σ={</a:t>
            </a:r>
            <a:r>
              <a:rPr lang="en-US" dirty="0" err="1">
                <a:solidFill>
                  <a:schemeClr val="tx1"/>
                </a:solidFill>
              </a:rPr>
              <a:t>a,b</a:t>
            </a:r>
            <a:r>
              <a:rPr lang="en-US" dirty="0">
                <a:solidFill>
                  <a:schemeClr val="tx1"/>
                </a:solidFill>
              </a:rPr>
              <a:t>} that accepts the string starting with ‘</a:t>
            </a:r>
            <a:r>
              <a:rPr lang="en-US" dirty="0" err="1">
                <a:solidFill>
                  <a:schemeClr val="tx1"/>
                </a:solidFill>
              </a:rPr>
              <a:t>ab</a:t>
            </a:r>
            <a:r>
              <a:rPr lang="en-US" dirty="0" smtClean="0">
                <a:solidFill>
                  <a:schemeClr val="tx1"/>
                </a:solidFill>
              </a:rPr>
              <a:t>’.</a:t>
            </a:r>
          </a:p>
          <a:p>
            <a:pPr algn="l"/>
            <a:r>
              <a:rPr lang="en-US" b="1" dirty="0">
                <a:solidFill>
                  <a:schemeClr val="tx1"/>
                </a:solidFill>
              </a:rPr>
              <a:t>Solution</a:t>
            </a:r>
          </a:p>
          <a:p>
            <a:pPr algn="l"/>
            <a:r>
              <a:rPr lang="en-US" dirty="0">
                <a:solidFill>
                  <a:schemeClr val="tx1"/>
                </a:solidFill>
              </a:rPr>
              <a:t>The formal definition of Deterministic Finite Automata (DFA) is as follows −</a:t>
            </a:r>
          </a:p>
          <a:p>
            <a:pPr algn="l"/>
            <a:r>
              <a:rPr lang="en-US" dirty="0">
                <a:solidFill>
                  <a:schemeClr val="tx1"/>
                </a:solidFill>
              </a:rPr>
              <a:t>A DFA is a collection of 5-tuples as shown below −</a:t>
            </a:r>
          </a:p>
          <a:p>
            <a:pPr algn="l"/>
            <a:r>
              <a:rPr lang="en-US" b="1" dirty="0">
                <a:solidFill>
                  <a:schemeClr val="tx1"/>
                </a:solidFill>
              </a:rPr>
              <a:t>M=(Q, Σ, δ,q0,F)</a:t>
            </a:r>
            <a:endParaRPr lang="en-US" dirty="0">
              <a:solidFill>
                <a:schemeClr val="tx1"/>
              </a:solidFill>
            </a:endParaRPr>
          </a:p>
          <a:p>
            <a:pPr algn="l"/>
            <a:endParaRPr lang="en-US"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41287102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1362"/>
          </a:xfrm>
        </p:spPr>
        <p:txBody>
          <a:bodyPr>
            <a:normAutofit fontScale="90000"/>
          </a:bodyPr>
          <a:lstStyle/>
          <a:p>
            <a:pPr algn="l"/>
            <a:r>
              <a:rPr lang="en-US" dirty="0" smtClean="0"/>
              <a:t/>
            </a:r>
            <a:br>
              <a:rPr lang="en-US" dirty="0" smtClean="0"/>
            </a:br>
            <a:r>
              <a:rPr lang="en-US" dirty="0"/>
              <a:t/>
            </a:r>
            <a:br>
              <a:rPr lang="en-US" dirty="0"/>
            </a:br>
            <a:r>
              <a:rPr lang="en-US" dirty="0" smtClean="0"/>
              <a:t>Where</a:t>
            </a:r>
            <a:r>
              <a:rPr lang="en-US" dirty="0"/>
              <a:t>,</a:t>
            </a:r>
            <a:br>
              <a:rPr lang="en-US" dirty="0"/>
            </a:br>
            <a:r>
              <a:rPr lang="en-US" dirty="0"/>
              <a:t>Q: Finite set called states.</a:t>
            </a:r>
            <a:br>
              <a:rPr lang="en-US" dirty="0"/>
            </a:br>
            <a:r>
              <a:rPr lang="en-US" dirty="0"/>
              <a:t>Σ: Finite set called alphabets.</a:t>
            </a:r>
            <a:br>
              <a:rPr lang="en-US" dirty="0"/>
            </a:br>
            <a:r>
              <a:rPr lang="en-US" dirty="0"/>
              <a:t>δ: Q × Σ → Q is the transition function.</a:t>
            </a:r>
            <a:br>
              <a:rPr lang="en-US" dirty="0"/>
            </a:br>
            <a:r>
              <a:rPr lang="en-US" dirty="0"/>
              <a:t>q0 ∈ Q is the initial state</a:t>
            </a:r>
            <a:r>
              <a:rPr lang="en-US" dirty="0" smtClean="0"/>
              <a:t>.</a:t>
            </a:r>
            <a:br>
              <a:rPr lang="en-US" dirty="0" smtClean="0"/>
            </a:br>
            <a:r>
              <a:rPr lang="en-US" dirty="0"/>
              <a:t>The language is generated as given below −</a:t>
            </a:r>
            <a:br>
              <a:rPr lang="en-US" dirty="0"/>
            </a:br>
            <a:r>
              <a:rPr lang="en-US" dirty="0"/>
              <a:t>L={</a:t>
            </a:r>
            <a:r>
              <a:rPr lang="en-US" dirty="0" err="1"/>
              <a:t>ab,aba,abab</a:t>
            </a:r>
            <a:r>
              <a:rPr lang="en-US" dirty="0"/>
              <a:t>,…….}</a:t>
            </a:r>
            <a:br>
              <a:rPr lang="en-US" dirty="0"/>
            </a:br>
            <a:r>
              <a:rPr lang="en-US" dirty="0"/>
              <a:t>The transition diagram is as follows −</a:t>
            </a:r>
            <a:br>
              <a:rPr lang="en-US" dirty="0"/>
            </a:br>
            <a:r>
              <a:rPr lang="en-US" dirty="0"/>
              <a:t/>
            </a:r>
            <a:br>
              <a:rPr lang="en-US" dirty="0"/>
            </a:br>
            <a:endParaRPr lang="en-US" dirty="0"/>
          </a:p>
        </p:txBody>
      </p:sp>
    </p:spTree>
    <p:extLst>
      <p:ext uri="{BB962C8B-B14F-4D97-AF65-F5344CB8AC3E}">
        <p14:creationId xmlns:p14="http://schemas.microsoft.com/office/powerpoint/2010/main" val="325531856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750650"/>
            <a:ext cx="8001000" cy="5049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45214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68962"/>
          </a:xfrm>
        </p:spPr>
        <p:txBody>
          <a:bodyPr>
            <a:noAutofit/>
          </a:bodyPr>
          <a:lstStyle/>
          <a:p>
            <a:pPr algn="l"/>
            <a:r>
              <a:rPr lang="en-US" sz="3200" dirty="0" smtClean="0"/>
              <a:t/>
            </a:r>
            <a:br>
              <a:rPr lang="en-US" sz="3200" dirty="0" smtClean="0"/>
            </a:br>
            <a:r>
              <a:rPr lang="en-US" sz="3200" dirty="0" smtClean="0"/>
              <a:t>Here</a:t>
            </a:r>
            <a:r>
              <a:rPr lang="en-US" sz="3200" dirty="0"/>
              <a:t>,</a:t>
            </a:r>
            <a:br>
              <a:rPr lang="en-US" sz="3200" dirty="0"/>
            </a:br>
            <a:r>
              <a:rPr lang="en-US" sz="3200" dirty="0"/>
              <a:t>D is a dead state.</a:t>
            </a:r>
            <a:br>
              <a:rPr lang="en-US" sz="3200" dirty="0"/>
            </a:br>
            <a:r>
              <a:rPr lang="en-US" sz="3200" dirty="0"/>
              <a:t>D is a transition state, which it can never escape. Such a state is called a trap state. It is called the dead state</a:t>
            </a:r>
            <a:r>
              <a:rPr lang="en-US" sz="3200" dirty="0" smtClean="0"/>
              <a:t>.</a:t>
            </a:r>
            <a:br>
              <a:rPr lang="en-US" sz="3200" dirty="0" smtClean="0"/>
            </a:br>
            <a:r>
              <a:rPr lang="en-US" sz="3200" b="1" dirty="0" err="1"/>
              <a:t>ab</a:t>
            </a:r>
            <a:r>
              <a:rPr lang="en-US" sz="3200" dirty="0"/>
              <a:t> − q1 on’ a’ goes to q2 and q2 on ‘b’ goes to </a:t>
            </a:r>
            <a:r>
              <a:rPr lang="en-US" sz="3200" dirty="0" err="1"/>
              <a:t>qf</a:t>
            </a:r>
            <a:r>
              <a:rPr lang="en-US" sz="3200" dirty="0"/>
              <a:t> to reach final state. So, </a:t>
            </a:r>
            <a:r>
              <a:rPr lang="en-US" sz="3200" dirty="0" err="1"/>
              <a:t>ab</a:t>
            </a:r>
            <a:r>
              <a:rPr lang="en-US" sz="3200" dirty="0"/>
              <a:t> is accepted.</a:t>
            </a:r>
            <a:br>
              <a:rPr lang="en-US" sz="3200" dirty="0"/>
            </a:br>
            <a:r>
              <a:rPr lang="en-US" sz="3200" b="1" dirty="0"/>
              <a:t>baa</a:t>
            </a:r>
            <a:r>
              <a:rPr lang="en-US" sz="3200" dirty="0"/>
              <a:t> − q1 on ‘b’ goes to D state, which is dead state. There is no way to reach the final state. So, baa is not accepted.</a:t>
            </a:r>
            <a:br>
              <a:rPr lang="en-US" sz="3200" dirty="0"/>
            </a:br>
            <a:r>
              <a:rPr lang="en-US" sz="3200" dirty="0"/>
              <a:t/>
            </a:r>
            <a:br>
              <a:rPr lang="en-US" sz="3200" dirty="0"/>
            </a:br>
            <a:endParaRPr lang="en-US" sz="3200" dirty="0"/>
          </a:p>
        </p:txBody>
      </p:sp>
    </p:spTree>
    <p:extLst>
      <p:ext uri="{BB962C8B-B14F-4D97-AF65-F5344CB8AC3E}">
        <p14:creationId xmlns:p14="http://schemas.microsoft.com/office/powerpoint/2010/main" val="138791565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06562"/>
          </a:xfrm>
        </p:spPr>
        <p:txBody>
          <a:bodyPr>
            <a:normAutofit fontScale="90000"/>
          </a:bodyPr>
          <a:lstStyle/>
          <a:p>
            <a:r>
              <a:rPr lang="en-US" dirty="0"/>
              <a:t>Transition table</a:t>
            </a:r>
            <a:br>
              <a:rPr lang="en-US" dirty="0"/>
            </a:br>
            <a:r>
              <a:rPr lang="en-US" dirty="0"/>
              <a:t>The transition table is as follows −</a:t>
            </a:r>
            <a:br>
              <a:rPr lang="en-US" dirty="0"/>
            </a:b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764" y="1905000"/>
            <a:ext cx="8035635" cy="38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501743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510" y="533400"/>
            <a:ext cx="853989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576064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78562"/>
          </a:xfrm>
        </p:spPr>
        <p:txBody>
          <a:bodyPr>
            <a:normAutofit fontScale="90000"/>
          </a:bodyPr>
          <a:lstStyle/>
          <a:p>
            <a:pPr algn="l"/>
            <a:r>
              <a:rPr lang="en-US" dirty="0" smtClean="0"/>
              <a:t/>
            </a:r>
            <a:br>
              <a:rPr lang="en-US" dirty="0" smtClean="0"/>
            </a:br>
            <a:r>
              <a:rPr lang="en-US" sz="4000" dirty="0" smtClean="0"/>
              <a:t>Example </a:t>
            </a:r>
            <a:r>
              <a:rPr lang="en-US" sz="4000" dirty="0"/>
              <a:t>2</a:t>
            </a:r>
            <a:br>
              <a:rPr lang="en-US" sz="4000" dirty="0"/>
            </a:br>
            <a:r>
              <a:rPr lang="en-US" sz="4000" dirty="0"/>
              <a:t>Design a DFA which accepts a language over the alphabets Σ = {a, b} such that L is the set of all strings starting with ‘aba</a:t>
            </a:r>
            <a:r>
              <a:rPr lang="en-US" sz="4000" dirty="0" smtClean="0"/>
              <a:t>’.</a:t>
            </a:r>
            <a:br>
              <a:rPr lang="en-US" sz="4000" dirty="0" smtClean="0"/>
            </a:br>
            <a:r>
              <a:rPr lang="en-US" sz="4000" dirty="0" smtClean="0"/>
              <a:t/>
            </a:r>
            <a:br>
              <a:rPr lang="en-US" sz="4000" dirty="0" smtClean="0"/>
            </a:br>
            <a:r>
              <a:rPr lang="en-US" sz="4000" dirty="0"/>
              <a:t>All strings start with the substring “aba”.</a:t>
            </a:r>
            <a:br>
              <a:rPr lang="en-US" sz="4000" dirty="0"/>
            </a:br>
            <a:r>
              <a:rPr lang="en-US" sz="4000" dirty="0"/>
              <a:t>Therefore, length of substring = 3.</a:t>
            </a:r>
            <a:br>
              <a:rPr lang="en-US" sz="4000" dirty="0"/>
            </a:br>
            <a:r>
              <a:rPr lang="en-US" sz="4000" dirty="0"/>
              <a:t>Minimum number of states in the DFA = </a:t>
            </a:r>
            <a:r>
              <a:rPr lang="en-US" sz="4000" dirty="0" smtClean="0"/>
              <a:t/>
            </a:r>
            <a:br>
              <a:rPr lang="en-US" sz="4000" dirty="0" smtClean="0"/>
            </a:br>
            <a:r>
              <a:rPr lang="en-US" sz="4000" dirty="0" smtClean="0"/>
              <a:t>3 </a:t>
            </a:r>
            <a:r>
              <a:rPr lang="en-US" sz="4000" dirty="0"/>
              <a:t>+ 2 = 5.</a:t>
            </a:r>
            <a:br>
              <a:rPr lang="en-US" sz="4000" dirty="0"/>
            </a:br>
            <a:r>
              <a:rPr lang="en-US" sz="4000" dirty="0"/>
              <a:t>The language L= {</a:t>
            </a:r>
            <a:r>
              <a:rPr lang="en-US" sz="4000" dirty="0" err="1"/>
              <a:t>aba,abaa,abaab,abaaba</a:t>
            </a:r>
            <a:r>
              <a:rPr lang="en-US" sz="4000" dirty="0"/>
              <a:t>}</a:t>
            </a:r>
            <a:br>
              <a:rPr lang="en-US" sz="4000" dirty="0"/>
            </a:br>
            <a:r>
              <a:rPr lang="en-US" sz="4000" dirty="0"/>
              <a:t/>
            </a:r>
            <a:br>
              <a:rPr lang="en-US" sz="4000" dirty="0"/>
            </a:br>
            <a:endParaRPr lang="en-US" sz="4000" dirty="0"/>
          </a:p>
        </p:txBody>
      </p:sp>
    </p:spTree>
    <p:extLst>
      <p:ext uri="{BB962C8B-B14F-4D97-AF65-F5344CB8AC3E}">
        <p14:creationId xmlns:p14="http://schemas.microsoft.com/office/powerpoint/2010/main" val="96702197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30362"/>
          </a:xfrm>
        </p:spPr>
        <p:txBody>
          <a:bodyPr>
            <a:normAutofit fontScale="90000"/>
          </a:bodyPr>
          <a:lstStyle/>
          <a:p>
            <a:r>
              <a:rPr lang="en-US" dirty="0" smtClean="0"/>
              <a:t/>
            </a:r>
            <a:br>
              <a:rPr lang="en-US" dirty="0" smtClean="0"/>
            </a:br>
            <a:r>
              <a:rPr lang="en-US" dirty="0" smtClean="0"/>
              <a:t>The </a:t>
            </a:r>
            <a:r>
              <a:rPr lang="en-US" dirty="0"/>
              <a:t>transition diagram is as follows −</a:t>
            </a:r>
            <a:br>
              <a:rPr lang="en-US" dirty="0"/>
            </a:br>
            <a:r>
              <a:rPr lang="en-US" dirty="0" smtClean="0"/>
              <a:t/>
            </a:r>
            <a:br>
              <a:rPr lang="en-US" dirty="0" smtClean="0"/>
            </a:b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99" y="1371600"/>
            <a:ext cx="8788399"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418123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Transition </a:t>
            </a:r>
            <a:r>
              <a:rPr lang="en-US" dirty="0"/>
              <a:t>table</a:t>
            </a:r>
            <a:br>
              <a:rPr lang="en-US" dirty="0"/>
            </a:b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88" y="1371600"/>
            <a:ext cx="8962212"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308660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Construct </a:t>
            </a:r>
            <a:r>
              <a:rPr lang="en-US" b="1" dirty="0"/>
              <a:t>DFA with Σ= {0,1} accepts all strings with 0.</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A Deterministic Finite automata (DFA) is a collection of defined as a 5-tuples and is as follows −</a:t>
            </a:r>
          </a:p>
          <a:p>
            <a:r>
              <a:rPr lang="en-US" b="1" dirty="0"/>
              <a:t>M=(Q, Σ, δ,q0,F)</a:t>
            </a:r>
            <a:endParaRPr lang="en-US" dirty="0"/>
          </a:p>
          <a:p>
            <a:r>
              <a:rPr lang="en-US" dirty="0"/>
              <a:t>Where,</a:t>
            </a:r>
          </a:p>
          <a:p>
            <a:r>
              <a:rPr lang="en-US" dirty="0"/>
              <a:t>Q: Finite set called states.</a:t>
            </a:r>
          </a:p>
          <a:p>
            <a:r>
              <a:rPr lang="en-US" dirty="0"/>
              <a:t>Σ: Finite set called alphabets.</a:t>
            </a:r>
          </a:p>
          <a:p>
            <a:r>
              <a:rPr lang="en-US" dirty="0"/>
              <a:t>δ: Q × Σ → Q is the transition function.</a:t>
            </a:r>
          </a:p>
          <a:p>
            <a:r>
              <a:rPr lang="en-US" dirty="0"/>
              <a:t>q0 ∈ Q is the start or initial state.</a:t>
            </a:r>
          </a:p>
          <a:p>
            <a:r>
              <a:rPr lang="en-US" dirty="0"/>
              <a:t>F: Final or accept state.</a:t>
            </a:r>
          </a:p>
          <a:p>
            <a:endParaRPr lang="en-US" dirty="0"/>
          </a:p>
        </p:txBody>
      </p:sp>
    </p:spTree>
    <p:extLst>
      <p:ext uri="{BB962C8B-B14F-4D97-AF65-F5344CB8AC3E}">
        <p14:creationId xmlns:p14="http://schemas.microsoft.com/office/powerpoint/2010/main" val="233916333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535362"/>
          </a:xfrm>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Example </a:t>
            </a:r>
            <a:r>
              <a:rPr lang="en-US" dirty="0"/>
              <a:t>1</a:t>
            </a:r>
            <a:br>
              <a:rPr lang="en-US" dirty="0"/>
            </a:br>
            <a:r>
              <a:rPr lang="en-US" dirty="0"/>
              <a:t>The DFA accepts all strings starting with 0</a:t>
            </a:r>
            <a:br>
              <a:rPr lang="en-US" dirty="0"/>
            </a:br>
            <a:r>
              <a:rPr lang="en-US" dirty="0"/>
              <a:t>The language L= {0,01,001,010,0010,000101,…}</a:t>
            </a:r>
            <a:br>
              <a:rPr lang="en-US" dirty="0"/>
            </a:br>
            <a:r>
              <a:rPr lang="en-US" dirty="0"/>
              <a:t>In this language, all strings start with zero.</a:t>
            </a:r>
            <a:br>
              <a:rPr lang="en-US" dirty="0"/>
            </a:br>
            <a:r>
              <a:rPr lang="en-US" dirty="0"/>
              <a:t/>
            </a:r>
            <a:br>
              <a:rPr lang="en-US" dirty="0"/>
            </a:br>
            <a:endParaRPr lang="en-US" dirty="0"/>
          </a:p>
        </p:txBody>
      </p:sp>
    </p:spTree>
    <p:extLst>
      <p:ext uri="{BB962C8B-B14F-4D97-AF65-F5344CB8AC3E}">
        <p14:creationId xmlns:p14="http://schemas.microsoft.com/office/powerpoint/2010/main" val="275321844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Transition diagram</a:t>
            </a:r>
            <a:br>
              <a:rPr lang="en-US" dirty="0"/>
            </a:br>
            <a:r>
              <a:rPr lang="en-US" dirty="0"/>
              <a:t>The transition diagram is as follows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552" y="1828800"/>
            <a:ext cx="7647447" cy="3809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605753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Explanation</a:t>
            </a:r>
            <a:br>
              <a:rPr lang="en-US" dirty="0"/>
            </a:br>
            <a:endParaRPr lang="en-US" dirty="0"/>
          </a:p>
        </p:txBody>
      </p:sp>
      <p:sp>
        <p:nvSpPr>
          <p:cNvPr id="3" name="Content Placeholder 2"/>
          <p:cNvSpPr>
            <a:spLocks noGrp="1"/>
          </p:cNvSpPr>
          <p:nvPr>
            <p:ph idx="1"/>
          </p:nvPr>
        </p:nvSpPr>
        <p:spPr/>
        <p:txBody>
          <a:bodyPr/>
          <a:lstStyle/>
          <a:p>
            <a:r>
              <a:rPr lang="en-US" b="1" dirty="0"/>
              <a:t>Step 1</a:t>
            </a:r>
            <a:r>
              <a:rPr lang="en-US" dirty="0"/>
              <a:t> − q0 is the initial state on input ‘0’ it goes to q1, which is the final state, and ‘0’ string is accepted.</a:t>
            </a:r>
          </a:p>
          <a:p>
            <a:r>
              <a:rPr lang="en-US" b="1" dirty="0"/>
              <a:t>Step 2</a:t>
            </a:r>
            <a:r>
              <a:rPr lang="en-US" dirty="0"/>
              <a:t> − q0 on ‘1’ goes to q2 which is dead state because for q2 there is no path to reach to the final state.</a:t>
            </a:r>
          </a:p>
          <a:p>
            <a:r>
              <a:rPr lang="en-US" b="1" dirty="0"/>
              <a:t>Step 3</a:t>
            </a:r>
            <a:r>
              <a:rPr lang="en-US" dirty="0"/>
              <a:t> − q1 on input ‘0’ and ‘1’ goes to q1 itself which is the final state.</a:t>
            </a:r>
          </a:p>
          <a:p>
            <a:endParaRPr lang="en-US" dirty="0"/>
          </a:p>
        </p:txBody>
      </p:sp>
    </p:spTree>
    <p:extLst>
      <p:ext uri="{BB962C8B-B14F-4D97-AF65-F5344CB8AC3E}">
        <p14:creationId xmlns:p14="http://schemas.microsoft.com/office/powerpoint/2010/main" val="194460467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Transition </a:t>
            </a:r>
            <a:r>
              <a:rPr lang="en-US" dirty="0"/>
              <a:t>table</a:t>
            </a:r>
            <a:br>
              <a:rPr lang="en-US" dirty="0"/>
            </a:br>
            <a:r>
              <a:rPr lang="en-US" dirty="0"/>
              <a:t>The transition table is as follows −</a:t>
            </a:r>
            <a:br>
              <a:rPr lang="en-US" dirty="0"/>
            </a:b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4" y="2643188"/>
            <a:ext cx="7140890" cy="2843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638998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smtClean="0"/>
              <a:t>Example </a:t>
            </a:r>
            <a:r>
              <a:rPr lang="en-US" dirty="0"/>
              <a:t>2</a:t>
            </a:r>
            <a:br>
              <a:rPr lang="en-US" dirty="0"/>
            </a:br>
            <a:r>
              <a:rPr lang="en-US" dirty="0"/>
              <a:t>Construct DFA for the language accepting strings starting with ‘101’</a:t>
            </a:r>
            <a:br>
              <a:rPr lang="en-US" dirty="0"/>
            </a:br>
            <a:endParaRPr lang="en-US" dirty="0"/>
          </a:p>
        </p:txBody>
      </p:sp>
      <p:sp>
        <p:nvSpPr>
          <p:cNvPr id="4" name="Rectangle 3"/>
          <p:cNvSpPr/>
          <p:nvPr/>
        </p:nvSpPr>
        <p:spPr>
          <a:xfrm>
            <a:off x="609600" y="2438400"/>
            <a:ext cx="7315200" cy="4715458"/>
          </a:xfrm>
          <a:prstGeom prst="rect">
            <a:avLst/>
          </a:prstGeom>
        </p:spPr>
        <p:txBody>
          <a:bodyPr wrap="square">
            <a:spAutoFit/>
          </a:bodyPr>
          <a:lstStyle/>
          <a:p>
            <a:pPr>
              <a:lnSpc>
                <a:spcPct val="150000"/>
              </a:lnSpc>
            </a:pPr>
            <a:r>
              <a:rPr lang="en-US" sz="2800" dirty="0"/>
              <a:t>All strings start with substring “101”.</a:t>
            </a:r>
          </a:p>
          <a:p>
            <a:pPr>
              <a:lnSpc>
                <a:spcPct val="150000"/>
              </a:lnSpc>
            </a:pPr>
            <a:r>
              <a:rPr lang="en-US" sz="2800" dirty="0"/>
              <a:t>Then the length of the substring = 3</a:t>
            </a:r>
            <a:r>
              <a:rPr lang="en-US" sz="2800" dirty="0" smtClean="0"/>
              <a:t>.</a:t>
            </a:r>
          </a:p>
          <a:p>
            <a:pPr>
              <a:lnSpc>
                <a:spcPct val="150000"/>
              </a:lnSpc>
            </a:pPr>
            <a:r>
              <a:rPr lang="en-US" sz="2800" dirty="0"/>
              <a:t>Therefore, Minimum number of states in the DFA = 3 + 2 = 5.</a:t>
            </a:r>
          </a:p>
          <a:p>
            <a:pPr>
              <a:lnSpc>
                <a:spcPct val="150000"/>
              </a:lnSpc>
            </a:pPr>
            <a:r>
              <a:rPr lang="en-US" sz="2800" dirty="0"/>
              <a:t>The minimized DFA has five states.</a:t>
            </a:r>
          </a:p>
          <a:p>
            <a:pPr>
              <a:lnSpc>
                <a:spcPct val="150000"/>
              </a:lnSpc>
            </a:pPr>
            <a:r>
              <a:rPr lang="en-US" sz="2800" dirty="0"/>
              <a:t>The language L= {101,1011,10110,101101,.........}</a:t>
            </a:r>
          </a:p>
          <a:p>
            <a:pPr>
              <a:lnSpc>
                <a:spcPct val="150000"/>
              </a:lnSpc>
            </a:pPr>
            <a:endParaRPr lang="en-US" sz="3600" dirty="0"/>
          </a:p>
        </p:txBody>
      </p:sp>
    </p:spTree>
    <p:extLst>
      <p:ext uri="{BB962C8B-B14F-4D97-AF65-F5344CB8AC3E}">
        <p14:creationId xmlns:p14="http://schemas.microsoft.com/office/powerpoint/2010/main" val="382961729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a:t/>
            </a:r>
            <a:br>
              <a:rPr lang="en-US" dirty="0"/>
            </a:br>
            <a:r>
              <a:rPr lang="en-US" dirty="0" smtClean="0"/>
              <a:t>The </a:t>
            </a:r>
            <a:r>
              <a:rPr lang="en-US" dirty="0"/>
              <a:t>transition diagram is as follows −</a:t>
            </a:r>
            <a:br>
              <a:rPr lang="en-US" dirty="0"/>
            </a:br>
            <a:r>
              <a:rPr lang="en-US" dirty="0" smtClean="0"/>
              <a:t/>
            </a:r>
            <a:br>
              <a:rPr lang="en-US" dirty="0" smtClean="0"/>
            </a:br>
            <a:endParaRPr lang="en-US" dirty="0"/>
          </a:p>
        </p:txBody>
      </p:sp>
      <p:pic>
        <p:nvPicPr>
          <p:cNvPr id="8194" name="Picture 2" descr="https://www.tutorialspoint.com/assets/questions/media/53093/dfa_diagra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896" y="1524000"/>
            <a:ext cx="7307503"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67095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sz="4000" dirty="0" smtClean="0"/>
              <a:t>Explanation</a:t>
            </a:r>
            <a:r>
              <a:rPr lang="en-US" sz="4000" dirty="0"/>
              <a:t/>
            </a:r>
            <a:br>
              <a:rPr lang="en-US" sz="4000" dirty="0"/>
            </a:br>
            <a:r>
              <a:rPr lang="en-US" sz="4000" b="1" dirty="0"/>
              <a:t>Step 1</a:t>
            </a:r>
            <a:r>
              <a:rPr lang="en-US" sz="4000" dirty="0"/>
              <a:t> − q0 is an initial state on input ‘1’ goes to q1 and on </a:t>
            </a:r>
            <a:r>
              <a:rPr lang="en-US" sz="3600" dirty="0"/>
              <a:t>input</a:t>
            </a:r>
            <a:r>
              <a:rPr lang="en-US" sz="4000" dirty="0"/>
              <a:t> ‘0’ leads to a dead state.</a:t>
            </a:r>
            <a:br>
              <a:rPr lang="en-US" sz="4000" dirty="0"/>
            </a:br>
            <a:r>
              <a:rPr lang="en-US" sz="4000" b="1" dirty="0"/>
              <a:t>Step 2</a:t>
            </a:r>
            <a:r>
              <a:rPr lang="en-US" sz="4000" dirty="0"/>
              <a:t> − q1 on input ‘0’ goes to q2 and on ‘1’ goes to dead state.</a:t>
            </a:r>
            <a:br>
              <a:rPr lang="en-US" sz="4000" dirty="0"/>
            </a:br>
            <a:r>
              <a:rPr lang="en-US" sz="4000" b="1" dirty="0"/>
              <a:t>Step 3</a:t>
            </a:r>
            <a:r>
              <a:rPr lang="en-US" sz="4000" dirty="0"/>
              <a:t> − q2 on input ‘1’ goes to </a:t>
            </a:r>
            <a:r>
              <a:rPr lang="en-US" sz="4000" dirty="0" err="1"/>
              <a:t>qf</a:t>
            </a:r>
            <a:r>
              <a:rPr lang="en-US" sz="4000" dirty="0"/>
              <a:t> which is the final state, and on ‘0’ goes to dead state.</a:t>
            </a:r>
            <a:br>
              <a:rPr lang="en-US" sz="4000" dirty="0"/>
            </a:br>
            <a:r>
              <a:rPr lang="en-US" sz="4000" b="1" dirty="0"/>
              <a:t>Step 4</a:t>
            </a:r>
            <a:r>
              <a:rPr lang="en-US" sz="4000" dirty="0"/>
              <a:t> − </a:t>
            </a:r>
            <a:r>
              <a:rPr lang="en-US" sz="4000" dirty="0" err="1"/>
              <a:t>qf</a:t>
            </a:r>
            <a:r>
              <a:rPr lang="en-US" sz="4000" dirty="0"/>
              <a:t> is the final state, on input ‘1’ and ‘0’ it goes to </a:t>
            </a:r>
            <a:r>
              <a:rPr lang="en-US" sz="4000" dirty="0" err="1"/>
              <a:t>qf</a:t>
            </a:r>
            <a:r>
              <a:rPr lang="en-US" sz="4000" dirty="0"/>
              <a:t> itself.</a:t>
            </a:r>
            <a:br>
              <a:rPr lang="en-US" sz="4000" dirty="0"/>
            </a:br>
            <a:endParaRPr lang="en-US" dirty="0"/>
          </a:p>
        </p:txBody>
      </p:sp>
    </p:spTree>
    <p:extLst>
      <p:ext uri="{BB962C8B-B14F-4D97-AF65-F5344CB8AC3E}">
        <p14:creationId xmlns:p14="http://schemas.microsoft.com/office/powerpoint/2010/main" val="195143561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Construct </a:t>
            </a:r>
            <a:r>
              <a:rPr lang="en-US" b="1" dirty="0"/>
              <a:t>a DFA, accepting all strings ending with '</a:t>
            </a:r>
            <a:r>
              <a:rPr lang="en-US" b="1" dirty="0" err="1"/>
              <a:t>ab</a:t>
            </a:r>
            <a:r>
              <a:rPr lang="en-US" b="1" dirty="0"/>
              <a:t>' over ∑={</a:t>
            </a:r>
            <a:r>
              <a:rPr lang="en-US" b="1" dirty="0" err="1"/>
              <a:t>a,b</a:t>
            </a:r>
            <a:r>
              <a:rPr lang="en-US" b="1" dirty="0"/>
              <a:t>}</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dirty="0"/>
              <a:t>SOLUTION</a:t>
            </a:r>
            <a:r>
              <a:rPr lang="en-US" dirty="0" smtClean="0"/>
              <a:t>:</a:t>
            </a:r>
            <a:r>
              <a:rPr lang="en-US" dirty="0"/>
              <a:t/>
            </a:r>
            <a:br>
              <a:rPr lang="en-US" dirty="0"/>
            </a:br>
            <a:endParaRPr lang="en-US" dirty="0"/>
          </a:p>
          <a:p>
            <a:pPr marL="0" indent="0">
              <a:buNone/>
            </a:pPr>
            <a:r>
              <a:rPr lang="en-US" dirty="0"/>
              <a:t>∑={</a:t>
            </a:r>
            <a:r>
              <a:rPr lang="en-US" dirty="0" err="1"/>
              <a:t>a,b</a:t>
            </a:r>
            <a:r>
              <a:rPr lang="en-US" dirty="0"/>
              <a:t>}</a:t>
            </a:r>
          </a:p>
          <a:p>
            <a:pPr marL="0" indent="0">
              <a:buNone/>
            </a:pPr>
            <a:r>
              <a:rPr lang="en-US" dirty="0" smtClean="0"/>
              <a:t>L </a:t>
            </a:r>
            <a:r>
              <a:rPr lang="en-US" dirty="0"/>
              <a:t>= {</a:t>
            </a:r>
            <a:r>
              <a:rPr lang="en-US" dirty="0" err="1"/>
              <a:t>ab</a:t>
            </a:r>
            <a:r>
              <a:rPr lang="en-US" dirty="0"/>
              <a:t>, </a:t>
            </a:r>
            <a:r>
              <a:rPr lang="en-US" dirty="0" err="1"/>
              <a:t>aab</a:t>
            </a:r>
            <a:r>
              <a:rPr lang="en-US" dirty="0"/>
              <a:t>, </a:t>
            </a:r>
            <a:r>
              <a:rPr lang="en-US" dirty="0" err="1"/>
              <a:t>bab</a:t>
            </a:r>
            <a:r>
              <a:rPr lang="en-US" dirty="0"/>
              <a:t>, </a:t>
            </a:r>
            <a:r>
              <a:rPr lang="en-US" dirty="0" err="1"/>
              <a:t>abab</a:t>
            </a:r>
            <a:r>
              <a:rPr lang="en-US" dirty="0"/>
              <a:t>, </a:t>
            </a:r>
            <a:r>
              <a:rPr lang="en-US" dirty="0" err="1"/>
              <a:t>aaab</a:t>
            </a:r>
            <a:r>
              <a:rPr lang="en-US" dirty="0"/>
              <a:t>,……… }</a:t>
            </a:r>
          </a:p>
          <a:p>
            <a:pPr marL="0" indent="0">
              <a:buNone/>
            </a:pPr>
            <a:r>
              <a:rPr lang="en-US" dirty="0" smtClean="0"/>
              <a:t>So </a:t>
            </a:r>
            <a:r>
              <a:rPr lang="en-US" dirty="0"/>
              <a:t>DFA can be Q={ q</a:t>
            </a:r>
            <a:r>
              <a:rPr lang="en-US" baseline="-25000" dirty="0"/>
              <a:t>0</a:t>
            </a:r>
            <a:r>
              <a:rPr lang="en-US" dirty="0"/>
              <a:t> , q</a:t>
            </a:r>
            <a:r>
              <a:rPr lang="en-US" baseline="-25000" dirty="0"/>
              <a:t>1</a:t>
            </a:r>
            <a:r>
              <a:rPr lang="en-US" dirty="0"/>
              <a:t> , q</a:t>
            </a:r>
            <a:r>
              <a:rPr lang="en-US" baseline="-25000" dirty="0"/>
              <a:t>2</a:t>
            </a:r>
            <a:r>
              <a:rPr lang="en-US" dirty="0" smtClean="0"/>
              <a:t>},</a:t>
            </a:r>
          </a:p>
          <a:p>
            <a:pPr marL="0" indent="0">
              <a:buNone/>
            </a:pPr>
            <a:r>
              <a:rPr lang="en-US" dirty="0" smtClean="0"/>
              <a:t>∑</a:t>
            </a:r>
            <a:r>
              <a:rPr lang="en-US" dirty="0"/>
              <a:t>={</a:t>
            </a:r>
            <a:r>
              <a:rPr lang="en-US" dirty="0" err="1"/>
              <a:t>a,b</a:t>
            </a:r>
            <a:r>
              <a:rPr lang="en-US" dirty="0" smtClean="0"/>
              <a:t>},</a:t>
            </a:r>
          </a:p>
          <a:p>
            <a:pPr marL="0" indent="0">
              <a:buNone/>
            </a:pPr>
            <a:r>
              <a:rPr lang="en-US" dirty="0" smtClean="0"/>
              <a:t>q</a:t>
            </a:r>
            <a:r>
              <a:rPr lang="en-US" baseline="-25000" dirty="0" smtClean="0"/>
              <a:t>0</a:t>
            </a:r>
            <a:r>
              <a:rPr lang="en-US" dirty="0"/>
              <a:t>={ q</a:t>
            </a:r>
            <a:r>
              <a:rPr lang="en-US" baseline="-25000" dirty="0"/>
              <a:t>0</a:t>
            </a:r>
            <a:r>
              <a:rPr lang="en-US" dirty="0" smtClean="0"/>
              <a:t>},</a:t>
            </a:r>
          </a:p>
          <a:p>
            <a:pPr marL="0" indent="0">
              <a:buNone/>
            </a:pPr>
            <a:r>
              <a:rPr lang="en-US" dirty="0" smtClean="0"/>
              <a:t>F</a:t>
            </a:r>
            <a:r>
              <a:rPr lang="en-US" dirty="0"/>
              <a:t>={q</a:t>
            </a:r>
            <a:r>
              <a:rPr lang="en-US" baseline="-25000" dirty="0"/>
              <a:t>2</a:t>
            </a:r>
            <a:r>
              <a:rPr lang="en-US" dirty="0"/>
              <a:t>} and </a:t>
            </a:r>
            <a:r>
              <a:rPr lang="el-GR" dirty="0"/>
              <a:t>δ </a:t>
            </a:r>
            <a:r>
              <a:rPr lang="en-US" dirty="0"/>
              <a:t>is given by the table</a:t>
            </a:r>
          </a:p>
          <a:p>
            <a:endParaRPr lang="en-US" dirty="0"/>
          </a:p>
        </p:txBody>
      </p:sp>
    </p:spTree>
    <p:extLst>
      <p:ext uri="{BB962C8B-B14F-4D97-AF65-F5344CB8AC3E}">
        <p14:creationId xmlns:p14="http://schemas.microsoft.com/office/powerpoint/2010/main" val="74853659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658" y="533400"/>
            <a:ext cx="7687106"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643968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38200"/>
            <a:ext cx="7752821"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887884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8400"/>
            <a:ext cx="8229600" cy="1143000"/>
          </a:xfrm>
        </p:spPr>
        <p:txBody>
          <a:bodyPr>
            <a:normAutofit fontScale="90000"/>
          </a:bodyPr>
          <a:lstStyle/>
          <a:p>
            <a:pPr algn="l"/>
            <a:r>
              <a:rPr lang="en-US" b="1" dirty="0" smtClean="0"/>
              <a:t/>
            </a:r>
            <a:br>
              <a:rPr lang="en-US" b="1" dirty="0" smtClean="0"/>
            </a:br>
            <a:r>
              <a:rPr lang="en-US" b="1" dirty="0"/>
              <a:t/>
            </a:r>
            <a:br>
              <a:rPr lang="en-US" b="1" dirty="0"/>
            </a:br>
            <a:r>
              <a:rPr lang="en-US" b="1" dirty="0" smtClean="0"/>
              <a:t>DFA </a:t>
            </a:r>
            <a:r>
              <a:rPr lang="en-US" b="1" dirty="0"/>
              <a:t>accepting all strings over w ∈(</a:t>
            </a:r>
            <a:r>
              <a:rPr lang="en-US" b="1" dirty="0" err="1"/>
              <a:t>a,b</a:t>
            </a:r>
            <a:r>
              <a:rPr lang="en-US" b="1" dirty="0"/>
              <a:t>)* which contains “aba” as a </a:t>
            </a:r>
            <a:r>
              <a:rPr lang="en-US" b="1" dirty="0" smtClean="0"/>
              <a:t>substring</a:t>
            </a:r>
            <a:br>
              <a:rPr lang="en-US" b="1" dirty="0" smtClean="0"/>
            </a:br>
            <a:r>
              <a:rPr lang="en-US" dirty="0"/>
              <a:t>Below is the designed DFA Machine for the given problem. Construct a transition table for DFA states and analyze the transitions between each state. Below are the steps –</a:t>
            </a:r>
            <a:r>
              <a:rPr lang="en-US" b="1" dirty="0"/>
              <a:t/>
            </a:r>
            <a:br>
              <a:rPr lang="en-US" b="1" dirty="0"/>
            </a:br>
            <a:endParaRPr lang="en-US" dirty="0"/>
          </a:p>
        </p:txBody>
      </p:sp>
    </p:spTree>
    <p:extLst>
      <p:ext uri="{BB962C8B-B14F-4D97-AF65-F5344CB8AC3E}">
        <p14:creationId xmlns:p14="http://schemas.microsoft.com/office/powerpoint/2010/main" val="1900728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33400"/>
            <a:ext cx="7543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29220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fontAlgn="base"/>
            <a:r>
              <a:rPr lang="en-US" dirty="0"/>
              <a:t>Desired Language:  </a:t>
            </a:r>
            <a:br>
              <a:rPr lang="en-US" dirty="0"/>
            </a:br>
            <a:r>
              <a:rPr lang="en-US" dirty="0"/>
              <a:t>L = {aba, baba, </a:t>
            </a:r>
            <a:r>
              <a:rPr lang="en-US" dirty="0" err="1"/>
              <a:t>abab</a:t>
            </a:r>
            <a:r>
              <a:rPr lang="en-US" dirty="0"/>
              <a:t>, </a:t>
            </a:r>
            <a:r>
              <a:rPr lang="en-US" dirty="0" err="1"/>
              <a:t>aababbb</a:t>
            </a:r>
            <a:r>
              <a:rPr lang="en-US" dirty="0"/>
              <a:t>.....}</a:t>
            </a:r>
          </a:p>
        </p:txBody>
      </p:sp>
      <p:sp>
        <p:nvSpPr>
          <p:cNvPr id="4" name="Rectangle 3"/>
          <p:cNvSpPr/>
          <p:nvPr/>
        </p:nvSpPr>
        <p:spPr>
          <a:xfrm>
            <a:off x="602673" y="1676400"/>
            <a:ext cx="8001000" cy="4708981"/>
          </a:xfrm>
          <a:prstGeom prst="rect">
            <a:avLst/>
          </a:prstGeom>
        </p:spPr>
        <p:txBody>
          <a:bodyPr wrap="square">
            <a:spAutoFit/>
          </a:bodyPr>
          <a:lstStyle/>
          <a:p>
            <a:pPr fontAlgn="base"/>
            <a:r>
              <a:rPr lang="en-US" sz="2000" b="1" dirty="0"/>
              <a:t>Explanation:</a:t>
            </a:r>
            <a:r>
              <a:rPr lang="en-US" sz="2000" dirty="0"/>
              <a:t>  </a:t>
            </a:r>
          </a:p>
          <a:p>
            <a:pPr fontAlgn="base"/>
            <a:r>
              <a:rPr lang="en-US" sz="2000" dirty="0"/>
              <a:t>Firstly, there will be 4states.(say q</a:t>
            </a:r>
            <a:r>
              <a:rPr lang="en-US" sz="2000" baseline="-25000" dirty="0"/>
              <a:t>0</a:t>
            </a:r>
            <a:r>
              <a:rPr lang="en-US" sz="2000" dirty="0"/>
              <a:t>, q</a:t>
            </a:r>
            <a:r>
              <a:rPr lang="en-US" sz="2000" baseline="-25000" dirty="0"/>
              <a:t>1</a:t>
            </a:r>
            <a:r>
              <a:rPr lang="en-US" sz="2000" dirty="0"/>
              <a:t>, q</a:t>
            </a:r>
            <a:r>
              <a:rPr lang="en-US" sz="2000" baseline="-25000" dirty="0"/>
              <a:t>2</a:t>
            </a:r>
            <a:r>
              <a:rPr lang="en-US" sz="2000" dirty="0"/>
              <a:t>, q</a:t>
            </a:r>
            <a:r>
              <a:rPr lang="en-US" sz="2000" baseline="-25000" dirty="0"/>
              <a:t>3</a:t>
            </a:r>
            <a:r>
              <a:rPr lang="en-US" sz="2000" dirty="0"/>
              <a:t>)</a:t>
            </a:r>
            <a:r>
              <a:rPr lang="en-US" sz="2000" baseline="-25000" dirty="0"/>
              <a:t> </a:t>
            </a:r>
            <a:r>
              <a:rPr lang="en-US" sz="2000" dirty="0"/>
              <a:t>, with</a:t>
            </a:r>
            <a:r>
              <a:rPr lang="en-US" sz="2000" baseline="-25000" dirty="0"/>
              <a:t> </a:t>
            </a:r>
            <a:r>
              <a:rPr lang="en-US" sz="2000" dirty="0"/>
              <a:t>q</a:t>
            </a:r>
            <a:r>
              <a:rPr lang="en-US" sz="2000" baseline="-25000" dirty="0"/>
              <a:t>0</a:t>
            </a:r>
            <a:r>
              <a:rPr lang="en-US" sz="2000" dirty="0"/>
              <a:t> being initial state and q</a:t>
            </a:r>
            <a:r>
              <a:rPr lang="en-US" sz="2000" baseline="-25000" dirty="0"/>
              <a:t>3</a:t>
            </a:r>
            <a:r>
              <a:rPr lang="en-US" sz="2000" dirty="0"/>
              <a:t> being final state.</a:t>
            </a:r>
          </a:p>
          <a:p>
            <a:pPr fontAlgn="base"/>
            <a:r>
              <a:rPr lang="en-US" sz="2000" dirty="0"/>
              <a:t>Initially we will be in q</a:t>
            </a:r>
            <a:r>
              <a:rPr lang="en-US" sz="2000" baseline="-25000" dirty="0"/>
              <a:t>0 </a:t>
            </a:r>
            <a:r>
              <a:rPr lang="en-US" sz="2000" dirty="0"/>
              <a:t>state, now we start reading the given string. </a:t>
            </a:r>
          </a:p>
          <a:p>
            <a:pPr fontAlgn="base"/>
            <a:r>
              <a:rPr lang="en-US" sz="2000" dirty="0"/>
              <a:t>When we read ‘b’, we will remain in the same state</a:t>
            </a:r>
          </a:p>
          <a:p>
            <a:pPr fontAlgn="base"/>
            <a:r>
              <a:rPr lang="en-US" sz="2000" dirty="0"/>
              <a:t>If we read ‘a’, then it transits to state q</a:t>
            </a:r>
            <a:r>
              <a:rPr lang="en-US" sz="2000" baseline="-25000" dirty="0"/>
              <a:t>1</a:t>
            </a:r>
            <a:r>
              <a:rPr lang="en-US" sz="2000" dirty="0"/>
              <a:t>.</a:t>
            </a:r>
          </a:p>
          <a:p>
            <a:pPr fontAlgn="base"/>
            <a:r>
              <a:rPr lang="en-US" sz="2000" dirty="0"/>
              <a:t>3. Assuming that now we are in q</a:t>
            </a:r>
            <a:r>
              <a:rPr lang="en-US" sz="2000" baseline="-25000" dirty="0"/>
              <a:t>1</a:t>
            </a:r>
            <a:r>
              <a:rPr lang="en-US" sz="2000" dirty="0"/>
              <a:t> state.  </a:t>
            </a:r>
          </a:p>
          <a:p>
            <a:pPr fontAlgn="base"/>
            <a:r>
              <a:rPr lang="en-US" sz="2000" dirty="0"/>
              <a:t>When we read ‘a’, we will remain in the same state.</a:t>
            </a:r>
          </a:p>
          <a:p>
            <a:pPr fontAlgn="base"/>
            <a:r>
              <a:rPr lang="en-US" sz="2000" dirty="0"/>
              <a:t>If we read ‘b’, we will transits to state q</a:t>
            </a:r>
            <a:r>
              <a:rPr lang="en-US" sz="2000" baseline="-25000" dirty="0"/>
              <a:t>2</a:t>
            </a:r>
            <a:r>
              <a:rPr lang="en-US" sz="2000" dirty="0"/>
              <a:t>.</a:t>
            </a:r>
          </a:p>
          <a:p>
            <a:pPr fontAlgn="base"/>
            <a:r>
              <a:rPr lang="en-US" sz="2000" dirty="0"/>
              <a:t>4. Assuming that now we are in q</a:t>
            </a:r>
            <a:r>
              <a:rPr lang="en-US" sz="2000" baseline="-25000" dirty="0"/>
              <a:t>2</a:t>
            </a:r>
            <a:r>
              <a:rPr lang="en-US" sz="2000" dirty="0"/>
              <a:t> state.  </a:t>
            </a:r>
          </a:p>
          <a:p>
            <a:pPr fontAlgn="base"/>
            <a:r>
              <a:rPr lang="en-US" sz="2000" dirty="0"/>
              <a:t>If we read ‘a’, it transits to state q</a:t>
            </a:r>
            <a:r>
              <a:rPr lang="en-US" sz="2000" baseline="-25000" dirty="0"/>
              <a:t>3</a:t>
            </a:r>
            <a:r>
              <a:rPr lang="en-US" sz="2000" dirty="0"/>
              <a:t>.</a:t>
            </a:r>
          </a:p>
          <a:p>
            <a:pPr fontAlgn="base"/>
            <a:r>
              <a:rPr lang="en-US" sz="2000" dirty="0"/>
              <a:t>If we read ‘b’, it transits to state q</a:t>
            </a:r>
            <a:r>
              <a:rPr lang="en-US" sz="2000" baseline="-25000" dirty="0"/>
              <a:t>0.</a:t>
            </a:r>
            <a:endParaRPr lang="en-US" sz="2000" dirty="0"/>
          </a:p>
          <a:p>
            <a:pPr fontAlgn="base"/>
            <a:r>
              <a:rPr lang="en-US" sz="2000" dirty="0"/>
              <a:t>5. Assuming we are in final state(q</a:t>
            </a:r>
            <a:r>
              <a:rPr lang="en-US" sz="2000" baseline="-25000" dirty="0"/>
              <a:t>3</a:t>
            </a:r>
            <a:r>
              <a:rPr lang="en-US" sz="2000" dirty="0"/>
              <a:t>)  </a:t>
            </a:r>
          </a:p>
          <a:p>
            <a:pPr fontAlgn="base"/>
            <a:r>
              <a:rPr lang="en-US" sz="2000" dirty="0"/>
              <a:t>We remain in the same state, when we read ‘a’ or ‘b’.</a:t>
            </a:r>
          </a:p>
          <a:p>
            <a:pPr fontAlgn="base"/>
            <a:r>
              <a:rPr lang="en-US" sz="2000" dirty="0"/>
              <a:t>6. All strings which are accepted by this DFA will have “aba” as its substring.</a:t>
            </a:r>
          </a:p>
        </p:txBody>
      </p:sp>
    </p:spTree>
    <p:extLst>
      <p:ext uri="{BB962C8B-B14F-4D97-AF65-F5344CB8AC3E}">
        <p14:creationId xmlns:p14="http://schemas.microsoft.com/office/powerpoint/2010/main" val="40687780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685801"/>
            <a:ext cx="503872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38950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smtClean="0"/>
              <a:t>Examples </a:t>
            </a:r>
            <a:r>
              <a:rPr lang="en-US" dirty="0"/>
              <a:t>of NFA</a:t>
            </a:r>
            <a:br>
              <a:rPr lang="en-US" dirty="0"/>
            </a:br>
            <a:r>
              <a:rPr lang="en-US" dirty="0"/>
              <a:t>Example 1:</a:t>
            </a:r>
            <a:br>
              <a:rPr lang="en-US" dirty="0"/>
            </a:br>
            <a:r>
              <a:rPr lang="en-US" dirty="0"/>
              <a:t>Design a NFA for the transition table as given below:</a:t>
            </a:r>
            <a:br>
              <a:rPr lang="en-US" dirty="0"/>
            </a:b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881746"/>
            <a:ext cx="8458200" cy="2894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96375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smtClean="0"/>
              <a:t/>
            </a:r>
            <a:br>
              <a:rPr lang="en-US" b="1" dirty="0" smtClean="0"/>
            </a:br>
            <a:r>
              <a:rPr lang="en-US" b="1" dirty="0"/>
              <a:t/>
            </a:r>
            <a:br>
              <a:rPr lang="en-US" b="1" dirty="0"/>
            </a:br>
            <a:r>
              <a:rPr lang="en-US" b="1" dirty="0" smtClean="0"/>
              <a:t/>
            </a:r>
            <a:br>
              <a:rPr lang="en-US" b="1" dirty="0" smtClean="0"/>
            </a:br>
            <a:r>
              <a:rPr lang="en-US" sz="3600" b="1" dirty="0" smtClean="0"/>
              <a:t>Solution</a:t>
            </a:r>
            <a:r>
              <a:rPr lang="en-US" sz="3600" b="1" dirty="0"/>
              <a:t>:</a:t>
            </a:r>
            <a:r>
              <a:rPr lang="en-US" sz="3600" dirty="0"/>
              <a:t/>
            </a:r>
            <a:br>
              <a:rPr lang="en-US" sz="3600" dirty="0"/>
            </a:br>
            <a:r>
              <a:rPr lang="en-US" sz="3600" dirty="0"/>
              <a:t>The transition diagram can be drawn by using the mapping function as given in the table.</a:t>
            </a:r>
            <a:br>
              <a:rPr lang="en-US" sz="3600" dirty="0"/>
            </a:b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438399"/>
            <a:ext cx="5181600" cy="3932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92432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an NFA with ∑ = {0, 1} accepts all string ending with 01.</a:t>
            </a:r>
          </a:p>
        </p:txBody>
      </p:sp>
      <p:sp>
        <p:nvSpPr>
          <p:cNvPr id="3" name="Content Placeholder 2"/>
          <p:cNvSpPr>
            <a:spLocks noGrp="1"/>
          </p:cNvSpPr>
          <p:nvPr>
            <p:ph idx="1"/>
          </p:nvPr>
        </p:nvSpPr>
        <p:spPr/>
        <p:txBody>
          <a:bodyPr/>
          <a:lstStyle/>
          <a:p>
            <a:r>
              <a:rPr lang="en-US" b="1" dirty="0"/>
              <a:t>Solution</a:t>
            </a:r>
            <a:r>
              <a:rPr lang="en-US" b="1" dirty="0" smtClean="0"/>
              <a:t>:</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514600"/>
            <a:ext cx="7170140" cy="2805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22833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lnSpc>
                <a:spcPct val="150000"/>
              </a:lnSpc>
            </a:pPr>
            <a:r>
              <a:rPr lang="en-US" dirty="0" smtClean="0"/>
              <a:t/>
            </a:r>
            <a:br>
              <a:rPr lang="en-US" dirty="0" smtClean="0"/>
            </a:br>
            <a:r>
              <a:rPr lang="en-US" dirty="0"/>
              <a:t/>
            </a:r>
            <a:br>
              <a:rPr lang="en-US" dirty="0"/>
            </a:br>
            <a:r>
              <a:rPr lang="en-US" dirty="0" smtClean="0"/>
              <a:t>Construction </a:t>
            </a:r>
            <a:r>
              <a:rPr lang="en-US" dirty="0"/>
              <a:t>of a minimal NFA accepting a set of strings over {a, b} in which each string of the language starts with ‘</a:t>
            </a:r>
            <a:r>
              <a:rPr lang="en-US" dirty="0" err="1"/>
              <a:t>ab</a:t>
            </a:r>
            <a:r>
              <a:rPr lang="en-US" dirty="0"/>
              <a:t>’. </a:t>
            </a:r>
          </a:p>
        </p:txBody>
      </p:sp>
      <p:sp>
        <p:nvSpPr>
          <p:cNvPr id="4" name="Rectangle 3"/>
          <p:cNvSpPr/>
          <p:nvPr/>
        </p:nvSpPr>
        <p:spPr>
          <a:xfrm>
            <a:off x="210858" y="3886200"/>
            <a:ext cx="8960851" cy="1754326"/>
          </a:xfrm>
          <a:prstGeom prst="rect">
            <a:avLst/>
          </a:prstGeom>
        </p:spPr>
        <p:txBody>
          <a:bodyPr wrap="none">
            <a:spAutoFit/>
          </a:bodyPr>
          <a:lstStyle/>
          <a:p>
            <a:r>
              <a:rPr lang="en-US" sz="3600" b="1" dirty="0"/>
              <a:t>Explanation:</a:t>
            </a:r>
            <a:r>
              <a:rPr lang="en-US" sz="3600" dirty="0"/>
              <a:t> The desired language will be like: </a:t>
            </a:r>
            <a:endParaRPr lang="en-US" sz="3600" dirty="0" smtClean="0"/>
          </a:p>
          <a:p>
            <a:r>
              <a:rPr lang="en-US" sz="3600" dirty="0"/>
              <a:t>L1 = {</a:t>
            </a:r>
            <a:r>
              <a:rPr lang="en-US" sz="3600" dirty="0" err="1"/>
              <a:t>ab</a:t>
            </a:r>
            <a:r>
              <a:rPr lang="en-US" sz="3600" dirty="0"/>
              <a:t>, </a:t>
            </a:r>
            <a:r>
              <a:rPr lang="en-US" sz="3600" dirty="0" err="1"/>
              <a:t>abba</a:t>
            </a:r>
            <a:r>
              <a:rPr lang="en-US" sz="3600" dirty="0"/>
              <a:t>, </a:t>
            </a:r>
            <a:r>
              <a:rPr lang="en-US" sz="3600" dirty="0" err="1"/>
              <a:t>abaa</a:t>
            </a:r>
            <a:r>
              <a:rPr lang="en-US" sz="3600" dirty="0"/>
              <a:t>, ...........}</a:t>
            </a:r>
            <a:br>
              <a:rPr lang="en-US" sz="3600" dirty="0"/>
            </a:br>
            <a:endParaRPr lang="en-US" sz="3600" dirty="0"/>
          </a:p>
        </p:txBody>
      </p:sp>
    </p:spTree>
    <p:extLst>
      <p:ext uri="{BB962C8B-B14F-4D97-AF65-F5344CB8AC3E}">
        <p14:creationId xmlns:p14="http://schemas.microsoft.com/office/powerpoint/2010/main" val="6731670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The state transition diagram of the desired language will be like below: </a:t>
            </a:r>
          </a:p>
        </p:txBody>
      </p:sp>
      <p:pic>
        <p:nvPicPr>
          <p:cNvPr id="1026" name="Picture 2" descr="https://media.geeksforgeeks.org/wp-content/uploads/20190221145823/1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7911824"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9368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3000" y="685800"/>
            <a:ext cx="7162800" cy="6017673"/>
          </a:xfrm>
          <a:prstGeom prst="rect">
            <a:avLst/>
          </a:prstGeom>
        </p:spPr>
        <p:txBody>
          <a:bodyPr wrap="square">
            <a:spAutoFit/>
          </a:bodyPr>
          <a:lstStyle/>
          <a:p>
            <a:pPr>
              <a:lnSpc>
                <a:spcPct val="150000"/>
              </a:lnSpc>
            </a:pPr>
            <a:r>
              <a:rPr lang="en-US" sz="3200" dirty="0"/>
              <a:t>In the above NFA, the initial state ‘X’ on getting ‘a’ as the input it transits to a state ‘Y’. </a:t>
            </a:r>
            <a:endParaRPr lang="en-US" sz="3200" dirty="0" smtClean="0"/>
          </a:p>
          <a:p>
            <a:pPr>
              <a:lnSpc>
                <a:spcPct val="150000"/>
              </a:lnSpc>
            </a:pPr>
            <a:r>
              <a:rPr lang="en-US" sz="3200" dirty="0" smtClean="0"/>
              <a:t>The </a:t>
            </a:r>
            <a:r>
              <a:rPr lang="en-US" sz="3200" dirty="0"/>
              <a:t>state ‘Y’ on getting ‘b’ as the input it transits to a </a:t>
            </a:r>
            <a:r>
              <a:rPr lang="en-US" sz="3600" dirty="0"/>
              <a:t>final</a:t>
            </a:r>
            <a:r>
              <a:rPr lang="en-US" sz="3200" dirty="0"/>
              <a:t> state ‘Z’. </a:t>
            </a:r>
            <a:endParaRPr lang="en-US" sz="3200" dirty="0" smtClean="0"/>
          </a:p>
          <a:p>
            <a:pPr>
              <a:lnSpc>
                <a:spcPct val="150000"/>
              </a:lnSpc>
            </a:pPr>
            <a:r>
              <a:rPr lang="en-US" sz="3200" dirty="0" smtClean="0"/>
              <a:t>The </a:t>
            </a:r>
            <a:r>
              <a:rPr lang="en-US" sz="3200" dirty="0"/>
              <a:t>final state ‘Z’ on getting either ‘a’ or ‘b’ as the input it remains in the state of itself. </a:t>
            </a:r>
          </a:p>
        </p:txBody>
      </p:sp>
    </p:spTree>
    <p:extLst>
      <p:ext uri="{BB962C8B-B14F-4D97-AF65-F5344CB8AC3E}">
        <p14:creationId xmlns:p14="http://schemas.microsoft.com/office/powerpoint/2010/main" val="19679694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smtClean="0"/>
              <a:t>Construction </a:t>
            </a:r>
            <a:r>
              <a:rPr lang="en-US" dirty="0"/>
              <a:t>of a minimal NFA accepting a set of strings over {a, b} in which each string of the language contain ‘a’ as the substring.</a:t>
            </a:r>
          </a:p>
        </p:txBody>
      </p:sp>
      <p:sp>
        <p:nvSpPr>
          <p:cNvPr id="5" name="Rectangle 4"/>
          <p:cNvSpPr/>
          <p:nvPr/>
        </p:nvSpPr>
        <p:spPr>
          <a:xfrm>
            <a:off x="762000" y="3429000"/>
            <a:ext cx="7906203" cy="2062103"/>
          </a:xfrm>
          <a:prstGeom prst="rect">
            <a:avLst/>
          </a:prstGeom>
        </p:spPr>
        <p:txBody>
          <a:bodyPr wrap="none">
            <a:spAutoFit/>
          </a:bodyPr>
          <a:lstStyle/>
          <a:p>
            <a:r>
              <a:rPr lang="en-US" sz="3200" b="1" dirty="0"/>
              <a:t>Explanation:</a:t>
            </a:r>
            <a:r>
              <a:rPr lang="en-US" sz="3200" dirty="0"/>
              <a:t> The desired language will be like</a:t>
            </a:r>
            <a:r>
              <a:rPr lang="en-US" sz="3200" dirty="0" smtClean="0"/>
              <a:t>:</a:t>
            </a:r>
          </a:p>
          <a:p>
            <a:r>
              <a:rPr lang="en-US" sz="3200" dirty="0"/>
              <a:t>L1 = {</a:t>
            </a:r>
            <a:r>
              <a:rPr lang="en-US" sz="3200" dirty="0" err="1"/>
              <a:t>ab</a:t>
            </a:r>
            <a:r>
              <a:rPr lang="en-US" sz="3200" dirty="0"/>
              <a:t>, </a:t>
            </a:r>
            <a:r>
              <a:rPr lang="en-US" sz="3200" dirty="0" err="1"/>
              <a:t>abba</a:t>
            </a:r>
            <a:r>
              <a:rPr lang="en-US" sz="3200" dirty="0"/>
              <a:t>, </a:t>
            </a:r>
            <a:r>
              <a:rPr lang="en-US" sz="3200" dirty="0" err="1"/>
              <a:t>abaa</a:t>
            </a:r>
            <a:r>
              <a:rPr lang="en-US" sz="3200" dirty="0"/>
              <a:t>, </a:t>
            </a:r>
            <a:r>
              <a:rPr lang="en-US" sz="3200" dirty="0" smtClean="0"/>
              <a:t>...........}</a:t>
            </a:r>
          </a:p>
          <a:p>
            <a:r>
              <a:rPr lang="en-US" sz="3200" dirty="0"/>
              <a:t/>
            </a:r>
            <a:br>
              <a:rPr lang="en-US" sz="3200" dirty="0"/>
            </a:br>
            <a:endParaRPr lang="en-US" sz="3200" dirty="0"/>
          </a:p>
        </p:txBody>
      </p:sp>
    </p:spTree>
    <p:extLst>
      <p:ext uri="{BB962C8B-B14F-4D97-AF65-F5344CB8AC3E}">
        <p14:creationId xmlns:p14="http://schemas.microsoft.com/office/powerpoint/2010/main" val="12411356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lnSpc>
                <a:spcPct val="150000"/>
              </a:lnSpc>
            </a:pP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smtClean="0"/>
              <a:t>But </a:t>
            </a:r>
            <a:r>
              <a:rPr lang="en-US" dirty="0"/>
              <a:t>the below language is not accepted by this NFA because some of the string of below language does not contain ‘a’ as the substring</a:t>
            </a:r>
            <a:r>
              <a:rPr lang="en-US" dirty="0" smtClean="0"/>
              <a:t>.</a:t>
            </a:r>
            <a:br>
              <a:rPr lang="en-US" dirty="0" smtClean="0"/>
            </a:br>
            <a:r>
              <a:rPr lang="en-US" dirty="0"/>
              <a:t>L2 = {bb, b, </a:t>
            </a:r>
            <a:r>
              <a:rPr lang="en-US" dirty="0" err="1"/>
              <a:t>bbbb</a:t>
            </a:r>
            <a:r>
              <a:rPr lang="en-US" dirty="0"/>
              <a:t>, .............}</a:t>
            </a:r>
            <a:br>
              <a:rPr lang="en-US" dirty="0"/>
            </a:br>
            <a:endParaRPr lang="en-US" dirty="0"/>
          </a:p>
        </p:txBody>
      </p:sp>
    </p:spTree>
    <p:extLst>
      <p:ext uri="{BB962C8B-B14F-4D97-AF65-F5344CB8AC3E}">
        <p14:creationId xmlns:p14="http://schemas.microsoft.com/office/powerpoint/2010/main" val="21918224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The </a:t>
            </a:r>
            <a:r>
              <a:rPr lang="en-US" dirty="0"/>
              <a:t>state transition diagram of the desired language will be like below:</a:t>
            </a:r>
          </a:p>
        </p:txBody>
      </p:sp>
      <p:pic>
        <p:nvPicPr>
          <p:cNvPr id="3074" name="Picture 2" descr="https://media.geeksforgeeks.org/wp-content/uploads/20190221155542/10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667000"/>
            <a:ext cx="5628707"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54790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762000"/>
            <a:ext cx="8027606"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07550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6807200"/>
          </a:xfrm>
          <a:prstGeom prst="rect">
            <a:avLst/>
          </a:prstGeom>
        </p:spPr>
      </p:pic>
    </p:spTree>
    <p:extLst>
      <p:ext uri="{BB962C8B-B14F-4D97-AF65-F5344CB8AC3E}">
        <p14:creationId xmlns:p14="http://schemas.microsoft.com/office/powerpoint/2010/main" val="173982302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6807200"/>
          </a:xfrm>
          <a:prstGeom prst="rect">
            <a:avLst/>
          </a:prstGeom>
        </p:spPr>
      </p:pic>
    </p:spTree>
    <p:extLst>
      <p:ext uri="{BB962C8B-B14F-4D97-AF65-F5344CB8AC3E}">
        <p14:creationId xmlns:p14="http://schemas.microsoft.com/office/powerpoint/2010/main" val="280032935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0800"/>
            <a:ext cx="9144000" cy="6756400"/>
          </a:xfrm>
          <a:prstGeom prst="rect">
            <a:avLst/>
          </a:prstGeom>
        </p:spPr>
      </p:pic>
    </p:spTree>
    <p:extLst>
      <p:ext uri="{BB962C8B-B14F-4D97-AF65-F5344CB8AC3E}">
        <p14:creationId xmlns:p14="http://schemas.microsoft.com/office/powerpoint/2010/main" val="261036658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0800"/>
            <a:ext cx="9144000" cy="6756400"/>
          </a:xfrm>
          <a:prstGeom prst="rect">
            <a:avLst/>
          </a:prstGeom>
        </p:spPr>
      </p:pic>
    </p:spTree>
    <p:extLst>
      <p:ext uri="{BB962C8B-B14F-4D97-AF65-F5344CB8AC3E}">
        <p14:creationId xmlns:p14="http://schemas.microsoft.com/office/powerpoint/2010/main" val="412915181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9216" y="0"/>
            <a:ext cx="8749037" cy="6807200"/>
          </a:xfrm>
          <a:prstGeom prst="rect">
            <a:avLst/>
          </a:prstGeom>
        </p:spPr>
      </p:pic>
    </p:spTree>
    <p:extLst>
      <p:ext uri="{BB962C8B-B14F-4D97-AF65-F5344CB8AC3E}">
        <p14:creationId xmlns:p14="http://schemas.microsoft.com/office/powerpoint/2010/main" val="350579939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23699" y="437805"/>
            <a:ext cx="4593507" cy="444707"/>
          </a:xfrm>
          <a:prstGeom prst="rect">
            <a:avLst/>
          </a:prstGeom>
        </p:spPr>
        <p:txBody>
          <a:bodyPr wrap="none" lIns="44167" tIns="22083" rIns="44167" bIns="22083">
            <a:spAutoFit/>
          </a:bodyPr>
          <a:lstStyle/>
          <a:p>
            <a:pPr algn="ctr"/>
            <a:r>
              <a:rPr lang="en-US" sz="2600" b="1" dirty="0"/>
              <a:t>Minimization of Finite Automata</a:t>
            </a:r>
          </a:p>
        </p:txBody>
      </p:sp>
      <p:sp>
        <p:nvSpPr>
          <p:cNvPr id="3" name="Rectangle 2"/>
          <p:cNvSpPr/>
          <p:nvPr/>
        </p:nvSpPr>
        <p:spPr>
          <a:xfrm>
            <a:off x="658274" y="1485902"/>
            <a:ext cx="7935173" cy="1915905"/>
          </a:xfrm>
          <a:prstGeom prst="rect">
            <a:avLst/>
          </a:prstGeom>
        </p:spPr>
        <p:txBody>
          <a:bodyPr wrap="square" lIns="44167" tIns="22083" rIns="44167" bIns="22083">
            <a:spAutoFit/>
          </a:bodyPr>
          <a:lstStyle/>
          <a:p>
            <a:pPr algn="l">
              <a:lnSpc>
                <a:spcPct val="150000"/>
              </a:lnSpc>
            </a:pPr>
            <a:r>
              <a:rPr lang="en-US" sz="2600" dirty="0"/>
              <a:t>Minimization of Finite Automata is the process of reducing the number of states in a finite automaton without changing the language it recognizes. </a:t>
            </a:r>
          </a:p>
        </p:txBody>
      </p:sp>
      <p:sp>
        <p:nvSpPr>
          <p:cNvPr id="4" name="Rectangle 3"/>
          <p:cNvSpPr/>
          <p:nvPr/>
        </p:nvSpPr>
        <p:spPr>
          <a:xfrm>
            <a:off x="658273" y="3581400"/>
            <a:ext cx="7435760" cy="1314176"/>
          </a:xfrm>
          <a:prstGeom prst="rect">
            <a:avLst/>
          </a:prstGeom>
        </p:spPr>
        <p:txBody>
          <a:bodyPr wrap="none" lIns="44167" tIns="22083" rIns="44167" bIns="22083">
            <a:spAutoFit/>
          </a:bodyPr>
          <a:lstStyle/>
          <a:p>
            <a:pPr>
              <a:lnSpc>
                <a:spcPct val="150000"/>
              </a:lnSpc>
            </a:pPr>
            <a:r>
              <a:rPr lang="en-US" sz="2900" dirty="0"/>
              <a:t>This</a:t>
            </a:r>
            <a:r>
              <a:rPr lang="en-US" sz="2600" dirty="0"/>
              <a:t> process is crucial for optimizing the performance </a:t>
            </a:r>
          </a:p>
          <a:p>
            <a:pPr>
              <a:lnSpc>
                <a:spcPct val="150000"/>
              </a:lnSpc>
            </a:pPr>
            <a:r>
              <a:rPr lang="en-US" sz="2600" dirty="0"/>
              <a:t>and efficiency of the automaton.</a:t>
            </a:r>
          </a:p>
        </p:txBody>
      </p:sp>
    </p:spTree>
    <p:extLst>
      <p:ext uri="{BB962C8B-B14F-4D97-AF65-F5344CB8AC3E}">
        <p14:creationId xmlns:p14="http://schemas.microsoft.com/office/powerpoint/2010/main" val="24008893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r>
              <a:rPr lang="en-US" sz="3200" dirty="0"/>
              <a:t>Types of States</a:t>
            </a:r>
            <a:endParaRPr lang="en-US" sz="3200" dirty="0"/>
          </a:p>
        </p:txBody>
      </p:sp>
      <p:sp>
        <p:nvSpPr>
          <p:cNvPr id="4" name="Content Placeholder 3"/>
          <p:cNvSpPr>
            <a:spLocks noGrp="1"/>
          </p:cNvSpPr>
          <p:nvPr>
            <p:ph idx="1"/>
          </p:nvPr>
        </p:nvSpPr>
        <p:spPr>
          <a:xfrm>
            <a:off x="457200" y="800100"/>
            <a:ext cx="8229600" cy="5326064"/>
          </a:xfrm>
        </p:spPr>
        <p:txBody>
          <a:bodyPr/>
          <a:lstStyle/>
          <a:p>
            <a:r>
              <a:rPr lang="en-US" dirty="0" smtClean="0"/>
              <a:t>Productive</a:t>
            </a:r>
          </a:p>
          <a:p>
            <a:r>
              <a:rPr lang="en-US" dirty="0" smtClean="0"/>
              <a:t>Non Productive</a:t>
            </a:r>
          </a:p>
          <a:p>
            <a:pPr marL="0" indent="0">
              <a:buNone/>
            </a:pPr>
            <a:r>
              <a:rPr lang="en-US" sz="2900" b="1" dirty="0"/>
              <a:t>Productive-</a:t>
            </a:r>
            <a:r>
              <a:rPr lang="en-US" sz="2900" dirty="0"/>
              <a:t>Presence or absence of these states changes the language accepting capability of machine.</a:t>
            </a:r>
          </a:p>
          <a:p>
            <a:pPr marL="0" indent="0">
              <a:buNone/>
            </a:pPr>
            <a:r>
              <a:rPr lang="en-US" sz="2900" b="1" dirty="0"/>
              <a:t>Non </a:t>
            </a:r>
            <a:r>
              <a:rPr lang="en-US" sz="2900" b="1" dirty="0"/>
              <a:t>Productive- </a:t>
            </a:r>
            <a:r>
              <a:rPr lang="en-US" sz="2900" dirty="0"/>
              <a:t>Presence or absence of these states </a:t>
            </a:r>
            <a:r>
              <a:rPr lang="en-US" sz="2900" dirty="0"/>
              <a:t>do not changes </a:t>
            </a:r>
            <a:r>
              <a:rPr lang="en-US" sz="2900" dirty="0"/>
              <a:t>the language accepting </a:t>
            </a:r>
            <a:r>
              <a:rPr lang="en-US" sz="2900" dirty="0"/>
              <a:t>capability.</a:t>
            </a:r>
          </a:p>
          <a:p>
            <a:pPr marL="0" indent="0">
              <a:buNone/>
            </a:pPr>
            <a:r>
              <a:rPr lang="en-US" sz="2900" dirty="0"/>
              <a:t>3 Types- Dead States , Unreachable states , Equal States.</a:t>
            </a:r>
            <a:endParaRPr lang="en-US" sz="2900" dirty="0"/>
          </a:p>
          <a:p>
            <a:pPr marL="0" indent="0">
              <a:buNone/>
            </a:pPr>
            <a:endParaRPr lang="en-US" sz="2900" b="1" dirty="0"/>
          </a:p>
          <a:p>
            <a:pPr marL="0" indent="0">
              <a:buNone/>
            </a:pPr>
            <a:endParaRPr lang="en-US" sz="3500" b="1" dirty="0"/>
          </a:p>
          <a:p>
            <a:endParaRPr lang="en-US" dirty="0" smtClean="0"/>
          </a:p>
          <a:p>
            <a:pPr marL="0" indent="0">
              <a:buNone/>
            </a:pPr>
            <a:endParaRPr lang="en-US" dirty="0"/>
          </a:p>
        </p:txBody>
      </p:sp>
    </p:spTree>
    <p:extLst>
      <p:ext uri="{BB962C8B-B14F-4D97-AF65-F5344CB8AC3E}">
        <p14:creationId xmlns:p14="http://schemas.microsoft.com/office/powerpoint/2010/main" val="2831810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2366" y="457202"/>
            <a:ext cx="8114702" cy="5655391"/>
          </a:xfrm>
          <a:prstGeom prst="rect">
            <a:avLst/>
          </a:prstGeom>
        </p:spPr>
        <p:txBody>
          <a:bodyPr wrap="square" lIns="44167" tIns="22083" rIns="44167" bIns="22083">
            <a:spAutoFit/>
          </a:bodyPr>
          <a:lstStyle/>
          <a:p>
            <a:pPr>
              <a:lnSpc>
                <a:spcPct val="150000"/>
              </a:lnSpc>
            </a:pPr>
            <a:r>
              <a:rPr lang="en-US" sz="2600" b="1" dirty="0"/>
              <a:t>Unreachable states</a:t>
            </a:r>
            <a:r>
              <a:rPr lang="en-US" sz="2600" dirty="0"/>
              <a:t> are the states that are not reachable from the initial state of the DFA, for any input string. These states can be removed.</a:t>
            </a:r>
          </a:p>
          <a:p>
            <a:pPr>
              <a:lnSpc>
                <a:spcPct val="150000"/>
              </a:lnSpc>
            </a:pPr>
            <a:r>
              <a:rPr lang="en-US" sz="2600" b="1" dirty="0"/>
              <a:t>Dead states</a:t>
            </a:r>
            <a:r>
              <a:rPr lang="en-US" sz="2600" dirty="0"/>
              <a:t> are the states from which no final state is reachable. These states can be removed unless the automaton is required to be </a:t>
            </a:r>
            <a:r>
              <a:rPr lang="en-US" sz="2600" dirty="0">
                <a:hlinkClick r:id="rId2" tooltip="Deterministic finite automaton"/>
              </a:rPr>
              <a:t>complete</a:t>
            </a:r>
            <a:r>
              <a:rPr lang="en-US" sz="2600" dirty="0"/>
              <a:t>.</a:t>
            </a:r>
          </a:p>
          <a:p>
            <a:pPr>
              <a:lnSpc>
                <a:spcPct val="150000"/>
              </a:lnSpc>
            </a:pPr>
            <a:r>
              <a:rPr lang="en-US" sz="2600" b="1" dirty="0"/>
              <a:t>Non distinguishable </a:t>
            </a:r>
            <a:r>
              <a:rPr lang="en-US" sz="2600" b="1" dirty="0"/>
              <a:t>states</a:t>
            </a:r>
            <a:r>
              <a:rPr lang="en-US" sz="2600" dirty="0"/>
              <a:t> are those that cannot be distinguished from one another for any input string. These states can be merged.</a:t>
            </a:r>
          </a:p>
        </p:txBody>
      </p:sp>
    </p:spTree>
    <p:extLst>
      <p:ext uri="{BB962C8B-B14F-4D97-AF65-F5344CB8AC3E}">
        <p14:creationId xmlns:p14="http://schemas.microsoft.com/office/powerpoint/2010/main" val="145923318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ead State in DFA » CS Tale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8199" y="381000"/>
            <a:ext cx="5816733" cy="5985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089999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320"/>
            <a:ext cx="8229600" cy="1246495"/>
          </a:xfrm>
        </p:spPr>
        <p:txBody>
          <a:bodyPr/>
          <a:lstStyle/>
          <a:p>
            <a:pPr algn="ctr"/>
            <a:r>
              <a:rPr lang="en-US" sz="3900" b="1" dirty="0"/>
              <a:t>What is a Finite Automaton?</a:t>
            </a:r>
            <a:br>
              <a:rPr lang="en-US" sz="3900" b="1" dirty="0"/>
            </a:br>
            <a:endParaRPr lang="en-US" sz="3900" dirty="0"/>
          </a:p>
        </p:txBody>
      </p:sp>
      <p:sp>
        <p:nvSpPr>
          <p:cNvPr id="5" name="Text Placeholder 4"/>
          <p:cNvSpPr>
            <a:spLocks noGrp="1"/>
          </p:cNvSpPr>
          <p:nvPr>
            <p:ph type="body" idx="1"/>
          </p:nvPr>
        </p:nvSpPr>
        <p:spPr>
          <a:xfrm>
            <a:off x="406932" y="1104902"/>
            <a:ext cx="8229600" cy="1061829"/>
          </a:xfrm>
        </p:spPr>
        <p:txBody>
          <a:bodyPr/>
          <a:lstStyle/>
          <a:p>
            <a:r>
              <a:rPr lang="en-US" dirty="0"/>
              <a:t>A finite automaton is a </a:t>
            </a:r>
            <a:r>
              <a:rPr lang="en-US" sz="3500" dirty="0"/>
              <a:t>theoretical</a:t>
            </a:r>
            <a:r>
              <a:rPr lang="en-US" dirty="0"/>
              <a:t> machine used in computer science to model computation.</a:t>
            </a:r>
          </a:p>
        </p:txBody>
      </p:sp>
      <p:sp>
        <p:nvSpPr>
          <p:cNvPr id="6" name="Text Placeholder 4"/>
          <p:cNvSpPr txBox="1">
            <a:spLocks/>
          </p:cNvSpPr>
          <p:nvPr/>
        </p:nvSpPr>
        <p:spPr>
          <a:xfrm>
            <a:off x="406932" y="3390900"/>
            <a:ext cx="8229600" cy="507832"/>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3200" dirty="0"/>
              <a:t>There are two main types of finite automata:</a:t>
            </a:r>
          </a:p>
        </p:txBody>
      </p:sp>
      <p:sp>
        <p:nvSpPr>
          <p:cNvPr id="7" name="Text Placeholder 4"/>
          <p:cNvSpPr txBox="1">
            <a:spLocks/>
          </p:cNvSpPr>
          <p:nvPr/>
        </p:nvSpPr>
        <p:spPr>
          <a:xfrm>
            <a:off x="406932" y="2286002"/>
            <a:ext cx="8229600" cy="1015663"/>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3200" dirty="0"/>
              <a:t>It consists of a finite number of states, transitions between those states, and an initial state. </a:t>
            </a:r>
          </a:p>
        </p:txBody>
      </p:sp>
      <p:sp>
        <p:nvSpPr>
          <p:cNvPr id="8" name="Rectangle 7"/>
          <p:cNvSpPr/>
          <p:nvPr/>
        </p:nvSpPr>
        <p:spPr>
          <a:xfrm>
            <a:off x="299215" y="4152902"/>
            <a:ext cx="8042890" cy="2014751"/>
          </a:xfrm>
          <a:prstGeom prst="rect">
            <a:avLst/>
          </a:prstGeom>
        </p:spPr>
        <p:txBody>
          <a:bodyPr wrap="square" lIns="44167" tIns="22083" rIns="44167" bIns="22083">
            <a:spAutoFit/>
          </a:bodyPr>
          <a:lstStyle/>
          <a:p>
            <a:pPr>
              <a:lnSpc>
                <a:spcPct val="150000"/>
              </a:lnSpc>
            </a:pPr>
            <a:r>
              <a:rPr lang="en-US" sz="2100" b="1" dirty="0"/>
              <a:t>Deterministic Finite Automaton (DFA)</a:t>
            </a:r>
            <a:r>
              <a:rPr lang="en-US" sz="2100" dirty="0"/>
              <a:t>: Each state has exactly one transition for each input symbol.</a:t>
            </a:r>
          </a:p>
          <a:p>
            <a:pPr>
              <a:lnSpc>
                <a:spcPct val="150000"/>
              </a:lnSpc>
            </a:pPr>
            <a:r>
              <a:rPr lang="en-US" sz="2100" b="1" dirty="0"/>
              <a:t>Nondeterministic Finite Automaton (NFA)</a:t>
            </a:r>
            <a:r>
              <a:rPr lang="en-US" sz="2100" dirty="0"/>
              <a:t>: States can have zero, one, or multiple transitions for each input symbol.</a:t>
            </a:r>
          </a:p>
        </p:txBody>
      </p:sp>
    </p:spTree>
    <p:extLst>
      <p:ext uri="{BB962C8B-B14F-4D97-AF65-F5344CB8AC3E}">
        <p14:creationId xmlns:p14="http://schemas.microsoft.com/office/powerpoint/2010/main" val="256059594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9215" y="609602"/>
            <a:ext cx="8229600" cy="5586145"/>
          </a:xfrm>
        </p:spPr>
        <p:txBody>
          <a:bodyPr/>
          <a:lstStyle/>
          <a:p>
            <a:r>
              <a:rPr lang="en-US" b="1" dirty="0"/>
              <a:t>Why Minimize Finite Automata?</a:t>
            </a:r>
          </a:p>
          <a:p>
            <a:r>
              <a:rPr lang="en-US" b="1" i="1" dirty="0">
                <a:hlinkClick r:id="rId2"/>
              </a:rPr>
              <a:t>Minimizing a finite automaton</a:t>
            </a:r>
            <a:r>
              <a:rPr lang="en-US" dirty="0"/>
              <a:t> has several advantages:</a:t>
            </a:r>
          </a:p>
          <a:p>
            <a:r>
              <a:rPr lang="en-US" b="1" dirty="0"/>
              <a:t>Efficiency</a:t>
            </a:r>
            <a:r>
              <a:rPr lang="en-US" dirty="0"/>
              <a:t>: Fewer states mean less memory usage and faster execution, which is crucial for real-time applications.</a:t>
            </a:r>
          </a:p>
          <a:p>
            <a:r>
              <a:rPr lang="en-US" b="1" dirty="0"/>
              <a:t>Simplicity</a:t>
            </a:r>
            <a:r>
              <a:rPr lang="en-US" dirty="0"/>
              <a:t>: A minimized automaton is easier to understand and analyze.</a:t>
            </a:r>
          </a:p>
          <a:p>
            <a:r>
              <a:rPr lang="en-US" b="1" dirty="0"/>
              <a:t>Optimization</a:t>
            </a:r>
            <a:r>
              <a:rPr lang="en-US" dirty="0"/>
              <a:t>: Reducing redundancy in states leads to more optimized and streamlined models.</a:t>
            </a:r>
          </a:p>
          <a:p>
            <a:endParaRPr lang="en-US" dirty="0"/>
          </a:p>
        </p:txBody>
      </p:sp>
    </p:spTree>
    <p:extLst>
      <p:ext uri="{BB962C8B-B14F-4D97-AF65-F5344CB8AC3E}">
        <p14:creationId xmlns:p14="http://schemas.microsoft.com/office/powerpoint/2010/main" val="159733674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229600" cy="2215992"/>
          </a:xfrm>
        </p:spPr>
        <p:txBody>
          <a:bodyPr/>
          <a:lstStyle/>
          <a:p>
            <a:r>
              <a:rPr lang="en-US" sz="3500" b="1" dirty="0"/>
              <a:t>Steps in Minimizing a DFA</a:t>
            </a:r>
            <a:br>
              <a:rPr lang="en-US" sz="3500" b="1" dirty="0"/>
            </a:br>
            <a:r>
              <a:rPr lang="en-US" sz="3500" dirty="0"/>
              <a:t>Minimizing a DFA involves several steps, which we will outline below:</a:t>
            </a:r>
            <a:br>
              <a:rPr lang="en-US" sz="3500" dirty="0"/>
            </a:br>
            <a:endParaRPr lang="en-US" sz="3500" dirty="0"/>
          </a:p>
        </p:txBody>
      </p:sp>
      <p:sp>
        <p:nvSpPr>
          <p:cNvPr id="3" name="Text Placeholder 2"/>
          <p:cNvSpPr>
            <a:spLocks noGrp="1"/>
          </p:cNvSpPr>
          <p:nvPr>
            <p:ph type="body" idx="1"/>
          </p:nvPr>
        </p:nvSpPr>
        <p:spPr>
          <a:xfrm>
            <a:off x="457200" y="2058920"/>
            <a:ext cx="8229600" cy="4985981"/>
          </a:xfrm>
        </p:spPr>
        <p:txBody>
          <a:bodyPr/>
          <a:lstStyle/>
          <a:p>
            <a:r>
              <a:rPr lang="en-US" sz="2600" b="1" dirty="0"/>
              <a:t>1. Remove Unreachable States</a:t>
            </a:r>
          </a:p>
          <a:p>
            <a:r>
              <a:rPr lang="en-US" sz="2600" dirty="0"/>
              <a:t>*An unreachable state is a state that cannot be reached from the initial state for any input string.</a:t>
            </a:r>
          </a:p>
          <a:p>
            <a:r>
              <a:rPr lang="en-US" sz="2600" dirty="0"/>
              <a:t>*These states do not affect the language recognized by the automaton and can be removed. The steps to remove unreachable states are:</a:t>
            </a:r>
          </a:p>
          <a:p>
            <a:r>
              <a:rPr lang="en-US" sz="2600" dirty="0"/>
              <a:t>*Start from the initial state and mark it as reachable.</a:t>
            </a:r>
          </a:p>
          <a:p>
            <a:r>
              <a:rPr lang="en-US" sz="2600" dirty="0"/>
              <a:t>*Recursively mark all states that can be reached from any reachable state using any input symbol.</a:t>
            </a:r>
          </a:p>
          <a:p>
            <a:r>
              <a:rPr lang="en-US" sz="2600" dirty="0"/>
              <a:t>*Remove all states that are not marked as reachable.</a:t>
            </a:r>
          </a:p>
          <a:p>
            <a:r>
              <a:rPr lang="en-US" sz="2600" dirty="0"/>
              <a:t/>
            </a:r>
            <a:br>
              <a:rPr lang="en-US" sz="2600" dirty="0"/>
            </a:br>
            <a:endParaRPr lang="en-US" sz="2600" dirty="0"/>
          </a:p>
        </p:txBody>
      </p:sp>
    </p:spTree>
    <p:extLst>
      <p:ext uri="{BB962C8B-B14F-4D97-AF65-F5344CB8AC3E}">
        <p14:creationId xmlns:p14="http://schemas.microsoft.com/office/powerpoint/2010/main" val="247842542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1026" y="495302"/>
            <a:ext cx="8229600" cy="6001643"/>
          </a:xfrm>
        </p:spPr>
        <p:txBody>
          <a:bodyPr/>
          <a:lstStyle/>
          <a:p>
            <a:r>
              <a:rPr lang="en-US" sz="2900" b="1" dirty="0"/>
              <a:t>2) Identify Equivalent States</a:t>
            </a:r>
          </a:p>
          <a:p>
            <a:r>
              <a:rPr lang="en-US" sz="2900" dirty="0"/>
              <a:t>Two states are equivalent if, for every input string, they either both reach an accepting state or both reach a non-accepting state. Identifying equivalent states involves:</a:t>
            </a:r>
          </a:p>
          <a:p>
            <a:r>
              <a:rPr lang="en-US" sz="2900" dirty="0"/>
              <a:t>*Creating a table to record distinguishable pairs of states.</a:t>
            </a:r>
          </a:p>
          <a:p>
            <a:r>
              <a:rPr lang="en-US" sz="2900" dirty="0"/>
              <a:t>*Initially, mark pairs consisting of one accepting and one non-accepting state as distinguishable.</a:t>
            </a:r>
          </a:p>
          <a:p>
            <a:r>
              <a:rPr lang="en-US" sz="2900" dirty="0"/>
              <a:t>*Recursively mark pairs as distinguishable if, for some input symbol, their transitions lead to a distinguishable pair of states.</a:t>
            </a:r>
          </a:p>
          <a:p>
            <a:endParaRPr lang="en-US" sz="2900" dirty="0"/>
          </a:p>
        </p:txBody>
      </p:sp>
    </p:spTree>
    <p:extLst>
      <p:ext uri="{BB962C8B-B14F-4D97-AF65-F5344CB8AC3E}">
        <p14:creationId xmlns:p14="http://schemas.microsoft.com/office/powerpoint/2010/main" val="1721778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77340"/>
            <a:ext cx="8229600" cy="3231654"/>
          </a:xfrm>
        </p:spPr>
        <p:txBody>
          <a:bodyPr/>
          <a:lstStyle/>
          <a:p>
            <a:r>
              <a:rPr lang="en-US" sz="2900" b="1" dirty="0"/>
              <a:t>3. Merge Equivalent States</a:t>
            </a:r>
          </a:p>
          <a:p>
            <a:r>
              <a:rPr lang="en-US" sz="2900" dirty="0"/>
              <a:t>Once all equivalent states are identified, merge them into a single state. The steps include:</a:t>
            </a:r>
          </a:p>
          <a:p>
            <a:r>
              <a:rPr lang="en-US" sz="2900" dirty="0"/>
              <a:t>Group all equivalent states.</a:t>
            </a:r>
          </a:p>
          <a:p>
            <a:r>
              <a:rPr lang="en-US" sz="2900" dirty="0"/>
              <a:t>Create a new state for each group of equivalent states.</a:t>
            </a:r>
          </a:p>
          <a:p>
            <a:r>
              <a:rPr lang="en-US" sz="2900" dirty="0"/>
              <a:t>Redirect transitions to point to the new merged states.</a:t>
            </a:r>
          </a:p>
          <a:p>
            <a:endParaRPr lang="en-US" sz="2900" dirty="0"/>
          </a:p>
        </p:txBody>
      </p:sp>
    </p:spTree>
    <p:extLst>
      <p:ext uri="{BB962C8B-B14F-4D97-AF65-F5344CB8AC3E}">
        <p14:creationId xmlns:p14="http://schemas.microsoft.com/office/powerpoint/2010/main" val="195354186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www.gatevidyalay.com/wp-content/uploads/2018/08/Minimization-of-DF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121" y="533400"/>
            <a:ext cx="8230655" cy="438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83019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u="sng" dirty="0"/>
              <a:t>Minimization of DFA Using Equivalence Theorem-</a:t>
            </a:r>
            <a:r>
              <a:rPr lang="en-US" sz="2900" b="1" dirty="0"/>
              <a:t/>
            </a:r>
            <a:br>
              <a:rPr lang="en-US" sz="2900" b="1" dirty="0"/>
            </a:br>
            <a:endParaRPr lang="en-US" sz="2900" dirty="0"/>
          </a:p>
        </p:txBody>
      </p:sp>
      <p:sp>
        <p:nvSpPr>
          <p:cNvPr id="3" name="Content Placeholder 2"/>
          <p:cNvSpPr>
            <a:spLocks noGrp="1"/>
          </p:cNvSpPr>
          <p:nvPr>
            <p:ph idx="1"/>
          </p:nvPr>
        </p:nvSpPr>
        <p:spPr>
          <a:xfrm>
            <a:off x="457200" y="1066800"/>
            <a:ext cx="8229600" cy="5059364"/>
          </a:xfrm>
        </p:spPr>
        <p:txBody>
          <a:bodyPr/>
          <a:lstStyle/>
          <a:p>
            <a:pPr marL="0" indent="0">
              <a:buNone/>
            </a:pPr>
            <a:r>
              <a:rPr lang="en-US" b="1" u="sng" dirty="0" smtClean="0"/>
              <a:t>Step-01:</a:t>
            </a:r>
            <a:r>
              <a:rPr lang="en-US" dirty="0" smtClean="0"/>
              <a:t>Eliminate </a:t>
            </a:r>
            <a:r>
              <a:rPr lang="en-US" dirty="0"/>
              <a:t>all the dead states and inaccessible states from the given DFA (if any</a:t>
            </a:r>
            <a:r>
              <a:rPr lang="en-US" dirty="0" smtClean="0"/>
              <a:t>)</a:t>
            </a:r>
          </a:p>
          <a:p>
            <a:pPr marL="0" indent="0">
              <a:buNone/>
            </a:pPr>
            <a:r>
              <a:rPr lang="en-US" b="1" u="sng" dirty="0"/>
              <a:t>Step-02</a:t>
            </a:r>
            <a:r>
              <a:rPr lang="en-US" b="1" u="sng" dirty="0" smtClean="0"/>
              <a:t>:</a:t>
            </a:r>
            <a:endParaRPr lang="en-US" dirty="0"/>
          </a:p>
          <a:p>
            <a:r>
              <a:rPr lang="en-US" dirty="0"/>
              <a:t>Draw a state transition table for the given DFA.</a:t>
            </a:r>
          </a:p>
          <a:p>
            <a:r>
              <a:rPr lang="en-US" dirty="0"/>
              <a:t>Transition table shows the transition of all states on all input symbols in Σ</a:t>
            </a:r>
            <a:r>
              <a:rPr lang="en-US" dirty="0" smtClean="0"/>
              <a:t>.</a:t>
            </a:r>
          </a:p>
          <a:p>
            <a:endParaRPr lang="en-US" dirty="0" smtClean="0"/>
          </a:p>
          <a:p>
            <a:pPr marL="0" indent="0">
              <a:buNone/>
            </a:pPr>
            <a:endParaRPr lang="en-US" dirty="0"/>
          </a:p>
          <a:p>
            <a:endParaRPr lang="en-US" dirty="0"/>
          </a:p>
        </p:txBody>
      </p:sp>
    </p:spTree>
    <p:extLst>
      <p:ext uri="{BB962C8B-B14F-4D97-AF65-F5344CB8AC3E}">
        <p14:creationId xmlns:p14="http://schemas.microsoft.com/office/powerpoint/2010/main" val="216625777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4"/>
          </a:xfrm>
        </p:spPr>
        <p:txBody>
          <a:bodyPr/>
          <a:lstStyle/>
          <a:p>
            <a:pPr marL="0" indent="0">
              <a:buNone/>
            </a:pPr>
            <a:r>
              <a:rPr lang="en-US" b="1" u="sng" dirty="0"/>
              <a:t>Step-03</a:t>
            </a:r>
            <a:r>
              <a:rPr lang="en-US" b="1" u="sng" dirty="0" smtClean="0"/>
              <a:t>:</a:t>
            </a:r>
            <a:r>
              <a:rPr lang="en-US" dirty="0"/>
              <a:t> </a:t>
            </a:r>
          </a:p>
          <a:p>
            <a:r>
              <a:rPr lang="en-US" dirty="0"/>
              <a:t>Now, start applying equivalence theorem.</a:t>
            </a:r>
          </a:p>
          <a:p>
            <a:r>
              <a:rPr lang="en-US" dirty="0"/>
              <a:t>Take a counter variable k and initialize it with value 0.</a:t>
            </a:r>
          </a:p>
          <a:p>
            <a:r>
              <a:rPr lang="en-US" dirty="0"/>
              <a:t>Divide Q (set of states) into two sets such that one set contains all the non-final states and other set contains all the final states.</a:t>
            </a:r>
          </a:p>
          <a:p>
            <a:r>
              <a:rPr lang="en-US" dirty="0"/>
              <a:t>This partition is called P</a:t>
            </a:r>
            <a:r>
              <a:rPr lang="en-US" baseline="-25000" dirty="0"/>
              <a:t>0</a:t>
            </a:r>
            <a:r>
              <a:rPr lang="en-US" dirty="0"/>
              <a:t>.</a:t>
            </a:r>
          </a:p>
          <a:p>
            <a:endParaRPr lang="en-US" dirty="0"/>
          </a:p>
        </p:txBody>
      </p:sp>
    </p:spTree>
    <p:extLst>
      <p:ext uri="{BB962C8B-B14F-4D97-AF65-F5344CB8AC3E}">
        <p14:creationId xmlns:p14="http://schemas.microsoft.com/office/powerpoint/2010/main" val="282249701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6700"/>
            <a:ext cx="8229600" cy="5859464"/>
          </a:xfrm>
        </p:spPr>
        <p:txBody>
          <a:bodyPr/>
          <a:lstStyle/>
          <a:p>
            <a:pPr marL="0" indent="0">
              <a:buNone/>
            </a:pPr>
            <a:r>
              <a:rPr lang="en-US" sz="2900" b="1" u="sng" dirty="0"/>
              <a:t>Step-04</a:t>
            </a:r>
            <a:r>
              <a:rPr lang="en-US" sz="2900" b="1" u="sng" dirty="0"/>
              <a:t>:</a:t>
            </a:r>
            <a:endParaRPr lang="en-US" sz="2900" dirty="0"/>
          </a:p>
          <a:p>
            <a:r>
              <a:rPr lang="en-US" sz="2900" dirty="0"/>
              <a:t>Increment k by 1.</a:t>
            </a:r>
          </a:p>
          <a:p>
            <a:r>
              <a:rPr lang="en-US" sz="2900" dirty="0"/>
              <a:t>Find </a:t>
            </a:r>
            <a:r>
              <a:rPr lang="en-US" sz="2900" dirty="0" err="1"/>
              <a:t>P</a:t>
            </a:r>
            <a:r>
              <a:rPr lang="en-US" sz="2900" baseline="-25000" dirty="0" err="1"/>
              <a:t>k</a:t>
            </a:r>
            <a:r>
              <a:rPr lang="en-US" sz="2900" dirty="0"/>
              <a:t> by partitioning the different sets of P</a:t>
            </a:r>
            <a:r>
              <a:rPr lang="en-US" sz="2900" baseline="-25000" dirty="0"/>
              <a:t>k-1</a:t>
            </a:r>
            <a:r>
              <a:rPr lang="en-US" sz="2900" dirty="0"/>
              <a:t> .</a:t>
            </a:r>
          </a:p>
          <a:p>
            <a:r>
              <a:rPr lang="en-US" sz="2900" dirty="0"/>
              <a:t>In each set of P</a:t>
            </a:r>
            <a:r>
              <a:rPr lang="en-US" sz="2900" baseline="-25000" dirty="0"/>
              <a:t>k-1</a:t>
            </a:r>
            <a:r>
              <a:rPr lang="en-US" sz="2900" dirty="0"/>
              <a:t> , consider all the possible pair of states within each set and if the two states are distinguishable, partition the set into different sets in P</a:t>
            </a:r>
            <a:r>
              <a:rPr lang="en-US" sz="2900" baseline="-25000" dirty="0"/>
              <a:t>k</a:t>
            </a:r>
            <a:r>
              <a:rPr lang="en-US" sz="2900" dirty="0"/>
              <a:t>.</a:t>
            </a:r>
          </a:p>
          <a:p>
            <a:r>
              <a:rPr lang="en-US" sz="2900" dirty="0"/>
              <a:t>Two states q</a:t>
            </a:r>
            <a:r>
              <a:rPr lang="en-US" sz="2900" baseline="-25000" dirty="0"/>
              <a:t>1</a:t>
            </a:r>
            <a:r>
              <a:rPr lang="en-US" sz="2900" dirty="0"/>
              <a:t> and q</a:t>
            </a:r>
            <a:r>
              <a:rPr lang="en-US" sz="2900" baseline="-25000" dirty="0"/>
              <a:t>2</a:t>
            </a:r>
            <a:r>
              <a:rPr lang="en-US" sz="2900" dirty="0"/>
              <a:t> are distinguishable in partition </a:t>
            </a:r>
            <a:r>
              <a:rPr lang="en-US" sz="2900" dirty="0" err="1"/>
              <a:t>P</a:t>
            </a:r>
            <a:r>
              <a:rPr lang="en-US" sz="2900" baseline="-25000" dirty="0" err="1"/>
              <a:t>k</a:t>
            </a:r>
            <a:r>
              <a:rPr lang="en-US" sz="2900" dirty="0"/>
              <a:t> for any input symbol ‘a’,</a:t>
            </a:r>
          </a:p>
          <a:p>
            <a:r>
              <a:rPr lang="en-US" sz="2900" dirty="0"/>
              <a:t>if δ (q</a:t>
            </a:r>
            <a:r>
              <a:rPr lang="en-US" sz="2900" baseline="-25000" dirty="0"/>
              <a:t>1</a:t>
            </a:r>
            <a:r>
              <a:rPr lang="en-US" sz="2900" dirty="0"/>
              <a:t>, a) and δ (q</a:t>
            </a:r>
            <a:r>
              <a:rPr lang="en-US" sz="2900" baseline="-25000" dirty="0"/>
              <a:t>2</a:t>
            </a:r>
            <a:r>
              <a:rPr lang="en-US" sz="2900" dirty="0"/>
              <a:t>, a) are in different sets in partition P</a:t>
            </a:r>
            <a:r>
              <a:rPr lang="en-US" sz="2900" baseline="-25000" dirty="0"/>
              <a:t>k-1</a:t>
            </a:r>
            <a:r>
              <a:rPr lang="en-US" sz="2900" dirty="0"/>
              <a:t>.</a:t>
            </a:r>
          </a:p>
          <a:p>
            <a:endParaRPr lang="en-US" sz="2900" dirty="0"/>
          </a:p>
        </p:txBody>
      </p:sp>
    </p:spTree>
    <p:extLst>
      <p:ext uri="{BB962C8B-B14F-4D97-AF65-F5344CB8AC3E}">
        <p14:creationId xmlns:p14="http://schemas.microsoft.com/office/powerpoint/2010/main" val="407088804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4"/>
          </a:xfrm>
        </p:spPr>
        <p:txBody>
          <a:bodyPr/>
          <a:lstStyle/>
          <a:p>
            <a:pPr marL="0" indent="0">
              <a:buNone/>
            </a:pPr>
            <a:r>
              <a:rPr lang="en-US" sz="2900" b="1" u="sng" dirty="0"/>
              <a:t>Step-05:</a:t>
            </a:r>
            <a:endParaRPr lang="en-US" sz="2900" dirty="0"/>
          </a:p>
          <a:p>
            <a:r>
              <a:rPr lang="en-US" sz="2900" dirty="0"/>
              <a:t>Repeat step-04 until no change in partition occurs.</a:t>
            </a:r>
          </a:p>
          <a:p>
            <a:r>
              <a:rPr lang="en-US" sz="2900" dirty="0"/>
              <a:t>In other words, when you find </a:t>
            </a:r>
            <a:r>
              <a:rPr lang="en-US" sz="2900" dirty="0" err="1"/>
              <a:t>P</a:t>
            </a:r>
            <a:r>
              <a:rPr lang="en-US" sz="2900" baseline="-25000" dirty="0" err="1"/>
              <a:t>k</a:t>
            </a:r>
            <a:r>
              <a:rPr lang="en-US" sz="2900" dirty="0"/>
              <a:t> = P</a:t>
            </a:r>
            <a:r>
              <a:rPr lang="en-US" sz="2900" baseline="-25000" dirty="0"/>
              <a:t>k-1</a:t>
            </a:r>
            <a:r>
              <a:rPr lang="en-US" sz="2900" dirty="0"/>
              <a:t>, stop</a:t>
            </a:r>
            <a:r>
              <a:rPr lang="en-US" sz="2900" dirty="0"/>
              <a:t>.</a:t>
            </a:r>
            <a:endParaRPr lang="en-US" sz="2900" b="1" u="sng" dirty="0"/>
          </a:p>
          <a:p>
            <a:pPr marL="0" indent="0">
              <a:buNone/>
            </a:pPr>
            <a:r>
              <a:rPr lang="en-US" sz="2900" b="1" u="sng" dirty="0"/>
              <a:t>Step-06:</a:t>
            </a:r>
            <a:endParaRPr lang="en-US" sz="2900" dirty="0"/>
          </a:p>
          <a:p>
            <a:r>
              <a:rPr lang="en-US" sz="2900" dirty="0"/>
              <a:t>All those states which belong to the same set are equivalent.</a:t>
            </a:r>
          </a:p>
          <a:p>
            <a:r>
              <a:rPr lang="en-US" sz="2900" dirty="0"/>
              <a:t>The equivalent states are merged to form a single state in the minimal </a:t>
            </a:r>
            <a:r>
              <a:rPr lang="en-US" sz="2900" dirty="0"/>
              <a:t>DFA</a:t>
            </a:r>
          </a:p>
          <a:p>
            <a:r>
              <a:rPr lang="en-US" sz="2900" b="1" dirty="0"/>
              <a:t>Number of states in Minimal DFA</a:t>
            </a:r>
            <a:endParaRPr lang="en-US" sz="2900" dirty="0"/>
          </a:p>
          <a:p>
            <a:r>
              <a:rPr lang="en-US" sz="2900" b="1" dirty="0"/>
              <a:t>= Number of sets in </a:t>
            </a:r>
            <a:r>
              <a:rPr lang="en-US" sz="2900" b="1" dirty="0" err="1"/>
              <a:t>P</a:t>
            </a:r>
            <a:r>
              <a:rPr lang="en-US" sz="2900" b="1" baseline="-25000" dirty="0" err="1"/>
              <a:t>k</a:t>
            </a:r>
            <a:endParaRPr lang="en-US" sz="2900" dirty="0"/>
          </a:p>
          <a:p>
            <a:endParaRPr lang="en-US" sz="2900" dirty="0"/>
          </a:p>
          <a:p>
            <a:endParaRPr lang="en-US" sz="2900" dirty="0"/>
          </a:p>
        </p:txBody>
      </p:sp>
    </p:spTree>
    <p:extLst>
      <p:ext uri="{BB962C8B-B14F-4D97-AF65-F5344CB8AC3E}">
        <p14:creationId xmlns:p14="http://schemas.microsoft.com/office/powerpoint/2010/main" val="271001382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1662"/>
          </a:xfrm>
        </p:spPr>
        <p:txBody>
          <a:bodyPr/>
          <a:lstStyle/>
          <a:p>
            <a:r>
              <a:rPr lang="en-US" sz="3200" b="1" u="sng" dirty="0"/>
              <a:t>Problem-01:</a:t>
            </a:r>
            <a:r>
              <a:rPr lang="en-US" sz="3200" b="1" dirty="0"/>
              <a:t/>
            </a:r>
            <a:br>
              <a:rPr lang="en-US" sz="3200" b="1" dirty="0"/>
            </a:br>
            <a:endParaRPr lang="en-US" sz="3200" dirty="0"/>
          </a:p>
        </p:txBody>
      </p:sp>
      <p:sp>
        <p:nvSpPr>
          <p:cNvPr id="3" name="Content Placeholder 2"/>
          <p:cNvSpPr>
            <a:spLocks noGrp="1"/>
          </p:cNvSpPr>
          <p:nvPr>
            <p:ph idx="1"/>
          </p:nvPr>
        </p:nvSpPr>
        <p:spPr>
          <a:xfrm>
            <a:off x="457200" y="723900"/>
            <a:ext cx="8229600" cy="5402264"/>
          </a:xfrm>
        </p:spPr>
        <p:txBody>
          <a:bodyPr/>
          <a:lstStyle/>
          <a:p>
            <a:r>
              <a:rPr lang="en-US" dirty="0"/>
              <a:t>Minimize the given DFA-</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445" y="1790700"/>
            <a:ext cx="5098618"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737444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6700"/>
            <a:ext cx="8229600" cy="5859464"/>
          </a:xfrm>
        </p:spPr>
        <p:txBody>
          <a:bodyPr/>
          <a:lstStyle/>
          <a:p>
            <a:pPr marL="0" indent="0">
              <a:buNone/>
            </a:pPr>
            <a:r>
              <a:rPr lang="en-US" sz="2600" b="1" u="sng" dirty="0"/>
              <a:t>Solution-</a:t>
            </a:r>
            <a:r>
              <a:rPr lang="en-US" sz="2600" dirty="0"/>
              <a:t> </a:t>
            </a:r>
          </a:p>
          <a:p>
            <a:pPr marL="0" indent="0">
              <a:buNone/>
            </a:pPr>
            <a:r>
              <a:rPr lang="en-US" sz="2600" b="1" u="sng" dirty="0"/>
              <a:t>Step-01:</a:t>
            </a:r>
            <a:r>
              <a:rPr lang="en-US" sz="2600" dirty="0"/>
              <a:t>The given DFA contains no dead states and inaccessible states</a:t>
            </a:r>
            <a:r>
              <a:rPr lang="en-US" sz="2600" dirty="0"/>
              <a:t>.</a:t>
            </a:r>
          </a:p>
          <a:p>
            <a:pPr marL="0" indent="0">
              <a:buNone/>
            </a:pPr>
            <a:r>
              <a:rPr lang="en-US" sz="2600" b="1" u="sng" dirty="0"/>
              <a:t>Step-02:</a:t>
            </a:r>
            <a:r>
              <a:rPr lang="en-US" sz="2600" dirty="0"/>
              <a:t>Draw </a:t>
            </a:r>
            <a:r>
              <a:rPr lang="en-US" sz="2600" dirty="0"/>
              <a:t>a state transition </a:t>
            </a:r>
            <a:r>
              <a:rPr lang="en-US" sz="2600" dirty="0"/>
              <a:t>table-</a:t>
            </a:r>
          </a:p>
          <a:p>
            <a:pPr marL="0" indent="0">
              <a:buNone/>
            </a:pPr>
            <a:endParaRPr lang="en-US" sz="2600" dirty="0"/>
          </a:p>
          <a:p>
            <a:pPr marL="0" indent="0">
              <a:buNone/>
            </a:pPr>
            <a:endParaRPr lang="en-US" sz="2600" dirty="0"/>
          </a:p>
        </p:txBody>
      </p:sp>
      <p:graphicFrame>
        <p:nvGraphicFramePr>
          <p:cNvPr id="4" name="Table 3"/>
          <p:cNvGraphicFramePr>
            <a:graphicFrameLocks noGrp="1"/>
          </p:cNvGraphicFramePr>
          <p:nvPr>
            <p:extLst>
              <p:ext uri="{D42A27DB-BD31-4B8C-83A1-F6EECF244321}">
                <p14:modId xmlns:p14="http://schemas.microsoft.com/office/powerpoint/2010/main" val="1123569749"/>
              </p:ext>
            </p:extLst>
          </p:nvPr>
        </p:nvGraphicFramePr>
        <p:xfrm>
          <a:off x="1340481" y="2628900"/>
          <a:ext cx="6096001" cy="3307080"/>
        </p:xfrm>
        <a:graphic>
          <a:graphicData uri="http://schemas.openxmlformats.org/drawingml/2006/table">
            <a:tbl>
              <a:tblPr firstRow="1" bandRow="1">
                <a:tableStyleId>{5C22544A-7EE6-4342-B048-85BDC9FD1C3A}</a:tableStyleId>
              </a:tblPr>
              <a:tblGrid>
                <a:gridCol w="2032000"/>
                <a:gridCol w="2032000"/>
                <a:gridCol w="2032000"/>
              </a:tblGrid>
              <a:tr h="716280">
                <a:tc>
                  <a:txBody>
                    <a:bodyPr/>
                    <a:lstStyle/>
                    <a:p>
                      <a:pPr algn="ctr"/>
                      <a:r>
                        <a:rPr lang="en-US" sz="1200" b="1" dirty="0">
                          <a:effectLst/>
                        </a:rPr>
                        <a:t/>
                      </a:r>
                      <a:br>
                        <a:rPr lang="en-US" sz="1200" b="1" dirty="0">
                          <a:effectLst/>
                        </a:rPr>
                      </a:br>
                      <a:endParaRPr lang="en-US" sz="3000" dirty="0">
                        <a:effectLst/>
                      </a:endParaRPr>
                    </a:p>
                  </a:txBody>
                  <a:tcPr marL="44882" marR="44882" marT="38100" marB="38100" anchor="ctr"/>
                </a:tc>
                <a:tc>
                  <a:txBody>
                    <a:bodyPr/>
                    <a:lstStyle/>
                    <a:p>
                      <a:pPr algn="ctr"/>
                      <a:r>
                        <a:rPr lang="en-US" sz="3300" b="1" dirty="0" smtClean="0">
                          <a:effectLst/>
                        </a:rPr>
                        <a:t>a</a:t>
                      </a:r>
                      <a:endParaRPr lang="en-US" sz="3000" dirty="0">
                        <a:effectLst/>
                      </a:endParaRPr>
                    </a:p>
                  </a:txBody>
                  <a:tcPr marL="44882" marR="44882" marT="38100" marB="38100" anchor="ctr"/>
                </a:tc>
                <a:tc>
                  <a:txBody>
                    <a:bodyPr/>
                    <a:lstStyle/>
                    <a:p>
                      <a:pPr algn="ctr"/>
                      <a:r>
                        <a:rPr lang="en-US" sz="3000" b="1" dirty="0" smtClean="0">
                          <a:effectLst/>
                        </a:rPr>
                        <a:t>b</a:t>
                      </a:r>
                      <a:endParaRPr lang="en-US" sz="3000" dirty="0"/>
                    </a:p>
                  </a:txBody>
                  <a:tcPr marL="43087" marR="43087" marT="22860" marB="22860"/>
                </a:tc>
              </a:tr>
              <a:tr h="647700">
                <a:tc>
                  <a:txBody>
                    <a:bodyPr/>
                    <a:lstStyle/>
                    <a:p>
                      <a:pPr algn="ctr"/>
                      <a:r>
                        <a:rPr lang="en-US" sz="2200" dirty="0">
                          <a:effectLst/>
                        </a:rPr>
                        <a:t>→</a:t>
                      </a:r>
                      <a:r>
                        <a:rPr lang="en-US" sz="2200" b="1" dirty="0">
                          <a:effectLst/>
                        </a:rPr>
                        <a:t>q0</a:t>
                      </a:r>
                      <a:endParaRPr lang="en-US" sz="4800" dirty="0">
                        <a:effectLst/>
                      </a:endParaRPr>
                    </a:p>
                  </a:txBody>
                  <a:tcPr marL="44882" marR="44882" marT="38100" marB="38100" anchor="ctr"/>
                </a:tc>
                <a:tc>
                  <a:txBody>
                    <a:bodyPr/>
                    <a:lstStyle/>
                    <a:p>
                      <a:pPr algn="ctr"/>
                      <a:r>
                        <a:rPr lang="en-US" sz="3000">
                          <a:effectLst/>
                        </a:rPr>
                        <a:t>q1</a:t>
                      </a:r>
                    </a:p>
                  </a:txBody>
                  <a:tcPr marL="44882" marR="44882" marT="38100" marB="38100" anchor="ctr"/>
                </a:tc>
                <a:tc>
                  <a:txBody>
                    <a:bodyPr/>
                    <a:lstStyle/>
                    <a:p>
                      <a:pPr algn="ctr"/>
                      <a:r>
                        <a:rPr lang="en-US" sz="3000">
                          <a:effectLst/>
                        </a:rPr>
                        <a:t>q2</a:t>
                      </a:r>
                    </a:p>
                  </a:txBody>
                  <a:tcPr marL="44882" marR="44882" marT="38100" marB="38100" anchor="ctr"/>
                </a:tc>
              </a:tr>
              <a:tr h="647700">
                <a:tc>
                  <a:txBody>
                    <a:bodyPr/>
                    <a:lstStyle/>
                    <a:p>
                      <a:pPr algn="ctr"/>
                      <a:r>
                        <a:rPr lang="en-US" sz="2200" b="1" dirty="0">
                          <a:effectLst/>
                        </a:rPr>
                        <a:t>q1</a:t>
                      </a:r>
                      <a:endParaRPr lang="en-US" sz="4800" dirty="0">
                        <a:effectLst/>
                      </a:endParaRPr>
                    </a:p>
                  </a:txBody>
                  <a:tcPr marL="44882" marR="44882" marT="38100" marB="38100" anchor="ctr"/>
                </a:tc>
                <a:tc>
                  <a:txBody>
                    <a:bodyPr/>
                    <a:lstStyle/>
                    <a:p>
                      <a:pPr algn="ctr"/>
                      <a:r>
                        <a:rPr lang="en-US" sz="3000">
                          <a:effectLst/>
                        </a:rPr>
                        <a:t>q1</a:t>
                      </a:r>
                    </a:p>
                  </a:txBody>
                  <a:tcPr marL="44882" marR="44882" marT="38100" marB="38100" anchor="ctr"/>
                </a:tc>
                <a:tc>
                  <a:txBody>
                    <a:bodyPr/>
                    <a:lstStyle/>
                    <a:p>
                      <a:pPr algn="ctr"/>
                      <a:r>
                        <a:rPr lang="en-US" sz="3000">
                          <a:effectLst/>
                        </a:rPr>
                        <a:t>q3</a:t>
                      </a:r>
                    </a:p>
                  </a:txBody>
                  <a:tcPr marL="44882" marR="44882" marT="38100" marB="38100" anchor="ctr"/>
                </a:tc>
              </a:tr>
              <a:tr h="647700">
                <a:tc>
                  <a:txBody>
                    <a:bodyPr/>
                    <a:lstStyle/>
                    <a:p>
                      <a:pPr algn="ctr"/>
                      <a:r>
                        <a:rPr lang="en-US" sz="2200" b="1" dirty="0">
                          <a:effectLst/>
                        </a:rPr>
                        <a:t>q2</a:t>
                      </a:r>
                      <a:endParaRPr lang="en-US" sz="4800" dirty="0">
                        <a:effectLst/>
                      </a:endParaRPr>
                    </a:p>
                  </a:txBody>
                  <a:tcPr marL="44882" marR="44882" marT="38100" marB="38100" anchor="ctr"/>
                </a:tc>
                <a:tc>
                  <a:txBody>
                    <a:bodyPr/>
                    <a:lstStyle/>
                    <a:p>
                      <a:pPr algn="ctr"/>
                      <a:r>
                        <a:rPr lang="en-US" sz="3000">
                          <a:effectLst/>
                        </a:rPr>
                        <a:t>q1</a:t>
                      </a:r>
                    </a:p>
                  </a:txBody>
                  <a:tcPr marL="44882" marR="44882" marT="38100" marB="38100" anchor="ctr"/>
                </a:tc>
                <a:tc>
                  <a:txBody>
                    <a:bodyPr/>
                    <a:lstStyle/>
                    <a:p>
                      <a:pPr algn="ctr"/>
                      <a:r>
                        <a:rPr lang="en-US" sz="3000">
                          <a:effectLst/>
                        </a:rPr>
                        <a:t>q2</a:t>
                      </a:r>
                    </a:p>
                  </a:txBody>
                  <a:tcPr marL="44882" marR="44882" marT="38100" marB="38100" anchor="ctr"/>
                </a:tc>
              </a:tr>
              <a:tr h="647700">
                <a:tc>
                  <a:txBody>
                    <a:bodyPr/>
                    <a:lstStyle/>
                    <a:p>
                      <a:pPr algn="ctr"/>
                      <a:r>
                        <a:rPr lang="en-US" sz="2200" b="1" dirty="0">
                          <a:effectLst/>
                        </a:rPr>
                        <a:t>q3</a:t>
                      </a:r>
                      <a:endParaRPr lang="en-US" sz="4800" dirty="0">
                        <a:effectLst/>
                      </a:endParaRPr>
                    </a:p>
                  </a:txBody>
                  <a:tcPr marL="44882" marR="44882" marT="38100" marB="38100" anchor="ctr"/>
                </a:tc>
                <a:tc>
                  <a:txBody>
                    <a:bodyPr/>
                    <a:lstStyle/>
                    <a:p>
                      <a:pPr algn="ctr"/>
                      <a:r>
                        <a:rPr lang="en-US" sz="3000">
                          <a:effectLst/>
                        </a:rPr>
                        <a:t>q1</a:t>
                      </a:r>
                    </a:p>
                  </a:txBody>
                  <a:tcPr marL="44882" marR="44882" marT="38100" marB="38100" anchor="ctr"/>
                </a:tc>
                <a:tc>
                  <a:txBody>
                    <a:bodyPr/>
                    <a:lstStyle/>
                    <a:p>
                      <a:pPr algn="ctr"/>
                      <a:r>
                        <a:rPr lang="en-US" sz="3000" dirty="0">
                          <a:effectLst/>
                        </a:rPr>
                        <a:t>*q4</a:t>
                      </a:r>
                    </a:p>
                  </a:txBody>
                  <a:tcPr marL="44882" marR="44882" marT="38100" marB="38100" anchor="ctr"/>
                </a:tc>
              </a:tr>
            </a:tbl>
          </a:graphicData>
        </a:graphic>
      </p:graphicFrame>
    </p:spTree>
    <p:extLst>
      <p:ext uri="{BB962C8B-B14F-4D97-AF65-F5344CB8AC3E}">
        <p14:creationId xmlns:p14="http://schemas.microsoft.com/office/powerpoint/2010/main" val="58500324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4"/>
          </a:xfrm>
        </p:spPr>
        <p:txBody>
          <a:bodyPr/>
          <a:lstStyle/>
          <a:p>
            <a:pPr marL="0" indent="0">
              <a:buNone/>
            </a:pPr>
            <a:r>
              <a:rPr lang="en-US" b="1" u="sng" dirty="0"/>
              <a:t>Step-03</a:t>
            </a:r>
            <a:r>
              <a:rPr lang="en-US" b="1" u="sng" dirty="0" smtClean="0"/>
              <a:t>:</a:t>
            </a:r>
            <a:endParaRPr lang="en-US" dirty="0"/>
          </a:p>
          <a:p>
            <a:pPr marL="0" indent="0">
              <a:buNone/>
            </a:pPr>
            <a:r>
              <a:rPr lang="en-US" dirty="0"/>
              <a:t>Now using Equivalence Theorem, we have-</a:t>
            </a:r>
          </a:p>
          <a:p>
            <a:r>
              <a:rPr lang="en-US" dirty="0"/>
              <a:t>P</a:t>
            </a:r>
            <a:r>
              <a:rPr lang="en-US" baseline="-25000" dirty="0"/>
              <a:t>0</a:t>
            </a:r>
            <a:r>
              <a:rPr lang="en-US" dirty="0"/>
              <a:t> = { q</a:t>
            </a:r>
            <a:r>
              <a:rPr lang="en-US" baseline="-25000" dirty="0"/>
              <a:t>0</a:t>
            </a:r>
            <a:r>
              <a:rPr lang="en-US" dirty="0"/>
              <a:t> , q</a:t>
            </a:r>
            <a:r>
              <a:rPr lang="en-US" baseline="-25000" dirty="0"/>
              <a:t>1</a:t>
            </a:r>
            <a:r>
              <a:rPr lang="en-US" dirty="0"/>
              <a:t> , q</a:t>
            </a:r>
            <a:r>
              <a:rPr lang="en-US" baseline="-25000" dirty="0"/>
              <a:t>2</a:t>
            </a:r>
            <a:r>
              <a:rPr lang="en-US" dirty="0"/>
              <a:t> , q</a:t>
            </a:r>
            <a:r>
              <a:rPr lang="en-US" baseline="-25000" dirty="0"/>
              <a:t>3</a:t>
            </a:r>
            <a:r>
              <a:rPr lang="en-US" dirty="0"/>
              <a:t> } { q</a:t>
            </a:r>
            <a:r>
              <a:rPr lang="en-US" baseline="-25000" dirty="0"/>
              <a:t>4</a:t>
            </a:r>
            <a:r>
              <a:rPr lang="en-US" dirty="0"/>
              <a:t> }</a:t>
            </a:r>
          </a:p>
          <a:p>
            <a:r>
              <a:rPr lang="en-US" dirty="0"/>
              <a:t>P</a:t>
            </a:r>
            <a:r>
              <a:rPr lang="en-US" baseline="-25000" dirty="0"/>
              <a:t>1</a:t>
            </a:r>
            <a:r>
              <a:rPr lang="en-US" dirty="0"/>
              <a:t> = { q</a:t>
            </a:r>
            <a:r>
              <a:rPr lang="en-US" baseline="-25000" dirty="0"/>
              <a:t>0</a:t>
            </a:r>
            <a:r>
              <a:rPr lang="en-US" dirty="0"/>
              <a:t> , q</a:t>
            </a:r>
            <a:r>
              <a:rPr lang="en-US" baseline="-25000" dirty="0"/>
              <a:t>1</a:t>
            </a:r>
            <a:r>
              <a:rPr lang="en-US" dirty="0"/>
              <a:t> , q</a:t>
            </a:r>
            <a:r>
              <a:rPr lang="en-US" baseline="-25000" dirty="0"/>
              <a:t>2</a:t>
            </a:r>
            <a:r>
              <a:rPr lang="en-US" dirty="0"/>
              <a:t> } { q</a:t>
            </a:r>
            <a:r>
              <a:rPr lang="en-US" baseline="-25000" dirty="0"/>
              <a:t>3</a:t>
            </a:r>
            <a:r>
              <a:rPr lang="en-US" dirty="0"/>
              <a:t> } { q</a:t>
            </a:r>
            <a:r>
              <a:rPr lang="en-US" baseline="-25000" dirty="0"/>
              <a:t>4</a:t>
            </a:r>
            <a:r>
              <a:rPr lang="en-US" dirty="0"/>
              <a:t> }</a:t>
            </a:r>
          </a:p>
          <a:p>
            <a:r>
              <a:rPr lang="en-US" dirty="0"/>
              <a:t>P</a:t>
            </a:r>
            <a:r>
              <a:rPr lang="en-US" baseline="-25000" dirty="0"/>
              <a:t>2</a:t>
            </a:r>
            <a:r>
              <a:rPr lang="en-US" dirty="0"/>
              <a:t> = { q</a:t>
            </a:r>
            <a:r>
              <a:rPr lang="en-US" baseline="-25000" dirty="0"/>
              <a:t>0</a:t>
            </a:r>
            <a:r>
              <a:rPr lang="en-US" dirty="0"/>
              <a:t> , q</a:t>
            </a:r>
            <a:r>
              <a:rPr lang="en-US" baseline="-25000" dirty="0"/>
              <a:t>2</a:t>
            </a:r>
            <a:r>
              <a:rPr lang="en-US" dirty="0"/>
              <a:t> } { q</a:t>
            </a:r>
            <a:r>
              <a:rPr lang="en-US" baseline="-25000" dirty="0"/>
              <a:t>1</a:t>
            </a:r>
            <a:r>
              <a:rPr lang="en-US" dirty="0"/>
              <a:t> } { q</a:t>
            </a:r>
            <a:r>
              <a:rPr lang="en-US" baseline="-25000" dirty="0"/>
              <a:t>3</a:t>
            </a:r>
            <a:r>
              <a:rPr lang="en-US" dirty="0"/>
              <a:t> } { q</a:t>
            </a:r>
            <a:r>
              <a:rPr lang="en-US" baseline="-25000" dirty="0"/>
              <a:t>4</a:t>
            </a:r>
            <a:r>
              <a:rPr lang="en-US" dirty="0"/>
              <a:t> }</a:t>
            </a:r>
          </a:p>
          <a:p>
            <a:r>
              <a:rPr lang="en-US" dirty="0"/>
              <a:t>P</a:t>
            </a:r>
            <a:r>
              <a:rPr lang="en-US" baseline="-25000" dirty="0"/>
              <a:t>3</a:t>
            </a:r>
            <a:r>
              <a:rPr lang="en-US" dirty="0"/>
              <a:t> = { q</a:t>
            </a:r>
            <a:r>
              <a:rPr lang="en-US" baseline="-25000" dirty="0"/>
              <a:t>0</a:t>
            </a:r>
            <a:r>
              <a:rPr lang="en-US" dirty="0"/>
              <a:t> , q</a:t>
            </a:r>
            <a:r>
              <a:rPr lang="en-US" baseline="-25000" dirty="0"/>
              <a:t>2</a:t>
            </a:r>
            <a:r>
              <a:rPr lang="en-US" dirty="0"/>
              <a:t> } { q</a:t>
            </a:r>
            <a:r>
              <a:rPr lang="en-US" baseline="-25000" dirty="0"/>
              <a:t>1</a:t>
            </a:r>
            <a:r>
              <a:rPr lang="en-US" dirty="0"/>
              <a:t> } { q</a:t>
            </a:r>
            <a:r>
              <a:rPr lang="en-US" baseline="-25000" dirty="0"/>
              <a:t>3</a:t>
            </a:r>
            <a:r>
              <a:rPr lang="en-US" dirty="0"/>
              <a:t> } { q</a:t>
            </a:r>
            <a:r>
              <a:rPr lang="en-US" baseline="-25000" dirty="0"/>
              <a:t>4</a:t>
            </a:r>
            <a:r>
              <a:rPr lang="en-US" dirty="0"/>
              <a:t> </a:t>
            </a:r>
            <a:r>
              <a:rPr lang="en-US" dirty="0" smtClean="0"/>
              <a:t>}</a:t>
            </a:r>
            <a:endParaRPr lang="en-US" dirty="0"/>
          </a:p>
          <a:p>
            <a:r>
              <a:rPr lang="en-US" dirty="0"/>
              <a:t>Since P</a:t>
            </a:r>
            <a:r>
              <a:rPr lang="en-US" baseline="-25000" dirty="0"/>
              <a:t>3</a:t>
            </a:r>
            <a:r>
              <a:rPr lang="en-US" dirty="0"/>
              <a:t> = P</a:t>
            </a:r>
            <a:r>
              <a:rPr lang="en-US" baseline="-25000" dirty="0"/>
              <a:t>2</a:t>
            </a:r>
            <a:r>
              <a:rPr lang="en-US" dirty="0"/>
              <a:t>, so we stop.</a:t>
            </a:r>
          </a:p>
          <a:p>
            <a:r>
              <a:rPr lang="en-US" dirty="0"/>
              <a:t>From P</a:t>
            </a:r>
            <a:r>
              <a:rPr lang="en-US" baseline="-25000" dirty="0"/>
              <a:t>3</a:t>
            </a:r>
            <a:r>
              <a:rPr lang="en-US" dirty="0"/>
              <a:t>, we infer that states q</a:t>
            </a:r>
            <a:r>
              <a:rPr lang="en-US" baseline="-25000" dirty="0"/>
              <a:t>0</a:t>
            </a:r>
            <a:r>
              <a:rPr lang="en-US" dirty="0"/>
              <a:t> and q</a:t>
            </a:r>
            <a:r>
              <a:rPr lang="en-US" baseline="-25000" dirty="0"/>
              <a:t>2</a:t>
            </a:r>
            <a:r>
              <a:rPr lang="en-US" dirty="0"/>
              <a:t> are equivalent and can be merged together.</a:t>
            </a:r>
          </a:p>
          <a:p>
            <a:endParaRPr lang="en-US" dirty="0"/>
          </a:p>
        </p:txBody>
      </p:sp>
    </p:spTree>
    <p:extLst>
      <p:ext uri="{BB962C8B-B14F-4D97-AF65-F5344CB8AC3E}">
        <p14:creationId xmlns:p14="http://schemas.microsoft.com/office/powerpoint/2010/main" val="808380650"/>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
            <a:ext cx="8229600" cy="5935664"/>
          </a:xfrm>
        </p:spPr>
        <p:txBody>
          <a:bodyPr/>
          <a:lstStyle/>
          <a:p>
            <a:pPr marL="0" indent="0">
              <a:buNone/>
            </a:pPr>
            <a:r>
              <a:rPr lang="en-US" dirty="0"/>
              <a:t>So, Our minimal DFA is-</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178" y="838201"/>
            <a:ext cx="7001623"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085401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r>
              <a:rPr lang="en-US" sz="2600" b="1" u="sng" dirty="0"/>
              <a:t>Problem-02:</a:t>
            </a:r>
            <a:r>
              <a:rPr lang="en-US" sz="2600" b="1" dirty="0"/>
              <a:t/>
            </a:r>
            <a:br>
              <a:rPr lang="en-US" sz="2600" b="1" dirty="0"/>
            </a:br>
            <a:endParaRPr lang="en-US" sz="2600" dirty="0"/>
          </a:p>
        </p:txBody>
      </p:sp>
      <p:sp>
        <p:nvSpPr>
          <p:cNvPr id="3" name="Content Placeholder 2"/>
          <p:cNvSpPr>
            <a:spLocks noGrp="1"/>
          </p:cNvSpPr>
          <p:nvPr>
            <p:ph idx="1"/>
          </p:nvPr>
        </p:nvSpPr>
        <p:spPr>
          <a:xfrm>
            <a:off x="457200" y="800100"/>
            <a:ext cx="8229600" cy="5326064"/>
          </a:xfrm>
        </p:spPr>
        <p:txBody>
          <a:bodyPr/>
          <a:lstStyle/>
          <a:p>
            <a:r>
              <a:rPr lang="en-US" dirty="0"/>
              <a:t>Minimize the given DFA-</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424" y="1905000"/>
            <a:ext cx="7001623"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223534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
            <a:ext cx="8229600" cy="6011864"/>
          </a:xfrm>
        </p:spPr>
        <p:txBody>
          <a:bodyPr/>
          <a:lstStyle/>
          <a:p>
            <a:pPr marL="0" indent="0">
              <a:buNone/>
            </a:pPr>
            <a:r>
              <a:rPr lang="en-US" b="1" u="sng" dirty="0" smtClean="0"/>
              <a:t>Solution-   Step-01:</a:t>
            </a:r>
            <a:endParaRPr lang="en-US" dirty="0"/>
          </a:p>
          <a:p>
            <a:r>
              <a:rPr lang="en-US" dirty="0"/>
              <a:t>State q</a:t>
            </a:r>
            <a:r>
              <a:rPr lang="en-US" baseline="-25000" dirty="0"/>
              <a:t>3</a:t>
            </a:r>
            <a:r>
              <a:rPr lang="en-US" dirty="0"/>
              <a:t> is inaccessible from the initial state.</a:t>
            </a:r>
          </a:p>
          <a:p>
            <a:r>
              <a:rPr lang="en-US" dirty="0"/>
              <a:t>So, we eliminate it and its associated edges from the DFA</a:t>
            </a:r>
            <a:r>
              <a:rPr lang="en-US" dirty="0" smtClean="0"/>
              <a:t>.</a:t>
            </a:r>
            <a:r>
              <a:rPr lang="en-US" dirty="0"/>
              <a:t> </a:t>
            </a:r>
          </a:p>
          <a:p>
            <a:r>
              <a:rPr lang="en-US" dirty="0"/>
              <a:t>The resulting DFA is-</a:t>
            </a:r>
          </a:p>
          <a:p>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555" y="3429000"/>
            <a:ext cx="7592613"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738065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6700"/>
            <a:ext cx="8229600" cy="5859464"/>
          </a:xfrm>
        </p:spPr>
        <p:txBody>
          <a:bodyPr/>
          <a:lstStyle/>
          <a:p>
            <a:pPr marL="0" indent="0">
              <a:buNone/>
            </a:pPr>
            <a:r>
              <a:rPr lang="en-US" b="1" u="sng" dirty="0"/>
              <a:t>Step-02</a:t>
            </a:r>
            <a:r>
              <a:rPr lang="en-US" b="1" u="sng" dirty="0" smtClean="0"/>
              <a:t>:</a:t>
            </a:r>
            <a:r>
              <a:rPr lang="en-US" dirty="0"/>
              <a:t> </a:t>
            </a:r>
          </a:p>
          <a:p>
            <a:r>
              <a:rPr lang="en-US" dirty="0"/>
              <a:t>Draw a state transition table-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53411505"/>
              </p:ext>
            </p:extLst>
          </p:nvPr>
        </p:nvGraphicFramePr>
        <p:xfrm>
          <a:off x="765989" y="1866900"/>
          <a:ext cx="6096001" cy="3467100"/>
        </p:xfrm>
        <a:graphic>
          <a:graphicData uri="http://schemas.openxmlformats.org/drawingml/2006/table">
            <a:tbl>
              <a:tblPr firstRow="1" bandRow="1">
                <a:tableStyleId>{5C22544A-7EE6-4342-B048-85BDC9FD1C3A}</a:tableStyleId>
              </a:tblPr>
              <a:tblGrid>
                <a:gridCol w="2032000"/>
                <a:gridCol w="2032000"/>
                <a:gridCol w="2032000"/>
              </a:tblGrid>
              <a:tr h="866775">
                <a:tc>
                  <a:txBody>
                    <a:bodyPr/>
                    <a:lstStyle/>
                    <a:p>
                      <a:pPr algn="ctr"/>
                      <a:r>
                        <a:rPr lang="en-US" sz="1200" b="1" dirty="0">
                          <a:effectLst/>
                        </a:rPr>
                        <a:t/>
                      </a:r>
                      <a:br>
                        <a:rPr lang="en-US" sz="1200" b="1" dirty="0">
                          <a:effectLst/>
                        </a:rPr>
                      </a:br>
                      <a:endParaRPr lang="en-US" sz="3000" dirty="0">
                        <a:effectLst/>
                      </a:endParaRPr>
                    </a:p>
                  </a:txBody>
                  <a:tcPr marL="44882" marR="44882" marT="38100" marB="38100" anchor="ctr"/>
                </a:tc>
                <a:tc>
                  <a:txBody>
                    <a:bodyPr/>
                    <a:lstStyle/>
                    <a:p>
                      <a:pPr algn="ctr"/>
                      <a:r>
                        <a:rPr lang="en-US" sz="3300" b="1" dirty="0" smtClean="0">
                          <a:effectLst/>
                        </a:rPr>
                        <a:t>a</a:t>
                      </a:r>
                      <a:endParaRPr lang="en-US" sz="3000" dirty="0">
                        <a:effectLst/>
                      </a:endParaRPr>
                    </a:p>
                  </a:txBody>
                  <a:tcPr marL="44882" marR="44882" marT="38100" marB="38100" anchor="ctr"/>
                </a:tc>
                <a:tc>
                  <a:txBody>
                    <a:bodyPr/>
                    <a:lstStyle/>
                    <a:p>
                      <a:pPr algn="ctr"/>
                      <a:r>
                        <a:rPr lang="en-US" sz="3000" b="1" dirty="0" smtClean="0">
                          <a:effectLst/>
                        </a:rPr>
                        <a:t>b</a:t>
                      </a:r>
                      <a:endParaRPr lang="en-US" sz="3000" dirty="0"/>
                    </a:p>
                  </a:txBody>
                  <a:tcPr marL="43087" marR="43087" marT="22860" marB="22860"/>
                </a:tc>
              </a:tr>
              <a:tr h="866775">
                <a:tc>
                  <a:txBody>
                    <a:bodyPr/>
                    <a:lstStyle/>
                    <a:p>
                      <a:pPr algn="ctr"/>
                      <a:r>
                        <a:rPr lang="en-US" sz="2700" dirty="0">
                          <a:effectLst/>
                        </a:rPr>
                        <a:t>→</a:t>
                      </a:r>
                      <a:r>
                        <a:rPr lang="en-US" sz="2700" b="1" dirty="0">
                          <a:effectLst/>
                        </a:rPr>
                        <a:t>q0</a:t>
                      </a:r>
                      <a:endParaRPr lang="en-US" sz="6900" dirty="0">
                        <a:effectLst/>
                      </a:endParaRPr>
                    </a:p>
                  </a:txBody>
                  <a:tcPr marL="44882" marR="44882" marT="38100" marB="38100" anchor="ctr"/>
                </a:tc>
                <a:tc>
                  <a:txBody>
                    <a:bodyPr/>
                    <a:lstStyle/>
                    <a:p>
                      <a:pPr algn="ctr"/>
                      <a:r>
                        <a:rPr lang="en-US" sz="2400" dirty="0">
                          <a:effectLst/>
                        </a:rPr>
                        <a:t>*q1</a:t>
                      </a:r>
                    </a:p>
                  </a:txBody>
                  <a:tcPr marL="44882" marR="44882" marT="38100" marB="38100" anchor="ctr"/>
                </a:tc>
                <a:tc>
                  <a:txBody>
                    <a:bodyPr/>
                    <a:lstStyle/>
                    <a:p>
                      <a:pPr algn="ctr"/>
                      <a:r>
                        <a:rPr lang="en-US" sz="2400">
                          <a:effectLst/>
                        </a:rPr>
                        <a:t>q0</a:t>
                      </a:r>
                    </a:p>
                  </a:txBody>
                  <a:tcPr marL="44882" marR="44882" marT="38100" marB="38100" anchor="ctr"/>
                </a:tc>
              </a:tr>
              <a:tr h="866775">
                <a:tc>
                  <a:txBody>
                    <a:bodyPr/>
                    <a:lstStyle/>
                    <a:p>
                      <a:pPr algn="ctr"/>
                      <a:r>
                        <a:rPr lang="en-US" sz="2700" b="1" dirty="0">
                          <a:effectLst/>
                        </a:rPr>
                        <a:t>*q1</a:t>
                      </a:r>
                      <a:endParaRPr lang="en-US" sz="6900" dirty="0">
                        <a:effectLst/>
                      </a:endParaRPr>
                    </a:p>
                  </a:txBody>
                  <a:tcPr marL="44882" marR="44882" marT="38100" marB="38100" anchor="ctr"/>
                </a:tc>
                <a:tc>
                  <a:txBody>
                    <a:bodyPr/>
                    <a:lstStyle/>
                    <a:p>
                      <a:pPr algn="ctr"/>
                      <a:r>
                        <a:rPr lang="en-US" sz="2400" dirty="0">
                          <a:effectLst/>
                        </a:rPr>
                        <a:t>*q2</a:t>
                      </a:r>
                    </a:p>
                  </a:txBody>
                  <a:tcPr marL="44882" marR="44882" marT="38100" marB="38100" anchor="ctr"/>
                </a:tc>
                <a:tc>
                  <a:txBody>
                    <a:bodyPr/>
                    <a:lstStyle/>
                    <a:p>
                      <a:pPr algn="ctr"/>
                      <a:r>
                        <a:rPr lang="en-US" sz="2400" dirty="0">
                          <a:effectLst/>
                        </a:rPr>
                        <a:t>*q1</a:t>
                      </a:r>
                    </a:p>
                  </a:txBody>
                  <a:tcPr marL="44882" marR="44882" marT="38100" marB="38100" anchor="ctr"/>
                </a:tc>
              </a:tr>
              <a:tr h="866775">
                <a:tc>
                  <a:txBody>
                    <a:bodyPr/>
                    <a:lstStyle/>
                    <a:p>
                      <a:pPr algn="ctr"/>
                      <a:r>
                        <a:rPr lang="en-US" sz="2700" b="1" dirty="0">
                          <a:effectLst/>
                        </a:rPr>
                        <a:t>*q2</a:t>
                      </a:r>
                      <a:endParaRPr lang="en-US" sz="6900" dirty="0">
                        <a:effectLst/>
                      </a:endParaRPr>
                    </a:p>
                  </a:txBody>
                  <a:tcPr marL="44882" marR="44882" marT="38100" marB="38100" anchor="ctr"/>
                </a:tc>
                <a:tc>
                  <a:txBody>
                    <a:bodyPr/>
                    <a:lstStyle/>
                    <a:p>
                      <a:pPr algn="ctr"/>
                      <a:r>
                        <a:rPr lang="en-US" sz="2400">
                          <a:effectLst/>
                        </a:rPr>
                        <a:t>*q1</a:t>
                      </a:r>
                    </a:p>
                  </a:txBody>
                  <a:tcPr marL="44882" marR="44882" marT="38100" marB="38100" anchor="ctr"/>
                </a:tc>
                <a:tc>
                  <a:txBody>
                    <a:bodyPr/>
                    <a:lstStyle/>
                    <a:p>
                      <a:pPr algn="ctr"/>
                      <a:r>
                        <a:rPr lang="en-US" sz="2400" dirty="0">
                          <a:effectLst/>
                        </a:rPr>
                        <a:t>*q2</a:t>
                      </a:r>
                    </a:p>
                  </a:txBody>
                  <a:tcPr marL="44882" marR="44882" marT="38100" marB="38100" anchor="ctr"/>
                </a:tc>
              </a:tr>
            </a:tbl>
          </a:graphicData>
        </a:graphic>
      </p:graphicFrame>
    </p:spTree>
    <p:extLst>
      <p:ext uri="{BB962C8B-B14F-4D97-AF65-F5344CB8AC3E}">
        <p14:creationId xmlns:p14="http://schemas.microsoft.com/office/powerpoint/2010/main" val="13850232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
            <a:ext cx="8229600" cy="5935664"/>
          </a:xfrm>
        </p:spPr>
        <p:txBody>
          <a:bodyPr/>
          <a:lstStyle/>
          <a:p>
            <a:pPr marL="0" indent="0">
              <a:buNone/>
            </a:pPr>
            <a:r>
              <a:rPr lang="en-US" b="1" u="sng" dirty="0"/>
              <a:t>Step-03</a:t>
            </a:r>
            <a:r>
              <a:rPr lang="en-US" b="1" u="sng" dirty="0" smtClean="0"/>
              <a:t>:</a:t>
            </a:r>
            <a:r>
              <a:rPr lang="en-US" dirty="0"/>
              <a:t> </a:t>
            </a:r>
          </a:p>
          <a:p>
            <a:r>
              <a:rPr lang="en-US" dirty="0"/>
              <a:t>Now using Equivalence Theorem, we have-</a:t>
            </a:r>
          </a:p>
          <a:p>
            <a:r>
              <a:rPr lang="en-US" dirty="0"/>
              <a:t>P</a:t>
            </a:r>
            <a:r>
              <a:rPr lang="en-US" baseline="-25000" dirty="0"/>
              <a:t>0</a:t>
            </a:r>
            <a:r>
              <a:rPr lang="en-US" dirty="0"/>
              <a:t> = { q</a:t>
            </a:r>
            <a:r>
              <a:rPr lang="en-US" baseline="-25000" dirty="0"/>
              <a:t>0</a:t>
            </a:r>
            <a:r>
              <a:rPr lang="en-US" dirty="0"/>
              <a:t> } { q</a:t>
            </a:r>
            <a:r>
              <a:rPr lang="en-US" baseline="-25000" dirty="0"/>
              <a:t>1</a:t>
            </a:r>
            <a:r>
              <a:rPr lang="en-US" dirty="0"/>
              <a:t> , q</a:t>
            </a:r>
            <a:r>
              <a:rPr lang="en-US" baseline="-25000" dirty="0"/>
              <a:t>2</a:t>
            </a:r>
            <a:r>
              <a:rPr lang="en-US" dirty="0"/>
              <a:t> }</a:t>
            </a:r>
          </a:p>
          <a:p>
            <a:r>
              <a:rPr lang="en-US" dirty="0"/>
              <a:t>P</a:t>
            </a:r>
            <a:r>
              <a:rPr lang="en-US" baseline="-25000" dirty="0"/>
              <a:t>1</a:t>
            </a:r>
            <a:r>
              <a:rPr lang="en-US" dirty="0"/>
              <a:t> = { q</a:t>
            </a:r>
            <a:r>
              <a:rPr lang="en-US" baseline="-25000" dirty="0"/>
              <a:t>0</a:t>
            </a:r>
            <a:r>
              <a:rPr lang="en-US" dirty="0"/>
              <a:t> } { q</a:t>
            </a:r>
            <a:r>
              <a:rPr lang="en-US" baseline="-25000" dirty="0"/>
              <a:t>1</a:t>
            </a:r>
            <a:r>
              <a:rPr lang="en-US" dirty="0"/>
              <a:t> , q</a:t>
            </a:r>
            <a:r>
              <a:rPr lang="en-US" baseline="-25000" dirty="0"/>
              <a:t>2</a:t>
            </a:r>
            <a:r>
              <a:rPr lang="en-US" dirty="0"/>
              <a:t> }</a:t>
            </a:r>
          </a:p>
          <a:p>
            <a:r>
              <a:rPr lang="en-US" dirty="0"/>
              <a:t> </a:t>
            </a:r>
          </a:p>
          <a:p>
            <a:r>
              <a:rPr lang="en-US" dirty="0"/>
              <a:t>Since P</a:t>
            </a:r>
            <a:r>
              <a:rPr lang="en-US" baseline="-25000" dirty="0"/>
              <a:t>1</a:t>
            </a:r>
            <a:r>
              <a:rPr lang="en-US" dirty="0"/>
              <a:t> = P</a:t>
            </a:r>
            <a:r>
              <a:rPr lang="en-US" baseline="-25000" dirty="0"/>
              <a:t>0</a:t>
            </a:r>
            <a:r>
              <a:rPr lang="en-US" dirty="0"/>
              <a:t>, so we stop.</a:t>
            </a:r>
          </a:p>
          <a:p>
            <a:r>
              <a:rPr lang="en-US" dirty="0"/>
              <a:t>From P</a:t>
            </a:r>
            <a:r>
              <a:rPr lang="en-US" baseline="-25000" dirty="0"/>
              <a:t>1</a:t>
            </a:r>
            <a:r>
              <a:rPr lang="en-US" dirty="0"/>
              <a:t>, we infer that states q</a:t>
            </a:r>
            <a:r>
              <a:rPr lang="en-US" baseline="-25000" dirty="0"/>
              <a:t>1</a:t>
            </a:r>
            <a:r>
              <a:rPr lang="en-US" dirty="0"/>
              <a:t> and q</a:t>
            </a:r>
            <a:r>
              <a:rPr lang="en-US" baseline="-25000" dirty="0"/>
              <a:t>2</a:t>
            </a:r>
            <a:r>
              <a:rPr lang="en-US" dirty="0"/>
              <a:t> are equivalent and can be merged together.</a:t>
            </a:r>
          </a:p>
          <a:p>
            <a:endParaRPr lang="en-US" dirty="0"/>
          </a:p>
        </p:txBody>
      </p:sp>
    </p:spTree>
    <p:extLst>
      <p:ext uri="{BB962C8B-B14F-4D97-AF65-F5344CB8AC3E}">
        <p14:creationId xmlns:p14="http://schemas.microsoft.com/office/powerpoint/2010/main" val="198259707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
            <a:ext cx="8229600" cy="5935664"/>
          </a:xfrm>
        </p:spPr>
        <p:txBody>
          <a:bodyPr/>
          <a:lstStyle/>
          <a:p>
            <a:pPr marL="0" indent="0">
              <a:buNone/>
            </a:pPr>
            <a:r>
              <a:rPr lang="en-US" dirty="0"/>
              <a:t>So, Our minimal DFA is-</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7256" y="1333500"/>
            <a:ext cx="4681311"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870909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err="1"/>
              <a:t>Myhill-Nerode</a:t>
            </a:r>
            <a:r>
              <a:rPr lang="en-US" dirty="0"/>
              <a:t> </a:t>
            </a:r>
            <a:r>
              <a:rPr lang="en-US" dirty="0" smtClean="0"/>
              <a:t>Theorem</a:t>
            </a:r>
            <a:br>
              <a:rPr lang="en-US" dirty="0" smtClean="0"/>
            </a:br>
            <a:r>
              <a:rPr lang="en-US" dirty="0" smtClean="0"/>
              <a:t>(Table Filling Method)</a:t>
            </a:r>
            <a:endParaRPr lang="en-US" dirty="0"/>
          </a:p>
        </p:txBody>
      </p:sp>
      <p:sp>
        <p:nvSpPr>
          <p:cNvPr id="3" name="Content Placeholder 2"/>
          <p:cNvSpPr>
            <a:spLocks noGrp="1"/>
          </p:cNvSpPr>
          <p:nvPr>
            <p:ph idx="1"/>
          </p:nvPr>
        </p:nvSpPr>
        <p:spPr/>
        <p:txBody>
          <a:bodyPr/>
          <a:lstStyle/>
          <a:p>
            <a:r>
              <a:rPr lang="en-US" dirty="0" smtClean="0"/>
              <a:t>This </a:t>
            </a:r>
            <a:r>
              <a:rPr lang="en-US" dirty="0"/>
              <a:t>theorem states that a language L is regular if and only if L~ has a finite number of equivalence classes. Furthermore, if this finite number of equivalence classes is N, then N is the number of states in </a:t>
            </a:r>
            <a:r>
              <a:rPr lang="en-US" dirty="0" smtClean="0"/>
              <a:t>minimal</a:t>
            </a:r>
            <a:r>
              <a:rPr lang="en-US" dirty="0"/>
              <a:t> DFA (Deterministic Finite Automaton) recognizing L</a:t>
            </a:r>
          </a:p>
        </p:txBody>
      </p:sp>
    </p:spTree>
    <p:extLst>
      <p:ext uri="{BB962C8B-B14F-4D97-AF65-F5344CB8AC3E}">
        <p14:creationId xmlns:p14="http://schemas.microsoft.com/office/powerpoint/2010/main" val="385983562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7403" y="114300"/>
            <a:ext cx="8725099" cy="6286500"/>
          </a:xfrm>
        </p:spPr>
        <p:txBody>
          <a:bodyPr/>
          <a:lstStyle/>
          <a:p>
            <a:pPr marL="0" indent="0" algn="ctr">
              <a:buNone/>
            </a:pPr>
            <a:r>
              <a:rPr lang="en-US" sz="2900" b="1" dirty="0"/>
              <a:t>Algorithm</a:t>
            </a:r>
            <a:endParaRPr lang="en-US" sz="2900" b="1" dirty="0"/>
          </a:p>
          <a:p>
            <a:pPr marL="0" indent="0">
              <a:buNone/>
            </a:pPr>
            <a:r>
              <a:rPr lang="en-US" sz="2300" dirty="0"/>
              <a:t>1) Create </a:t>
            </a:r>
            <a:r>
              <a:rPr lang="en-US" sz="2300" dirty="0"/>
              <a:t>a table with all possible pairs of states from the given DFA. Each cell in the table will represent a pair of states, like (A, B), (C, D), etc.</a:t>
            </a:r>
          </a:p>
          <a:p>
            <a:pPr marL="0" indent="0">
              <a:buNone/>
            </a:pPr>
            <a:r>
              <a:rPr lang="en-US" sz="2300" dirty="0"/>
              <a:t>2) Mark </a:t>
            </a:r>
            <a:r>
              <a:rPr lang="en-US" sz="2300" dirty="0"/>
              <a:t>all pairs where P belongs to the final state, and Q does not belong to the final state. This means that for each pair of states in the table, check whether one state is a final state, and the other is not. </a:t>
            </a:r>
          </a:p>
          <a:p>
            <a:pPr marL="0" indent="0">
              <a:buNone/>
            </a:pPr>
            <a:r>
              <a:rPr lang="en-US" sz="2300" dirty="0"/>
              <a:t>3) After </a:t>
            </a:r>
            <a:r>
              <a:rPr lang="en-US" sz="2300" dirty="0"/>
              <a:t>marking the pairs in the second step, we move on to the unmarked pairs. For each unmarked pair (P, Q), check their transitions on every input symbol (X). If both P and Q transition to a pair that is already marked in the table, then mark the pair (P, Q).</a:t>
            </a:r>
          </a:p>
          <a:p>
            <a:pPr marL="0" indent="0">
              <a:buNone/>
            </a:pPr>
            <a:r>
              <a:rPr lang="en-US" sz="2300" dirty="0"/>
              <a:t>4) Repeat </a:t>
            </a:r>
            <a:r>
              <a:rPr lang="en-US" sz="2300" dirty="0"/>
              <a:t>step 3 until you cannot make any new markings in the table. This means we have exhausted all possible combinations and identified all the distinguishable pairs of states.</a:t>
            </a:r>
          </a:p>
          <a:p>
            <a:pPr marL="0" indent="0">
              <a:buNone/>
            </a:pPr>
            <a:r>
              <a:rPr lang="en-US" sz="2300" dirty="0"/>
              <a:t>5) At </a:t>
            </a:r>
            <a:r>
              <a:rPr lang="en-US" sz="2300" dirty="0"/>
              <a:t>the end combine all the unmarked pairs and make them a single state in the minimized DFA.</a:t>
            </a:r>
          </a:p>
          <a:p>
            <a:endParaRPr lang="en-US" sz="1900" dirty="0"/>
          </a:p>
        </p:txBody>
      </p:sp>
    </p:spTree>
    <p:extLst>
      <p:ext uri="{BB962C8B-B14F-4D97-AF65-F5344CB8AC3E}">
        <p14:creationId xmlns:p14="http://schemas.microsoft.com/office/powerpoint/2010/main" val="144854126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25462"/>
          </a:xfrm>
        </p:spPr>
        <p:txBody>
          <a:bodyPr/>
          <a:lstStyle/>
          <a:p>
            <a:r>
              <a:rPr lang="en-US" sz="3200" dirty="0"/>
              <a:t>Example1 </a:t>
            </a:r>
            <a:r>
              <a:rPr lang="en-US" sz="3200" dirty="0"/>
              <a:t>of </a:t>
            </a:r>
            <a:r>
              <a:rPr lang="en-US" sz="2900" dirty="0" err="1"/>
              <a:t>Myhill-Nerode</a:t>
            </a:r>
            <a:r>
              <a:rPr lang="en-US" sz="3200" dirty="0"/>
              <a:t> Theorem</a:t>
            </a:r>
            <a:br>
              <a:rPr lang="en-US" sz="3200" dirty="0"/>
            </a:br>
            <a:endParaRPr lang="en-US" sz="3200" dirty="0"/>
          </a:p>
        </p:txBody>
      </p:sp>
      <p:sp>
        <p:nvSpPr>
          <p:cNvPr id="3" name="Content Placeholder 2"/>
          <p:cNvSpPr>
            <a:spLocks noGrp="1"/>
          </p:cNvSpPr>
          <p:nvPr>
            <p:ph idx="1"/>
          </p:nvPr>
        </p:nvSpPr>
        <p:spPr>
          <a:xfrm>
            <a:off x="457200" y="723900"/>
            <a:ext cx="8229600" cy="5402264"/>
          </a:xfrm>
        </p:spPr>
        <p:txBody>
          <a:bodyPr/>
          <a:lstStyle/>
          <a:p>
            <a:r>
              <a:rPr lang="en-US" sz="2600" dirty="0"/>
              <a:t>Consider we have a DFA like below −</a:t>
            </a:r>
            <a:br>
              <a:rPr lang="en-US" sz="2600" dirty="0"/>
            </a:br>
            <a:endParaRPr lang="en-US" sz="2600"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115" y="1219200"/>
            <a:ext cx="6709762"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2052" y="4737100"/>
            <a:ext cx="5206335" cy="1506544"/>
          </a:xfrm>
          <a:prstGeom prst="rect">
            <a:avLst/>
          </a:prstGeom>
        </p:spPr>
        <p:txBody>
          <a:bodyPr wrap="square" lIns="44175" tIns="22087" rIns="44175" bIns="22087">
            <a:spAutoFit/>
          </a:bodyPr>
          <a:lstStyle/>
          <a:p>
            <a:r>
              <a:rPr lang="en-US" sz="1900" dirty="0"/>
              <a:t>Here,</a:t>
            </a:r>
          </a:p>
          <a:p>
            <a:r>
              <a:rPr lang="en-US" sz="1900" dirty="0"/>
              <a:t>States: {A, B, C, D, E, F}</a:t>
            </a:r>
          </a:p>
          <a:p>
            <a:r>
              <a:rPr lang="en-US" sz="1900" dirty="0"/>
              <a:t>Input Symbols: {0, 1}</a:t>
            </a:r>
          </a:p>
          <a:p>
            <a:r>
              <a:rPr lang="en-US" sz="1900" dirty="0"/>
              <a:t>Start State: A</a:t>
            </a:r>
          </a:p>
          <a:p>
            <a:r>
              <a:rPr lang="en-US" sz="1900" dirty="0"/>
              <a:t>Final States: {C, D, E}</a:t>
            </a:r>
            <a:endParaRPr lang="en-US" sz="1900" dirty="0"/>
          </a:p>
        </p:txBody>
      </p:sp>
    </p:spTree>
    <p:extLst>
      <p:ext uri="{BB962C8B-B14F-4D97-AF65-F5344CB8AC3E}">
        <p14:creationId xmlns:p14="http://schemas.microsoft.com/office/powerpoint/2010/main" val="180503683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4"/>
          </a:xfrm>
        </p:spPr>
        <p:txBody>
          <a:bodyPr/>
          <a:lstStyle/>
          <a:p>
            <a:r>
              <a:rPr lang="en-US" dirty="0"/>
              <a:t>The state transition table will be like the shown here </a:t>
            </a:r>
            <a:r>
              <a:rPr lang="en-US" dirty="0" smtClean="0"/>
              <a: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16756471"/>
              </p:ext>
            </p:extLst>
          </p:nvPr>
        </p:nvGraphicFramePr>
        <p:xfrm>
          <a:off x="1520010" y="1790700"/>
          <a:ext cx="6096001" cy="4251678"/>
        </p:xfrm>
        <a:graphic>
          <a:graphicData uri="http://schemas.openxmlformats.org/drawingml/2006/table">
            <a:tbl>
              <a:tblPr firstRow="1" bandRow="1">
                <a:tableStyleId>{5C22544A-7EE6-4342-B048-85BDC9FD1C3A}</a:tableStyleId>
              </a:tblPr>
              <a:tblGrid>
                <a:gridCol w="2032000"/>
                <a:gridCol w="2032000"/>
                <a:gridCol w="2032000"/>
              </a:tblGrid>
              <a:tr h="708613">
                <a:tc>
                  <a:txBody>
                    <a:bodyPr/>
                    <a:lstStyle/>
                    <a:p>
                      <a:pPr algn="ctr"/>
                      <a:r>
                        <a:rPr lang="en-US" sz="900" b="1">
                          <a:solidFill>
                            <a:srgbClr val="000000"/>
                          </a:solidFill>
                          <a:effectLst/>
                          <a:latin typeface="inherit"/>
                        </a:rPr>
                        <a:t>State</a:t>
                      </a:r>
                    </a:p>
                  </a:txBody>
                  <a:tcPr marL="35906" marR="35906" marT="38100" marB="38100" anchor="ctr"/>
                </a:tc>
                <a:tc>
                  <a:txBody>
                    <a:bodyPr/>
                    <a:lstStyle/>
                    <a:p>
                      <a:pPr algn="ctr"/>
                      <a:r>
                        <a:rPr lang="en-US" sz="900" b="1">
                          <a:solidFill>
                            <a:srgbClr val="000000"/>
                          </a:solidFill>
                          <a:effectLst/>
                          <a:latin typeface="inherit"/>
                        </a:rPr>
                        <a:t>0</a:t>
                      </a:r>
                    </a:p>
                  </a:txBody>
                  <a:tcPr marL="35906" marR="35906" marT="38100" marB="38100" anchor="ctr"/>
                </a:tc>
                <a:tc>
                  <a:txBody>
                    <a:bodyPr/>
                    <a:lstStyle/>
                    <a:p>
                      <a:pPr algn="ctr"/>
                      <a:r>
                        <a:rPr lang="en-US" sz="900" b="1">
                          <a:solidFill>
                            <a:srgbClr val="000000"/>
                          </a:solidFill>
                          <a:effectLst/>
                          <a:latin typeface="inherit"/>
                        </a:rPr>
                        <a:t>1</a:t>
                      </a:r>
                    </a:p>
                  </a:txBody>
                  <a:tcPr marL="35906" marR="35906" marT="38100" marB="38100" anchor="ctr"/>
                </a:tc>
              </a:tr>
              <a:tr h="708613">
                <a:tc>
                  <a:txBody>
                    <a:bodyPr/>
                    <a:lstStyle/>
                    <a:p>
                      <a:pPr algn="ctr"/>
                      <a:r>
                        <a:rPr lang="en-US" sz="900">
                          <a:effectLst/>
                        </a:rPr>
                        <a:t>A</a:t>
                      </a:r>
                    </a:p>
                  </a:txBody>
                  <a:tcPr marL="35906" marR="35906" marT="38100" marB="38100" anchor="ctr"/>
                </a:tc>
                <a:tc>
                  <a:txBody>
                    <a:bodyPr/>
                    <a:lstStyle/>
                    <a:p>
                      <a:pPr algn="ctr"/>
                      <a:r>
                        <a:rPr lang="en-US" sz="900">
                          <a:effectLst/>
                        </a:rPr>
                        <a:t>B</a:t>
                      </a:r>
                    </a:p>
                  </a:txBody>
                  <a:tcPr marL="35906" marR="35906" marT="38100" marB="38100" anchor="ctr"/>
                </a:tc>
                <a:tc>
                  <a:txBody>
                    <a:bodyPr/>
                    <a:lstStyle/>
                    <a:p>
                      <a:pPr algn="ctr"/>
                      <a:r>
                        <a:rPr lang="en-US" sz="900">
                          <a:effectLst/>
                        </a:rPr>
                        <a:t>C</a:t>
                      </a:r>
                    </a:p>
                  </a:txBody>
                  <a:tcPr marL="35906" marR="35906" marT="38100" marB="38100" anchor="ctr"/>
                </a:tc>
              </a:tr>
              <a:tr h="708613">
                <a:tc>
                  <a:txBody>
                    <a:bodyPr/>
                    <a:lstStyle/>
                    <a:p>
                      <a:pPr algn="ctr"/>
                      <a:r>
                        <a:rPr lang="en-US" sz="900">
                          <a:effectLst/>
                        </a:rPr>
                        <a:t>B</a:t>
                      </a:r>
                    </a:p>
                  </a:txBody>
                  <a:tcPr marL="35906" marR="35906" marT="38100" marB="38100" anchor="ctr"/>
                </a:tc>
                <a:tc>
                  <a:txBody>
                    <a:bodyPr/>
                    <a:lstStyle/>
                    <a:p>
                      <a:pPr algn="ctr"/>
                      <a:r>
                        <a:rPr lang="en-US" sz="900">
                          <a:effectLst/>
                        </a:rPr>
                        <a:t>A</a:t>
                      </a:r>
                    </a:p>
                  </a:txBody>
                  <a:tcPr marL="35906" marR="35906" marT="38100" marB="38100" anchor="ctr"/>
                </a:tc>
                <a:tc>
                  <a:txBody>
                    <a:bodyPr/>
                    <a:lstStyle/>
                    <a:p>
                      <a:pPr algn="ctr"/>
                      <a:r>
                        <a:rPr lang="en-US" sz="900">
                          <a:effectLst/>
                        </a:rPr>
                        <a:t>D</a:t>
                      </a:r>
                    </a:p>
                  </a:txBody>
                  <a:tcPr marL="35906" marR="35906" marT="38100" marB="38100" anchor="ctr"/>
                </a:tc>
              </a:tr>
              <a:tr h="708613">
                <a:tc>
                  <a:txBody>
                    <a:bodyPr/>
                    <a:lstStyle/>
                    <a:p>
                      <a:pPr algn="ctr"/>
                      <a:r>
                        <a:rPr lang="en-US" sz="900">
                          <a:effectLst/>
                        </a:rPr>
                        <a:t>C</a:t>
                      </a:r>
                    </a:p>
                  </a:txBody>
                  <a:tcPr marL="35906" marR="35906" marT="38100" marB="38100" anchor="ctr"/>
                </a:tc>
                <a:tc>
                  <a:txBody>
                    <a:bodyPr/>
                    <a:lstStyle/>
                    <a:p>
                      <a:pPr algn="ctr"/>
                      <a:r>
                        <a:rPr lang="en-US" sz="900">
                          <a:effectLst/>
                        </a:rPr>
                        <a:t>E</a:t>
                      </a:r>
                    </a:p>
                  </a:txBody>
                  <a:tcPr marL="35906" marR="35906" marT="38100" marB="38100" anchor="ctr"/>
                </a:tc>
                <a:tc>
                  <a:txBody>
                    <a:bodyPr/>
                    <a:lstStyle/>
                    <a:p>
                      <a:pPr algn="ctr"/>
                      <a:r>
                        <a:rPr lang="en-US" sz="900">
                          <a:effectLst/>
                        </a:rPr>
                        <a:t>A</a:t>
                      </a:r>
                    </a:p>
                  </a:txBody>
                  <a:tcPr marL="35906" marR="35906" marT="38100" marB="38100" anchor="ctr"/>
                </a:tc>
              </a:tr>
              <a:tr h="708613">
                <a:tc>
                  <a:txBody>
                    <a:bodyPr/>
                    <a:lstStyle/>
                    <a:p>
                      <a:pPr algn="ctr"/>
                      <a:r>
                        <a:rPr lang="en-US" sz="900">
                          <a:effectLst/>
                        </a:rPr>
                        <a:t>D</a:t>
                      </a:r>
                    </a:p>
                  </a:txBody>
                  <a:tcPr marL="35906" marR="35906" marT="38100" marB="38100" anchor="ctr"/>
                </a:tc>
                <a:tc>
                  <a:txBody>
                    <a:bodyPr/>
                    <a:lstStyle/>
                    <a:p>
                      <a:pPr algn="ctr"/>
                      <a:r>
                        <a:rPr lang="en-US" sz="900">
                          <a:effectLst/>
                        </a:rPr>
                        <a:t>E</a:t>
                      </a:r>
                    </a:p>
                  </a:txBody>
                  <a:tcPr marL="35906" marR="35906" marT="38100" marB="38100" anchor="ctr"/>
                </a:tc>
                <a:tc>
                  <a:txBody>
                    <a:bodyPr/>
                    <a:lstStyle/>
                    <a:p>
                      <a:pPr algn="ctr"/>
                      <a:r>
                        <a:rPr lang="en-US" sz="900">
                          <a:effectLst/>
                        </a:rPr>
                        <a:t>F</a:t>
                      </a:r>
                    </a:p>
                  </a:txBody>
                  <a:tcPr marL="35906" marR="35906" marT="38100" marB="38100" anchor="ctr"/>
                </a:tc>
              </a:tr>
              <a:tr h="708613">
                <a:tc>
                  <a:txBody>
                    <a:bodyPr/>
                    <a:lstStyle/>
                    <a:p>
                      <a:pPr algn="ctr"/>
                      <a:r>
                        <a:rPr lang="en-US" sz="900">
                          <a:effectLst/>
                        </a:rPr>
                        <a:t>E</a:t>
                      </a:r>
                    </a:p>
                  </a:txBody>
                  <a:tcPr marL="35906" marR="35906" marT="38100" marB="38100" anchor="ctr"/>
                </a:tc>
                <a:tc>
                  <a:txBody>
                    <a:bodyPr/>
                    <a:lstStyle/>
                    <a:p>
                      <a:pPr algn="ctr"/>
                      <a:r>
                        <a:rPr lang="en-US" sz="900">
                          <a:effectLst/>
                        </a:rPr>
                        <a:t>E</a:t>
                      </a:r>
                    </a:p>
                  </a:txBody>
                  <a:tcPr marL="35906" marR="35906" marT="38100" marB="38100" anchor="ctr"/>
                </a:tc>
                <a:tc>
                  <a:txBody>
                    <a:bodyPr/>
                    <a:lstStyle/>
                    <a:p>
                      <a:pPr algn="ctr"/>
                      <a:r>
                        <a:rPr lang="en-US" sz="900" dirty="0">
                          <a:effectLst/>
                        </a:rPr>
                        <a:t>F</a:t>
                      </a:r>
                    </a:p>
                  </a:txBody>
                  <a:tcPr marL="35906" marR="35906" marT="38100" marB="38100" anchor="ctr"/>
                </a:tc>
              </a:tr>
            </a:tbl>
          </a:graphicData>
        </a:graphic>
      </p:graphicFrame>
    </p:spTree>
    <p:extLst>
      <p:ext uri="{BB962C8B-B14F-4D97-AF65-F5344CB8AC3E}">
        <p14:creationId xmlns:p14="http://schemas.microsoft.com/office/powerpoint/2010/main" val="1651470362"/>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6700"/>
            <a:ext cx="8229600" cy="5859464"/>
          </a:xfrm>
        </p:spPr>
        <p:txBody>
          <a:bodyPr/>
          <a:lstStyle/>
          <a:p>
            <a:r>
              <a:rPr lang="en-US" sz="2600" dirty="0"/>
              <a:t>To make the table for the theorem we need 6 × 6 table, but the upper triangle is not needed, so we can remove them.</a:t>
            </a:r>
          </a:p>
        </p:txBody>
      </p:sp>
      <p:sp>
        <p:nvSpPr>
          <p:cNvPr id="4" name="Rectangle 3"/>
          <p:cNvSpPr/>
          <p:nvPr/>
        </p:nvSpPr>
        <p:spPr>
          <a:xfrm>
            <a:off x="634335" y="5660683"/>
            <a:ext cx="7779581" cy="367771"/>
          </a:xfrm>
          <a:prstGeom prst="rect">
            <a:avLst/>
          </a:prstGeom>
        </p:spPr>
        <p:txBody>
          <a:bodyPr wrap="square" lIns="44175" tIns="22087" rIns="44175" bIns="22087">
            <a:spAutoFit/>
          </a:bodyPr>
          <a:lstStyle/>
          <a:p>
            <a:r>
              <a:rPr lang="en-US" sz="2100" dirty="0"/>
              <a:t>After the first step, we jump to the second step to fill the table </a:t>
            </a:r>
            <a:r>
              <a:rPr lang="en-US" sz="2100" dirty="0">
                <a:latin typeface="Calibri"/>
                <a:cs typeface="Calibri"/>
              </a:rPr>
              <a:t>↑</a:t>
            </a:r>
            <a:endParaRPr lang="en-US" sz="2100" dirty="0"/>
          </a:p>
        </p:txBody>
      </p:sp>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215" y="1574007"/>
            <a:ext cx="3985539" cy="370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125" y="1561307"/>
            <a:ext cx="3949634" cy="357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619338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4"/>
          </a:xfrm>
        </p:spPr>
        <p:txBody>
          <a:bodyPr/>
          <a:lstStyle/>
          <a:p>
            <a:r>
              <a:rPr lang="en-US" sz="2300" dirty="0"/>
              <a:t>For a pair (B, A), check −</a:t>
            </a:r>
          </a:p>
          <a:p>
            <a:pPr marL="0" indent="0">
              <a:buNone/>
            </a:pPr>
            <a:r>
              <a:rPr lang="en-US" sz="2300" dirty="0"/>
              <a:t>δ(B, 0) = A and δ(A, 0) = B, since the new pair (B, A) is not marked, nothing will be marked now.</a:t>
            </a:r>
          </a:p>
          <a:p>
            <a:pPr marL="0" indent="0">
              <a:buNone/>
            </a:pPr>
            <a:r>
              <a:rPr lang="en-US" sz="2300" dirty="0"/>
              <a:t>δ(B, 1) = D and δ(A, 1) = C, since the new pair (C, D) is not marked, nothing will be marked now.</a:t>
            </a:r>
          </a:p>
          <a:p>
            <a:r>
              <a:rPr lang="en-US" sz="2300" dirty="0"/>
              <a:t>For a pair (D, C), check −</a:t>
            </a:r>
          </a:p>
          <a:p>
            <a:pPr marL="0" indent="0">
              <a:buNone/>
            </a:pPr>
            <a:r>
              <a:rPr lang="en-US" sz="2300" dirty="0"/>
              <a:t>δ(D, 0) = E and δ(C, 0) = E, since the new pair (E, E) is not in the table, nothing will be marked now.</a:t>
            </a:r>
          </a:p>
          <a:p>
            <a:pPr marL="0" indent="0">
              <a:buNone/>
            </a:pPr>
            <a:r>
              <a:rPr lang="en-US" sz="2300" dirty="0"/>
              <a:t>δ(D, 1) = F and δ(C, 1) = F, since the new pair (F, F) is not in the table, nothing will be marked now.</a:t>
            </a:r>
          </a:p>
          <a:p>
            <a:r>
              <a:rPr lang="en-US" sz="2300" dirty="0"/>
              <a:t>For a pair (E, C), check −</a:t>
            </a:r>
          </a:p>
          <a:p>
            <a:pPr marL="0" indent="0">
              <a:buNone/>
            </a:pPr>
            <a:r>
              <a:rPr lang="en-US" sz="2300" dirty="0"/>
              <a:t>δ(E, 0) = E and δ(C, 0) = E, since the new pair (E, E) is not in the table, nothing will be marked now.</a:t>
            </a:r>
          </a:p>
          <a:p>
            <a:pPr marL="0" indent="0">
              <a:buNone/>
            </a:pPr>
            <a:r>
              <a:rPr lang="en-US" sz="2300" dirty="0"/>
              <a:t>δ(E, 1) = F and δ(C, 1) = F, since the new pair (F, F) is not in the table, nothing will be marked now.</a:t>
            </a:r>
          </a:p>
          <a:p>
            <a:endParaRPr lang="en-US" sz="2100" dirty="0"/>
          </a:p>
        </p:txBody>
      </p:sp>
    </p:spTree>
    <p:extLst>
      <p:ext uri="{BB962C8B-B14F-4D97-AF65-F5344CB8AC3E}">
        <p14:creationId xmlns:p14="http://schemas.microsoft.com/office/powerpoint/2010/main" val="22015577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4"/>
          </a:xfrm>
        </p:spPr>
        <p:txBody>
          <a:bodyPr/>
          <a:lstStyle/>
          <a:p>
            <a:r>
              <a:rPr lang="en-US" sz="2300" dirty="0"/>
              <a:t>For a pair (E, D), check −</a:t>
            </a:r>
          </a:p>
          <a:p>
            <a:pPr marL="0" indent="0">
              <a:buNone/>
            </a:pPr>
            <a:r>
              <a:rPr lang="en-US" sz="2300" dirty="0"/>
              <a:t>δ(E, 0) = E and δ(D, 0) = E, since the new pair (E, E) is not in the table, nothing will be marked now.</a:t>
            </a:r>
          </a:p>
          <a:p>
            <a:pPr marL="0" indent="0">
              <a:buNone/>
            </a:pPr>
            <a:r>
              <a:rPr lang="en-US" sz="2300" dirty="0"/>
              <a:t>δ(E, 1) = F and δ(D, 1) = F, since the new pair (F, F) is not in the table, nothing will be marked now.</a:t>
            </a:r>
          </a:p>
          <a:p>
            <a:r>
              <a:rPr lang="en-US" sz="2300" dirty="0"/>
              <a:t>For a pair (F, A), check −</a:t>
            </a:r>
          </a:p>
          <a:p>
            <a:pPr marL="0" indent="0">
              <a:buNone/>
            </a:pPr>
            <a:r>
              <a:rPr lang="en-US" sz="2300" dirty="0"/>
              <a:t>δ(F, 0) = F and δ(A, 0) = B, since the new pair (F, B) is not marked, nothing will be marked now.</a:t>
            </a:r>
          </a:p>
          <a:p>
            <a:pPr marL="0" indent="0">
              <a:buNone/>
            </a:pPr>
            <a:r>
              <a:rPr lang="en-US" sz="2300" dirty="0"/>
              <a:t>δ(F, 1) = F and δ(A, 1) = C, since the new pair (F, C) is marked, then we have to mark the current pair (F, A) also.</a:t>
            </a:r>
          </a:p>
          <a:p>
            <a:r>
              <a:rPr lang="en-US" sz="2300" dirty="0"/>
              <a:t>For a pair (F, B), check −</a:t>
            </a:r>
          </a:p>
          <a:p>
            <a:pPr marL="0" indent="0">
              <a:buNone/>
            </a:pPr>
            <a:r>
              <a:rPr lang="en-US" sz="2300" dirty="0"/>
              <a:t>δ(F, 0) = F and δ(B, 0) = A, since the new pair (F, A) is marked in the previous step, we have to mark (F, B).</a:t>
            </a:r>
          </a:p>
          <a:p>
            <a:pPr marL="0" indent="0">
              <a:buNone/>
            </a:pPr>
            <a:r>
              <a:rPr lang="en-US" sz="2300" dirty="0"/>
              <a:t>δ(F, 1) = F and δ(B, 1) = C, since the new pair (F, C) is marked, then we have to mark the current pair (F, A) also.</a:t>
            </a:r>
          </a:p>
        </p:txBody>
      </p:sp>
    </p:spTree>
    <p:extLst>
      <p:ext uri="{BB962C8B-B14F-4D97-AF65-F5344CB8AC3E}">
        <p14:creationId xmlns:p14="http://schemas.microsoft.com/office/powerpoint/2010/main" val="317208956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4"/>
          </a:xfrm>
        </p:spPr>
        <p:txBody>
          <a:bodyPr/>
          <a:lstStyle/>
          <a:p>
            <a:r>
              <a:rPr lang="en-US" sz="2300" dirty="0"/>
              <a:t>Now let us see the </a:t>
            </a:r>
            <a:r>
              <a:rPr lang="en-US" sz="2300" b="1" dirty="0"/>
              <a:t>updated table</a:t>
            </a:r>
            <a:r>
              <a:rPr lang="en-US" sz="2300" dirty="0"/>
              <a:t> once −</a:t>
            </a:r>
            <a:endParaRPr lang="en-US" sz="2300" dirty="0"/>
          </a:p>
        </p:txBody>
      </p:sp>
      <p:sp>
        <p:nvSpPr>
          <p:cNvPr id="2" name="Rectangle 1"/>
          <p:cNvSpPr/>
          <p:nvPr/>
        </p:nvSpPr>
        <p:spPr>
          <a:xfrm>
            <a:off x="3746168" y="914400"/>
            <a:ext cx="4919089" cy="2306763"/>
          </a:xfrm>
          <a:prstGeom prst="rect">
            <a:avLst/>
          </a:prstGeom>
        </p:spPr>
        <p:txBody>
          <a:bodyPr wrap="square" lIns="44175" tIns="22087" rIns="44175" bIns="22087">
            <a:spAutoFit/>
          </a:bodyPr>
          <a:lstStyle/>
          <a:p>
            <a:r>
              <a:rPr lang="en-US" sz="2100" dirty="0"/>
              <a:t>In step 4, it states repeat step 3 until there is no other marks. You can check, but here we do not have any new marking in the next iteration. So go to the next step.</a:t>
            </a:r>
          </a:p>
          <a:p>
            <a:r>
              <a:rPr lang="en-US" sz="2100" dirty="0"/>
              <a:t>The unmarked pairs are (B, A), (D, C), (E, C), (E, D)</a:t>
            </a:r>
          </a:p>
          <a:p>
            <a:r>
              <a:rPr lang="en-US" sz="2100" dirty="0"/>
              <a:t>Now let us draw the </a:t>
            </a:r>
            <a:r>
              <a:rPr lang="en-US" sz="2100" b="1" dirty="0"/>
              <a:t>minimized DFA</a:t>
            </a:r>
            <a:r>
              <a:rPr lang="en-US" sz="2100" dirty="0"/>
              <a:t> −</a:t>
            </a:r>
          </a:p>
        </p:txBody>
      </p:sp>
      <p:sp>
        <p:nvSpPr>
          <p:cNvPr id="4" name="Rectangle 3"/>
          <p:cNvSpPr/>
          <p:nvPr/>
        </p:nvSpPr>
        <p:spPr>
          <a:xfrm>
            <a:off x="945518" y="5389905"/>
            <a:ext cx="7217058" cy="629381"/>
          </a:xfrm>
          <a:prstGeom prst="rect">
            <a:avLst/>
          </a:prstGeom>
        </p:spPr>
        <p:txBody>
          <a:bodyPr wrap="square" lIns="44175" tIns="22087" rIns="44175" bIns="22087">
            <a:spAutoFit/>
          </a:bodyPr>
          <a:lstStyle/>
          <a:p>
            <a:r>
              <a:rPr lang="en-US" sz="1900" dirty="0"/>
              <a:t>(D, C), (E, C), (E, D) contains the common elements so these are merged. And we are getting the minimized DFA</a:t>
            </a:r>
          </a:p>
        </p:txBody>
      </p:sp>
      <p:pic>
        <p:nvPicPr>
          <p:cNvPr id="153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2545" y="3669000"/>
            <a:ext cx="5062712" cy="1788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120" y="660544"/>
            <a:ext cx="3267424" cy="4373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647516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49262"/>
          </a:xfrm>
        </p:spPr>
        <p:txBody>
          <a:bodyPr/>
          <a:lstStyle/>
          <a:p>
            <a:r>
              <a:rPr lang="en-US" b="1" dirty="0" smtClean="0"/>
              <a:t>Example 2</a:t>
            </a:r>
            <a:endParaRPr lang="en-US" dirty="0"/>
          </a:p>
        </p:txBody>
      </p:sp>
      <p:sp>
        <p:nvSpPr>
          <p:cNvPr id="3" name="Content Placeholder 2"/>
          <p:cNvSpPr>
            <a:spLocks noGrp="1"/>
          </p:cNvSpPr>
          <p:nvPr>
            <p:ph idx="1"/>
          </p:nvPr>
        </p:nvSpPr>
        <p:spPr>
          <a:xfrm>
            <a:off x="457200" y="609600"/>
            <a:ext cx="8229600" cy="5516564"/>
          </a:xfrm>
        </p:spPr>
        <p:txBody>
          <a:bodyPr/>
          <a:lstStyle/>
          <a:p>
            <a:r>
              <a:rPr lang="en-US" sz="2600" dirty="0"/>
              <a:t>Minimize the following DFA using Table Filling Method</a:t>
            </a:r>
            <a:r>
              <a:rPr lang="en-US" dirty="0"/>
              <a:t>.</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649" y="1219200"/>
            <a:ext cx="8222419" cy="505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11086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4"/>
          </a:xfrm>
        </p:spPr>
        <p:txBody>
          <a:bodyPr/>
          <a:lstStyle/>
          <a:p>
            <a:pPr marL="0" indent="0">
              <a:buNone/>
            </a:pPr>
            <a:r>
              <a:rPr lang="en-US" dirty="0"/>
              <a:t>Steps</a:t>
            </a:r>
            <a:r>
              <a:rPr lang="en-US" dirty="0" smtClean="0"/>
              <a:t>:</a:t>
            </a:r>
            <a:endParaRPr lang="en-US" dirty="0"/>
          </a:p>
          <a:p>
            <a:r>
              <a:rPr lang="en-US" dirty="0"/>
              <a:t>Draw a table for all pairs of states (P, Q)</a:t>
            </a:r>
          </a:p>
          <a:p>
            <a:r>
              <a:rPr lang="en-US" dirty="0"/>
              <a:t>Mark all pairs where Pϵ F and Q∉F</a:t>
            </a:r>
          </a:p>
          <a:p>
            <a:r>
              <a:rPr lang="en-US" dirty="0"/>
              <a:t>If there are any Unmarked pairs (P, Q) such that [δ(P, x),δ(Q, x)] is marked, then mark [P, Q] where ‘x’ is an input symbol. Repeat this until no more marking can be made.</a:t>
            </a:r>
          </a:p>
          <a:p>
            <a:r>
              <a:rPr lang="en-US" dirty="0"/>
              <a:t>Combine all the unmarked pairs and make them a single state in the minimized DFA.</a:t>
            </a:r>
          </a:p>
        </p:txBody>
      </p:sp>
    </p:spTree>
    <p:extLst>
      <p:ext uri="{BB962C8B-B14F-4D97-AF65-F5344CB8AC3E}">
        <p14:creationId xmlns:p14="http://schemas.microsoft.com/office/powerpoint/2010/main" val="46074912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1662"/>
          </a:xfrm>
        </p:spPr>
        <p:txBody>
          <a:bodyPr/>
          <a:lstStyle/>
          <a:p>
            <a:r>
              <a:rPr lang="en-US" sz="3200" b="1" dirty="0"/>
              <a:t>Step 1:</a:t>
            </a:r>
            <a:r>
              <a:rPr lang="en-US" sz="3200" dirty="0"/>
              <a:t> Draw a table for all pairs of states (P, Q)</a:t>
            </a:r>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8199" y="1447800"/>
            <a:ext cx="5314052" cy="4229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73677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1662"/>
          </a:xfrm>
        </p:spPr>
        <p:txBody>
          <a:bodyPr/>
          <a:lstStyle/>
          <a:p>
            <a:r>
              <a:rPr lang="en-US" sz="3200" b="1" dirty="0"/>
              <a:t>Step </a:t>
            </a:r>
            <a:r>
              <a:rPr lang="en-US" sz="3200" b="1" dirty="0"/>
              <a:t>2:</a:t>
            </a:r>
            <a:r>
              <a:rPr lang="en-US" sz="3200" dirty="0"/>
              <a:t> Mark all pairs where Pϵ F and Q∉F</a:t>
            </a:r>
            <a:br>
              <a:rPr lang="en-US" sz="3200" dirty="0"/>
            </a:br>
            <a:endParaRPr lang="en-US" sz="3200" dirty="0"/>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60953" y="1257300"/>
            <a:ext cx="6498942" cy="470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755062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92" y="274638"/>
            <a:ext cx="8531208" cy="1143000"/>
          </a:xfrm>
        </p:spPr>
        <p:txBody>
          <a:bodyPr/>
          <a:lstStyle/>
          <a:p>
            <a:r>
              <a:rPr lang="en-US" sz="2300" dirty="0"/>
              <a:t>Step 3: If there are any Unmarked pairs (P, Q) such that [δ(P, x),δ(Q, x)] is marked, then mark [P, Q] where ‘x’ is an input symbol. Repeat this until no more marking can be made.</a:t>
            </a:r>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9214" y="1608038"/>
            <a:ext cx="8647649" cy="456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98141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sz="3500" dirty="0"/>
              <a:t>Step 4 :(A, C), B, D, E</a:t>
            </a:r>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81424" y="1447800"/>
            <a:ext cx="7037529" cy="4896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48222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FA16F0-8128-46F7-9048-C322A09ED940}"/>
              </a:ext>
            </a:extLst>
          </p:cNvPr>
          <p:cNvSpPr>
            <a:spLocks noGrp="1"/>
          </p:cNvSpPr>
          <p:nvPr>
            <p:ph type="title"/>
          </p:nvPr>
        </p:nvSpPr>
        <p:spPr>
          <a:xfrm>
            <a:off x="628650" y="239697"/>
            <a:ext cx="7886700" cy="870012"/>
          </a:xfrm>
        </p:spPr>
        <p:txBody>
          <a:bodyPr>
            <a:normAutofit/>
          </a:bodyPr>
          <a:lstStyle/>
          <a:p>
            <a:r>
              <a:rPr lang="en-IN" sz="3400" dirty="0"/>
              <a:t>Example 1        NFA to DFA  Conversion</a:t>
            </a:r>
          </a:p>
        </p:txBody>
      </p:sp>
      <p:sp>
        <p:nvSpPr>
          <p:cNvPr id="3" name="Content Placeholder 2">
            <a:extLst>
              <a:ext uri="{FF2B5EF4-FFF2-40B4-BE49-F238E27FC236}">
                <a16:creationId xmlns="" xmlns:a16="http://schemas.microsoft.com/office/drawing/2014/main" id="{8D41173C-5687-4A7A-8BDE-FF52102D2E04}"/>
              </a:ext>
            </a:extLst>
          </p:cNvPr>
          <p:cNvSpPr>
            <a:spLocks noGrp="1"/>
          </p:cNvSpPr>
          <p:nvPr>
            <p:ph idx="1"/>
          </p:nvPr>
        </p:nvSpPr>
        <p:spPr>
          <a:xfrm>
            <a:off x="628650" y="1313895"/>
            <a:ext cx="7886700" cy="1477328"/>
          </a:xfrm>
        </p:spPr>
        <p:txBody>
          <a:bodyPr/>
          <a:lstStyle/>
          <a:p>
            <a:r>
              <a:rPr lang="en-IN" sz="2300" dirty="0">
                <a:solidFill>
                  <a:srgbClr val="0070C0"/>
                </a:solidFill>
              </a:rPr>
              <a:t>NFA </a:t>
            </a:r>
            <a:r>
              <a:rPr lang="en-IN" sz="2300" dirty="0"/>
              <a:t>                                    </a:t>
            </a:r>
            <a:r>
              <a:rPr lang="en-IN" sz="2300" dirty="0">
                <a:solidFill>
                  <a:srgbClr val="FF0000"/>
                </a:solidFill>
              </a:rPr>
              <a:t>DFA</a:t>
            </a:r>
          </a:p>
          <a:p>
            <a:endParaRPr lang="en-IN" sz="2300" dirty="0"/>
          </a:p>
          <a:p>
            <a:endParaRPr lang="en-IN" sz="2300" dirty="0"/>
          </a:p>
          <a:p>
            <a:endParaRPr lang="en-IN" sz="2300" dirty="0"/>
          </a:p>
        </p:txBody>
      </p:sp>
      <p:graphicFrame>
        <p:nvGraphicFramePr>
          <p:cNvPr id="6" name="Table 5">
            <a:extLst>
              <a:ext uri="{FF2B5EF4-FFF2-40B4-BE49-F238E27FC236}">
                <a16:creationId xmlns="" xmlns:a16="http://schemas.microsoft.com/office/drawing/2014/main" id="{B97FC363-E132-48CF-BCFC-2DBA3D38B55E}"/>
              </a:ext>
            </a:extLst>
          </p:cNvPr>
          <p:cNvGraphicFramePr>
            <a:graphicFrameLocks noGrp="1"/>
          </p:cNvGraphicFramePr>
          <p:nvPr>
            <p:extLst>
              <p:ext uri="{D42A27DB-BD31-4B8C-83A1-F6EECF244321}">
                <p14:modId xmlns:p14="http://schemas.microsoft.com/office/powerpoint/2010/main" val="3778030240"/>
              </p:ext>
            </p:extLst>
          </p:nvPr>
        </p:nvGraphicFramePr>
        <p:xfrm>
          <a:off x="492713" y="4281877"/>
          <a:ext cx="4161407" cy="2011680"/>
        </p:xfrm>
        <a:graphic>
          <a:graphicData uri="http://schemas.openxmlformats.org/drawingml/2006/table">
            <a:tbl>
              <a:tblPr>
                <a:tableStyleId>{3C2FFA5D-87B4-456A-9821-1D502468CF0F}</a:tableStyleId>
              </a:tblPr>
              <a:tblGrid>
                <a:gridCol w="1502549">
                  <a:extLst>
                    <a:ext uri="{9D8B030D-6E8A-4147-A177-3AD203B41FA5}">
                      <a16:colId xmlns="" xmlns:a16="http://schemas.microsoft.com/office/drawing/2014/main" val="985128536"/>
                    </a:ext>
                  </a:extLst>
                </a:gridCol>
                <a:gridCol w="1224336">
                  <a:extLst>
                    <a:ext uri="{9D8B030D-6E8A-4147-A177-3AD203B41FA5}">
                      <a16:colId xmlns="" xmlns:a16="http://schemas.microsoft.com/office/drawing/2014/main" val="1860993848"/>
                    </a:ext>
                  </a:extLst>
                </a:gridCol>
                <a:gridCol w="1434522">
                  <a:extLst>
                    <a:ext uri="{9D8B030D-6E8A-4147-A177-3AD203B41FA5}">
                      <a16:colId xmlns="" xmlns:a16="http://schemas.microsoft.com/office/drawing/2014/main" val="3986899733"/>
                    </a:ext>
                  </a:extLst>
                </a:gridCol>
              </a:tblGrid>
              <a:tr h="731520">
                <a:tc>
                  <a:txBody>
                    <a:bodyPr/>
                    <a:lstStyle/>
                    <a:p>
                      <a:pPr algn="ctr"/>
                      <a:r>
                        <a:rPr lang="en-IN" sz="2000" b="1" dirty="0">
                          <a:effectLst/>
                        </a:rPr>
                        <a:t>State / Alphabet</a:t>
                      </a:r>
                    </a:p>
                  </a:txBody>
                  <a:tcPr marL="57150" marR="57150" marT="60960" marB="60960" anchor="ctr"/>
                </a:tc>
                <a:tc>
                  <a:txBody>
                    <a:bodyPr/>
                    <a:lstStyle/>
                    <a:p>
                      <a:pPr algn="ctr"/>
                      <a:r>
                        <a:rPr lang="en-IN" sz="2000" b="1" dirty="0">
                          <a:effectLst/>
                        </a:rPr>
                        <a:t>a</a:t>
                      </a:r>
                    </a:p>
                  </a:txBody>
                  <a:tcPr marL="57150" marR="57150" marT="60960" marB="60960" anchor="ctr"/>
                </a:tc>
                <a:tc>
                  <a:txBody>
                    <a:bodyPr/>
                    <a:lstStyle/>
                    <a:p>
                      <a:pPr algn="ctr"/>
                      <a:r>
                        <a:rPr lang="en-IN" sz="2000" b="1" dirty="0">
                          <a:effectLst/>
                        </a:rPr>
                        <a:t>b</a:t>
                      </a:r>
                    </a:p>
                  </a:txBody>
                  <a:tcPr marL="57150" marR="57150" marT="60960" marB="60960" anchor="ctr"/>
                </a:tc>
                <a:extLst>
                  <a:ext uri="{0D108BD9-81ED-4DB2-BD59-A6C34878D82A}">
                    <a16:rowId xmlns="" xmlns:a16="http://schemas.microsoft.com/office/drawing/2014/main" val="646919657"/>
                  </a:ext>
                </a:extLst>
              </a:tr>
              <a:tr h="426720">
                <a:tc>
                  <a:txBody>
                    <a:bodyPr/>
                    <a:lstStyle/>
                    <a:p>
                      <a:pPr algn="ctr"/>
                      <a:r>
                        <a:rPr lang="en-IN" sz="2000" b="1" dirty="0">
                          <a:effectLst/>
                        </a:rPr>
                        <a:t>→q0</a:t>
                      </a:r>
                    </a:p>
                  </a:txBody>
                  <a:tcPr marL="57150" marR="57150" marT="60960" marB="60960" anchor="ctr"/>
                </a:tc>
                <a:tc>
                  <a:txBody>
                    <a:bodyPr/>
                    <a:lstStyle/>
                    <a:p>
                      <a:pPr algn="ctr"/>
                      <a:r>
                        <a:rPr lang="en-IN" sz="2000" b="1" dirty="0">
                          <a:effectLst/>
                        </a:rPr>
                        <a:t>q0</a:t>
                      </a:r>
                    </a:p>
                  </a:txBody>
                  <a:tcPr marL="57150" marR="57150" marT="60960" marB="60960" anchor="ctr"/>
                </a:tc>
                <a:tc>
                  <a:txBody>
                    <a:bodyPr/>
                    <a:lstStyle/>
                    <a:p>
                      <a:pPr algn="ctr"/>
                      <a:r>
                        <a:rPr lang="en-IN" sz="2000" b="1" dirty="0">
                          <a:effectLst/>
                        </a:rPr>
                        <a:t>q0, q1</a:t>
                      </a:r>
                    </a:p>
                  </a:txBody>
                  <a:tcPr marL="57150" marR="57150" marT="60960" marB="60960" anchor="ctr"/>
                </a:tc>
                <a:extLst>
                  <a:ext uri="{0D108BD9-81ED-4DB2-BD59-A6C34878D82A}">
                    <a16:rowId xmlns="" xmlns:a16="http://schemas.microsoft.com/office/drawing/2014/main" val="2230038564"/>
                  </a:ext>
                </a:extLst>
              </a:tr>
              <a:tr h="426720">
                <a:tc>
                  <a:txBody>
                    <a:bodyPr/>
                    <a:lstStyle/>
                    <a:p>
                      <a:pPr algn="ctr"/>
                      <a:r>
                        <a:rPr lang="en-IN" sz="2000" b="1">
                          <a:effectLst/>
                        </a:rPr>
                        <a:t>q1</a:t>
                      </a:r>
                    </a:p>
                  </a:txBody>
                  <a:tcPr marL="57150" marR="57150" marT="60960" marB="60960" anchor="ctr"/>
                </a:tc>
                <a:tc>
                  <a:txBody>
                    <a:bodyPr/>
                    <a:lstStyle/>
                    <a:p>
                      <a:pPr algn="ctr"/>
                      <a:r>
                        <a:rPr lang="en-IN" sz="2000" b="1" dirty="0">
                          <a:effectLst/>
                        </a:rPr>
                        <a:t>–</a:t>
                      </a:r>
                    </a:p>
                  </a:txBody>
                  <a:tcPr marL="57150" marR="57150" marT="60960" marB="60960" anchor="ctr"/>
                </a:tc>
                <a:tc>
                  <a:txBody>
                    <a:bodyPr/>
                    <a:lstStyle/>
                    <a:p>
                      <a:pPr algn="ctr"/>
                      <a:r>
                        <a:rPr lang="en-IN" sz="2000" b="1">
                          <a:effectLst/>
                        </a:rPr>
                        <a:t>*q2</a:t>
                      </a:r>
                    </a:p>
                  </a:txBody>
                  <a:tcPr marL="57150" marR="57150" marT="60960" marB="60960" anchor="ctr"/>
                </a:tc>
                <a:extLst>
                  <a:ext uri="{0D108BD9-81ED-4DB2-BD59-A6C34878D82A}">
                    <a16:rowId xmlns="" xmlns:a16="http://schemas.microsoft.com/office/drawing/2014/main" val="3974291513"/>
                  </a:ext>
                </a:extLst>
              </a:tr>
              <a:tr h="426720">
                <a:tc>
                  <a:txBody>
                    <a:bodyPr/>
                    <a:lstStyle/>
                    <a:p>
                      <a:pPr algn="ctr"/>
                      <a:r>
                        <a:rPr lang="en-IN" sz="2000" b="1">
                          <a:effectLst/>
                        </a:rPr>
                        <a:t>*q2</a:t>
                      </a:r>
                    </a:p>
                  </a:txBody>
                  <a:tcPr marL="57150" marR="57150" marT="60960" marB="60960" anchor="ctr"/>
                </a:tc>
                <a:tc>
                  <a:txBody>
                    <a:bodyPr/>
                    <a:lstStyle/>
                    <a:p>
                      <a:pPr algn="ctr"/>
                      <a:r>
                        <a:rPr lang="en-IN" sz="2000" b="1">
                          <a:effectLst/>
                        </a:rPr>
                        <a:t>–</a:t>
                      </a:r>
                    </a:p>
                  </a:txBody>
                  <a:tcPr marL="57150" marR="57150" marT="60960" marB="60960" anchor="ctr"/>
                </a:tc>
                <a:tc>
                  <a:txBody>
                    <a:bodyPr/>
                    <a:lstStyle/>
                    <a:p>
                      <a:pPr algn="ctr"/>
                      <a:r>
                        <a:rPr lang="en-IN" sz="2000" b="1" dirty="0">
                          <a:effectLst/>
                        </a:rPr>
                        <a:t>–</a:t>
                      </a:r>
                    </a:p>
                  </a:txBody>
                  <a:tcPr marL="57150" marR="57150" marT="60960" marB="60960" anchor="ctr"/>
                </a:tc>
                <a:extLst>
                  <a:ext uri="{0D108BD9-81ED-4DB2-BD59-A6C34878D82A}">
                    <a16:rowId xmlns="" xmlns:a16="http://schemas.microsoft.com/office/drawing/2014/main" val="1178150064"/>
                  </a:ext>
                </a:extLst>
              </a:tr>
            </a:tbl>
          </a:graphicData>
        </a:graphic>
      </p:graphicFrame>
      <p:graphicFrame>
        <p:nvGraphicFramePr>
          <p:cNvPr id="7" name="Table 6">
            <a:extLst>
              <a:ext uri="{FF2B5EF4-FFF2-40B4-BE49-F238E27FC236}">
                <a16:creationId xmlns="" xmlns:a16="http://schemas.microsoft.com/office/drawing/2014/main" id="{85E7163E-9CCB-4D49-8D7A-C6DDED6FBCDF}"/>
              </a:ext>
            </a:extLst>
          </p:cNvPr>
          <p:cNvGraphicFramePr>
            <a:graphicFrameLocks noGrp="1"/>
          </p:cNvGraphicFramePr>
          <p:nvPr>
            <p:extLst>
              <p:ext uri="{D42A27DB-BD31-4B8C-83A1-F6EECF244321}">
                <p14:modId xmlns:p14="http://schemas.microsoft.com/office/powerpoint/2010/main" val="922045073"/>
              </p:ext>
            </p:extLst>
          </p:nvPr>
        </p:nvGraphicFramePr>
        <p:xfrm>
          <a:off x="4907132" y="3886200"/>
          <a:ext cx="3981635" cy="2621280"/>
        </p:xfrm>
        <a:graphic>
          <a:graphicData uri="http://schemas.openxmlformats.org/drawingml/2006/table">
            <a:tbl>
              <a:tblPr>
                <a:tableStyleId>{284E427A-3D55-4303-BF80-6455036E1DE7}</a:tableStyleId>
              </a:tblPr>
              <a:tblGrid>
                <a:gridCol w="1434597">
                  <a:extLst>
                    <a:ext uri="{9D8B030D-6E8A-4147-A177-3AD203B41FA5}">
                      <a16:colId xmlns="" xmlns:a16="http://schemas.microsoft.com/office/drawing/2014/main" val="2776394048"/>
                    </a:ext>
                  </a:extLst>
                </a:gridCol>
                <a:gridCol w="1273519">
                  <a:extLst>
                    <a:ext uri="{9D8B030D-6E8A-4147-A177-3AD203B41FA5}">
                      <a16:colId xmlns="" xmlns:a16="http://schemas.microsoft.com/office/drawing/2014/main" val="3040210550"/>
                    </a:ext>
                  </a:extLst>
                </a:gridCol>
                <a:gridCol w="1273519">
                  <a:extLst>
                    <a:ext uri="{9D8B030D-6E8A-4147-A177-3AD203B41FA5}">
                      <a16:colId xmlns="" xmlns:a16="http://schemas.microsoft.com/office/drawing/2014/main" val="3549091124"/>
                    </a:ext>
                  </a:extLst>
                </a:gridCol>
              </a:tblGrid>
              <a:tr h="731520">
                <a:tc>
                  <a:txBody>
                    <a:bodyPr/>
                    <a:lstStyle/>
                    <a:p>
                      <a:pPr algn="ctr"/>
                      <a:r>
                        <a:rPr lang="en-IN" sz="2000" b="1" dirty="0">
                          <a:effectLst/>
                        </a:rPr>
                        <a:t>State / Alphabet</a:t>
                      </a:r>
                      <a:endParaRPr lang="en-IN" sz="2000" dirty="0">
                        <a:effectLst/>
                      </a:endParaRPr>
                    </a:p>
                  </a:txBody>
                  <a:tcPr marL="57150" marR="57150" marT="60960" marB="60960" anchor="ctr"/>
                </a:tc>
                <a:tc>
                  <a:txBody>
                    <a:bodyPr/>
                    <a:lstStyle/>
                    <a:p>
                      <a:pPr algn="ctr"/>
                      <a:r>
                        <a:rPr lang="en-IN" sz="2000" b="1" dirty="0">
                          <a:effectLst/>
                        </a:rPr>
                        <a:t>a</a:t>
                      </a:r>
                      <a:endParaRPr lang="en-IN" sz="2000" dirty="0">
                        <a:effectLst/>
                      </a:endParaRPr>
                    </a:p>
                  </a:txBody>
                  <a:tcPr marL="57150" marR="57150" marT="60960" marB="60960" anchor="ctr"/>
                </a:tc>
                <a:tc>
                  <a:txBody>
                    <a:bodyPr/>
                    <a:lstStyle/>
                    <a:p>
                      <a:pPr algn="ctr"/>
                      <a:r>
                        <a:rPr lang="en-IN" sz="2000" b="1">
                          <a:effectLst/>
                        </a:rPr>
                        <a:t>b</a:t>
                      </a:r>
                      <a:endParaRPr lang="en-IN" sz="2000">
                        <a:effectLst/>
                      </a:endParaRPr>
                    </a:p>
                  </a:txBody>
                  <a:tcPr marL="57150" marR="57150" marT="60960" marB="60960" anchor="ctr"/>
                </a:tc>
                <a:extLst>
                  <a:ext uri="{0D108BD9-81ED-4DB2-BD59-A6C34878D82A}">
                    <a16:rowId xmlns="" xmlns:a16="http://schemas.microsoft.com/office/drawing/2014/main" val="1698117778"/>
                  </a:ext>
                </a:extLst>
              </a:tr>
              <a:tr h="426720">
                <a:tc>
                  <a:txBody>
                    <a:bodyPr/>
                    <a:lstStyle/>
                    <a:p>
                      <a:pPr algn="ctr"/>
                      <a:r>
                        <a:rPr lang="en-IN" sz="2000" dirty="0">
                          <a:effectLst/>
                        </a:rPr>
                        <a:t>→</a:t>
                      </a:r>
                      <a:r>
                        <a:rPr lang="en-IN" sz="2000" b="1" dirty="0">
                          <a:effectLst/>
                        </a:rPr>
                        <a:t>q0</a:t>
                      </a:r>
                      <a:endParaRPr lang="en-IN" sz="2000" dirty="0">
                        <a:effectLst/>
                      </a:endParaRPr>
                    </a:p>
                  </a:txBody>
                  <a:tcPr marL="57150" marR="57150" marT="60960" marB="60960" anchor="ctr"/>
                </a:tc>
                <a:tc>
                  <a:txBody>
                    <a:bodyPr/>
                    <a:lstStyle/>
                    <a:p>
                      <a:pPr algn="ctr"/>
                      <a:r>
                        <a:rPr lang="en-IN" sz="2000" dirty="0">
                          <a:effectLst/>
                        </a:rPr>
                        <a:t>q0</a:t>
                      </a:r>
                    </a:p>
                  </a:txBody>
                  <a:tcPr marL="57150" marR="57150" marT="60960" marB="60960" anchor="ctr"/>
                </a:tc>
                <a:tc>
                  <a:txBody>
                    <a:bodyPr/>
                    <a:lstStyle/>
                    <a:p>
                      <a:pPr algn="ctr"/>
                      <a:r>
                        <a:rPr lang="en-IN" sz="2000" dirty="0">
                          <a:effectLst/>
                        </a:rPr>
                        <a:t>{q0, q1}</a:t>
                      </a:r>
                    </a:p>
                  </a:txBody>
                  <a:tcPr marL="57150" marR="57150" marT="60960" marB="60960" anchor="ctr"/>
                </a:tc>
                <a:extLst>
                  <a:ext uri="{0D108BD9-81ED-4DB2-BD59-A6C34878D82A}">
                    <a16:rowId xmlns="" xmlns:a16="http://schemas.microsoft.com/office/drawing/2014/main" val="4194694267"/>
                  </a:ext>
                </a:extLst>
              </a:tr>
              <a:tr h="731520">
                <a:tc>
                  <a:txBody>
                    <a:bodyPr/>
                    <a:lstStyle/>
                    <a:p>
                      <a:pPr algn="ctr"/>
                      <a:r>
                        <a:rPr lang="en-IN" sz="2000" b="1">
                          <a:effectLst/>
                        </a:rPr>
                        <a:t>{q0, q1}</a:t>
                      </a:r>
                      <a:endParaRPr lang="en-IN" sz="2000">
                        <a:effectLst/>
                      </a:endParaRPr>
                    </a:p>
                  </a:txBody>
                  <a:tcPr marL="57150" marR="57150" marT="60960" marB="60960" anchor="ctr"/>
                </a:tc>
                <a:tc>
                  <a:txBody>
                    <a:bodyPr/>
                    <a:lstStyle/>
                    <a:p>
                      <a:pPr algn="ctr"/>
                      <a:r>
                        <a:rPr lang="en-IN" sz="2000" dirty="0">
                          <a:effectLst/>
                        </a:rPr>
                        <a:t>q0</a:t>
                      </a:r>
                    </a:p>
                  </a:txBody>
                  <a:tcPr marL="57150" marR="57150" marT="60960" marB="60960" anchor="ctr"/>
                </a:tc>
                <a:tc>
                  <a:txBody>
                    <a:bodyPr/>
                    <a:lstStyle/>
                    <a:p>
                      <a:pPr algn="ctr"/>
                      <a:r>
                        <a:rPr lang="en-IN" sz="2000">
                          <a:effectLst/>
                        </a:rPr>
                        <a:t>*{q0, q1, q2}</a:t>
                      </a:r>
                    </a:p>
                  </a:txBody>
                  <a:tcPr marL="57150" marR="57150" marT="60960" marB="60960" anchor="ctr"/>
                </a:tc>
                <a:extLst>
                  <a:ext uri="{0D108BD9-81ED-4DB2-BD59-A6C34878D82A}">
                    <a16:rowId xmlns="" xmlns:a16="http://schemas.microsoft.com/office/drawing/2014/main" val="3812719406"/>
                  </a:ext>
                </a:extLst>
              </a:tr>
              <a:tr h="731520">
                <a:tc>
                  <a:txBody>
                    <a:bodyPr/>
                    <a:lstStyle/>
                    <a:p>
                      <a:pPr algn="ctr"/>
                      <a:r>
                        <a:rPr lang="en-IN" sz="2000" b="1">
                          <a:effectLst/>
                        </a:rPr>
                        <a:t>*{q0, q1, q2}</a:t>
                      </a:r>
                      <a:endParaRPr lang="en-IN" sz="2000">
                        <a:effectLst/>
                      </a:endParaRPr>
                    </a:p>
                  </a:txBody>
                  <a:tcPr marL="57150" marR="57150" marT="60960" marB="60960" anchor="ctr"/>
                </a:tc>
                <a:tc>
                  <a:txBody>
                    <a:bodyPr/>
                    <a:lstStyle/>
                    <a:p>
                      <a:pPr algn="ctr"/>
                      <a:r>
                        <a:rPr lang="en-IN" sz="2000">
                          <a:effectLst/>
                        </a:rPr>
                        <a:t>q0</a:t>
                      </a:r>
                    </a:p>
                  </a:txBody>
                  <a:tcPr marL="57150" marR="57150" marT="60960" marB="60960" anchor="ctr"/>
                </a:tc>
                <a:tc>
                  <a:txBody>
                    <a:bodyPr/>
                    <a:lstStyle/>
                    <a:p>
                      <a:pPr algn="ctr"/>
                      <a:r>
                        <a:rPr lang="en-IN" sz="2000" dirty="0">
                          <a:effectLst/>
                        </a:rPr>
                        <a:t>*{q0, q1, q2}</a:t>
                      </a:r>
                    </a:p>
                  </a:txBody>
                  <a:tcPr marL="57150" marR="57150" marT="60960" marB="60960" anchor="ctr"/>
                </a:tc>
                <a:extLst>
                  <a:ext uri="{0D108BD9-81ED-4DB2-BD59-A6C34878D82A}">
                    <a16:rowId xmlns="" xmlns:a16="http://schemas.microsoft.com/office/drawing/2014/main" val="2136252276"/>
                  </a:ext>
                </a:extLst>
              </a:tr>
            </a:tbl>
          </a:graphicData>
        </a:graphic>
      </p:graphicFrame>
      <p:pic>
        <p:nvPicPr>
          <p:cNvPr id="9" name="Picture 8">
            <a:extLst>
              <a:ext uri="{FF2B5EF4-FFF2-40B4-BE49-F238E27FC236}">
                <a16:creationId xmlns="" xmlns:a16="http://schemas.microsoft.com/office/drawing/2014/main" id="{5ED8E73A-B4AA-4FBE-87BC-917D55E8755B}"/>
              </a:ext>
            </a:extLst>
          </p:cNvPr>
          <p:cNvPicPr>
            <a:picLocks noChangeAspect="1"/>
          </p:cNvPicPr>
          <p:nvPr/>
        </p:nvPicPr>
        <p:blipFill>
          <a:blip r:embed="rId2"/>
          <a:stretch>
            <a:fillRect/>
          </a:stretch>
        </p:blipFill>
        <p:spPr>
          <a:xfrm>
            <a:off x="562172" y="1969211"/>
            <a:ext cx="3278981" cy="1657350"/>
          </a:xfrm>
          <a:prstGeom prst="rect">
            <a:avLst/>
          </a:prstGeom>
        </p:spPr>
      </p:pic>
      <p:pic>
        <p:nvPicPr>
          <p:cNvPr id="11" name="Picture 10">
            <a:extLst>
              <a:ext uri="{FF2B5EF4-FFF2-40B4-BE49-F238E27FC236}">
                <a16:creationId xmlns="" xmlns:a16="http://schemas.microsoft.com/office/drawing/2014/main" id="{CD6B4F44-3BF6-4BD7-8755-13C3491DAADC}"/>
              </a:ext>
            </a:extLst>
          </p:cNvPr>
          <p:cNvPicPr>
            <a:picLocks noChangeAspect="1"/>
          </p:cNvPicPr>
          <p:nvPr/>
        </p:nvPicPr>
        <p:blipFill>
          <a:blip r:embed="rId3"/>
          <a:stretch>
            <a:fillRect/>
          </a:stretch>
        </p:blipFill>
        <p:spPr>
          <a:xfrm>
            <a:off x="4270159" y="849829"/>
            <a:ext cx="4572000" cy="2895600"/>
          </a:xfrm>
          <a:prstGeom prst="rect">
            <a:avLst/>
          </a:prstGeom>
        </p:spPr>
      </p:pic>
    </p:spTree>
    <p:extLst>
      <p:ext uri="{BB962C8B-B14F-4D97-AF65-F5344CB8AC3E}">
        <p14:creationId xmlns:p14="http://schemas.microsoft.com/office/powerpoint/2010/main" val="3340271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heel(1)">
                                      <p:cBhvr>
                                        <p:cTn id="11" dur="20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heel(1)">
                                      <p:cBhvr>
                                        <p:cTn id="24"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CEE7AA-2D7B-4F26-9D40-CD5E0FFD535C}"/>
              </a:ext>
            </a:extLst>
          </p:cNvPr>
          <p:cNvSpPr>
            <a:spLocks noGrp="1"/>
          </p:cNvSpPr>
          <p:nvPr>
            <p:ph type="title"/>
          </p:nvPr>
        </p:nvSpPr>
        <p:spPr>
          <a:xfrm>
            <a:off x="628650" y="365126"/>
            <a:ext cx="7886700" cy="507832"/>
          </a:xfrm>
        </p:spPr>
        <p:txBody>
          <a:bodyPr/>
          <a:lstStyle/>
          <a:p>
            <a:r>
              <a:rPr lang="en-IN" sz="2900" dirty="0"/>
              <a:t>Example 2   NFA to DFA </a:t>
            </a:r>
            <a:r>
              <a:rPr lang="en-IN" sz="3200" dirty="0"/>
              <a:t>conversion</a:t>
            </a:r>
            <a:endParaRPr lang="en-IN" sz="2900" dirty="0"/>
          </a:p>
        </p:txBody>
      </p:sp>
      <p:sp>
        <p:nvSpPr>
          <p:cNvPr id="7" name="Content Placeholder 6">
            <a:extLst>
              <a:ext uri="{FF2B5EF4-FFF2-40B4-BE49-F238E27FC236}">
                <a16:creationId xmlns="" xmlns:a16="http://schemas.microsoft.com/office/drawing/2014/main" id="{2585ADB6-3200-4AB5-BCE9-04DDAF052C05}"/>
              </a:ext>
            </a:extLst>
          </p:cNvPr>
          <p:cNvSpPr>
            <a:spLocks noGrp="1"/>
          </p:cNvSpPr>
          <p:nvPr>
            <p:ph idx="1"/>
          </p:nvPr>
        </p:nvSpPr>
        <p:spPr>
          <a:xfrm>
            <a:off x="628650" y="1287263"/>
            <a:ext cx="7886700" cy="738664"/>
          </a:xfrm>
        </p:spPr>
        <p:txBody>
          <a:bodyPr/>
          <a:lstStyle/>
          <a:p>
            <a:r>
              <a:rPr lang="en-IN" sz="2300" dirty="0">
                <a:solidFill>
                  <a:srgbClr val="0070C0"/>
                </a:solidFill>
              </a:rPr>
              <a:t>NFA </a:t>
            </a:r>
            <a:r>
              <a:rPr lang="en-IN" sz="2300" dirty="0"/>
              <a:t>                                              </a:t>
            </a:r>
            <a:r>
              <a:rPr lang="en-IN" sz="2300" dirty="0">
                <a:solidFill>
                  <a:srgbClr val="FF0000"/>
                </a:solidFill>
              </a:rPr>
              <a:t>DFA</a:t>
            </a:r>
          </a:p>
          <a:p>
            <a:endParaRPr lang="en-IN" sz="2300" dirty="0"/>
          </a:p>
        </p:txBody>
      </p:sp>
      <p:pic>
        <p:nvPicPr>
          <p:cNvPr id="9" name="Picture 8">
            <a:extLst>
              <a:ext uri="{FF2B5EF4-FFF2-40B4-BE49-F238E27FC236}">
                <a16:creationId xmlns="" xmlns:a16="http://schemas.microsoft.com/office/drawing/2014/main" id="{920FA3BA-370F-4A4F-A331-009FDC56780B}"/>
              </a:ext>
            </a:extLst>
          </p:cNvPr>
          <p:cNvPicPr>
            <a:picLocks noChangeAspect="1"/>
          </p:cNvPicPr>
          <p:nvPr/>
        </p:nvPicPr>
        <p:blipFill>
          <a:blip r:embed="rId2"/>
          <a:stretch>
            <a:fillRect/>
          </a:stretch>
        </p:blipFill>
        <p:spPr>
          <a:xfrm>
            <a:off x="1226716" y="1585219"/>
            <a:ext cx="2555605" cy="2480754"/>
          </a:xfrm>
          <a:prstGeom prst="rect">
            <a:avLst/>
          </a:prstGeom>
        </p:spPr>
      </p:pic>
      <p:graphicFrame>
        <p:nvGraphicFramePr>
          <p:cNvPr id="10" name="Table 9">
            <a:extLst>
              <a:ext uri="{FF2B5EF4-FFF2-40B4-BE49-F238E27FC236}">
                <a16:creationId xmlns="" xmlns:a16="http://schemas.microsoft.com/office/drawing/2014/main" id="{3A31B38E-18AD-42D4-B8FD-4C6419213EF7}"/>
              </a:ext>
            </a:extLst>
          </p:cNvPr>
          <p:cNvGraphicFramePr>
            <a:graphicFrameLocks noGrp="1"/>
          </p:cNvGraphicFramePr>
          <p:nvPr>
            <p:extLst>
              <p:ext uri="{D42A27DB-BD31-4B8C-83A1-F6EECF244321}">
                <p14:modId xmlns:p14="http://schemas.microsoft.com/office/powerpoint/2010/main" val="1393287821"/>
              </p:ext>
            </p:extLst>
          </p:nvPr>
        </p:nvGraphicFramePr>
        <p:xfrm>
          <a:off x="539319" y="4470083"/>
          <a:ext cx="4161408" cy="2011680"/>
        </p:xfrm>
        <a:graphic>
          <a:graphicData uri="http://schemas.openxmlformats.org/drawingml/2006/table">
            <a:tbl>
              <a:tblPr>
                <a:tableStyleId>{3C2FFA5D-87B4-456A-9821-1D502468CF0F}</a:tableStyleId>
              </a:tblPr>
              <a:tblGrid>
                <a:gridCol w="1499369">
                  <a:extLst>
                    <a:ext uri="{9D8B030D-6E8A-4147-A177-3AD203B41FA5}">
                      <a16:colId xmlns="" xmlns:a16="http://schemas.microsoft.com/office/drawing/2014/main" val="2378041810"/>
                    </a:ext>
                  </a:extLst>
                </a:gridCol>
                <a:gridCol w="1225801">
                  <a:extLst>
                    <a:ext uri="{9D8B030D-6E8A-4147-A177-3AD203B41FA5}">
                      <a16:colId xmlns="" xmlns:a16="http://schemas.microsoft.com/office/drawing/2014/main" val="3676246410"/>
                    </a:ext>
                  </a:extLst>
                </a:gridCol>
                <a:gridCol w="1436238">
                  <a:extLst>
                    <a:ext uri="{9D8B030D-6E8A-4147-A177-3AD203B41FA5}">
                      <a16:colId xmlns="" xmlns:a16="http://schemas.microsoft.com/office/drawing/2014/main" val="1400975010"/>
                    </a:ext>
                  </a:extLst>
                </a:gridCol>
              </a:tblGrid>
              <a:tr h="731520">
                <a:tc>
                  <a:txBody>
                    <a:bodyPr/>
                    <a:lstStyle/>
                    <a:p>
                      <a:pPr algn="ctr"/>
                      <a:r>
                        <a:rPr lang="en-IN" sz="2000" b="1" dirty="0">
                          <a:effectLst/>
                        </a:rPr>
                        <a:t>State / Alphabet</a:t>
                      </a:r>
                      <a:endParaRPr lang="en-IN" sz="2000" dirty="0">
                        <a:effectLst/>
                      </a:endParaRPr>
                    </a:p>
                  </a:txBody>
                  <a:tcPr marL="57150" marR="57150" marT="60960" marB="60960" anchor="ctr"/>
                </a:tc>
                <a:tc>
                  <a:txBody>
                    <a:bodyPr/>
                    <a:lstStyle/>
                    <a:p>
                      <a:pPr algn="ctr"/>
                      <a:r>
                        <a:rPr lang="en-IN" sz="2000" b="1">
                          <a:effectLst/>
                        </a:rPr>
                        <a:t>0</a:t>
                      </a:r>
                      <a:endParaRPr lang="en-IN" sz="2000">
                        <a:effectLst/>
                      </a:endParaRPr>
                    </a:p>
                  </a:txBody>
                  <a:tcPr marL="57150" marR="57150" marT="60960" marB="60960" anchor="ctr"/>
                </a:tc>
                <a:tc>
                  <a:txBody>
                    <a:bodyPr/>
                    <a:lstStyle/>
                    <a:p>
                      <a:pPr algn="ctr"/>
                      <a:r>
                        <a:rPr lang="en-IN" sz="2000" b="1">
                          <a:effectLst/>
                        </a:rPr>
                        <a:t>1</a:t>
                      </a:r>
                      <a:endParaRPr lang="en-IN" sz="2000">
                        <a:effectLst/>
                      </a:endParaRPr>
                    </a:p>
                  </a:txBody>
                  <a:tcPr marL="57150" marR="57150" marT="60960" marB="60960" anchor="ctr"/>
                </a:tc>
                <a:extLst>
                  <a:ext uri="{0D108BD9-81ED-4DB2-BD59-A6C34878D82A}">
                    <a16:rowId xmlns="" xmlns:a16="http://schemas.microsoft.com/office/drawing/2014/main" val="1418596957"/>
                  </a:ext>
                </a:extLst>
              </a:tr>
              <a:tr h="426720">
                <a:tc>
                  <a:txBody>
                    <a:bodyPr/>
                    <a:lstStyle/>
                    <a:p>
                      <a:pPr algn="ctr"/>
                      <a:r>
                        <a:rPr lang="en-IN" sz="2000">
                          <a:effectLst/>
                        </a:rPr>
                        <a:t>→</a:t>
                      </a:r>
                      <a:r>
                        <a:rPr lang="en-IN" sz="2000" b="1">
                          <a:effectLst/>
                        </a:rPr>
                        <a:t>q0</a:t>
                      </a:r>
                      <a:endParaRPr lang="en-IN" sz="2000">
                        <a:effectLst/>
                      </a:endParaRPr>
                    </a:p>
                  </a:txBody>
                  <a:tcPr marL="57150" marR="57150" marT="60960" marB="60960" anchor="ctr"/>
                </a:tc>
                <a:tc>
                  <a:txBody>
                    <a:bodyPr/>
                    <a:lstStyle/>
                    <a:p>
                      <a:pPr algn="ctr"/>
                      <a:r>
                        <a:rPr lang="en-IN" sz="2000">
                          <a:effectLst/>
                        </a:rPr>
                        <a:t>q0</a:t>
                      </a:r>
                    </a:p>
                  </a:txBody>
                  <a:tcPr marL="57150" marR="57150" marT="60960" marB="60960" anchor="ctr"/>
                </a:tc>
                <a:tc>
                  <a:txBody>
                    <a:bodyPr/>
                    <a:lstStyle/>
                    <a:p>
                      <a:pPr algn="ctr"/>
                      <a:r>
                        <a:rPr lang="en-IN" sz="2000">
                          <a:effectLst/>
                        </a:rPr>
                        <a:t>q1, *q2</a:t>
                      </a:r>
                    </a:p>
                  </a:txBody>
                  <a:tcPr marL="57150" marR="57150" marT="60960" marB="60960" anchor="ctr"/>
                </a:tc>
                <a:extLst>
                  <a:ext uri="{0D108BD9-81ED-4DB2-BD59-A6C34878D82A}">
                    <a16:rowId xmlns="" xmlns:a16="http://schemas.microsoft.com/office/drawing/2014/main" val="409481008"/>
                  </a:ext>
                </a:extLst>
              </a:tr>
              <a:tr h="426720">
                <a:tc>
                  <a:txBody>
                    <a:bodyPr/>
                    <a:lstStyle/>
                    <a:p>
                      <a:pPr algn="ctr"/>
                      <a:r>
                        <a:rPr lang="en-IN" sz="2000" b="1">
                          <a:effectLst/>
                        </a:rPr>
                        <a:t>q1</a:t>
                      </a:r>
                      <a:endParaRPr lang="en-IN" sz="2000">
                        <a:effectLst/>
                      </a:endParaRPr>
                    </a:p>
                  </a:txBody>
                  <a:tcPr marL="57150" marR="57150" marT="60960" marB="60960" anchor="ctr"/>
                </a:tc>
                <a:tc>
                  <a:txBody>
                    <a:bodyPr/>
                    <a:lstStyle/>
                    <a:p>
                      <a:pPr algn="ctr"/>
                      <a:r>
                        <a:rPr lang="en-IN" sz="2000">
                          <a:effectLst/>
                        </a:rPr>
                        <a:t>q1, *q2</a:t>
                      </a:r>
                    </a:p>
                  </a:txBody>
                  <a:tcPr marL="57150" marR="57150" marT="60960" marB="60960" anchor="ctr"/>
                </a:tc>
                <a:tc>
                  <a:txBody>
                    <a:bodyPr/>
                    <a:lstStyle/>
                    <a:p>
                      <a:pPr algn="ctr"/>
                      <a:r>
                        <a:rPr lang="en-IN" sz="2000">
                          <a:effectLst/>
                        </a:rPr>
                        <a:t>*q2</a:t>
                      </a:r>
                    </a:p>
                  </a:txBody>
                  <a:tcPr marL="57150" marR="57150" marT="60960" marB="60960" anchor="ctr"/>
                </a:tc>
                <a:extLst>
                  <a:ext uri="{0D108BD9-81ED-4DB2-BD59-A6C34878D82A}">
                    <a16:rowId xmlns="" xmlns:a16="http://schemas.microsoft.com/office/drawing/2014/main" val="1970008359"/>
                  </a:ext>
                </a:extLst>
              </a:tr>
              <a:tr h="426720">
                <a:tc>
                  <a:txBody>
                    <a:bodyPr/>
                    <a:lstStyle/>
                    <a:p>
                      <a:pPr algn="ctr"/>
                      <a:r>
                        <a:rPr lang="en-IN" sz="2000" b="1">
                          <a:effectLst/>
                        </a:rPr>
                        <a:t>*q2</a:t>
                      </a:r>
                      <a:endParaRPr lang="en-IN" sz="2000">
                        <a:effectLst/>
                      </a:endParaRPr>
                    </a:p>
                  </a:txBody>
                  <a:tcPr marL="57150" marR="57150" marT="60960" marB="60960" anchor="ctr"/>
                </a:tc>
                <a:tc>
                  <a:txBody>
                    <a:bodyPr/>
                    <a:lstStyle/>
                    <a:p>
                      <a:pPr algn="ctr"/>
                      <a:r>
                        <a:rPr lang="en-IN" sz="2000">
                          <a:effectLst/>
                        </a:rPr>
                        <a:t>q0, q1</a:t>
                      </a:r>
                    </a:p>
                  </a:txBody>
                  <a:tcPr marL="57150" marR="57150" marT="60960" marB="60960" anchor="ctr"/>
                </a:tc>
                <a:tc>
                  <a:txBody>
                    <a:bodyPr/>
                    <a:lstStyle/>
                    <a:p>
                      <a:pPr algn="ctr"/>
                      <a:r>
                        <a:rPr lang="en-IN" sz="2000" dirty="0">
                          <a:effectLst/>
                        </a:rPr>
                        <a:t>q1</a:t>
                      </a:r>
                    </a:p>
                  </a:txBody>
                  <a:tcPr marL="57150" marR="57150" marT="60960" marB="60960" anchor="ctr"/>
                </a:tc>
                <a:extLst>
                  <a:ext uri="{0D108BD9-81ED-4DB2-BD59-A6C34878D82A}">
                    <a16:rowId xmlns="" xmlns:a16="http://schemas.microsoft.com/office/drawing/2014/main" val="3855314641"/>
                  </a:ext>
                </a:extLst>
              </a:tr>
            </a:tbl>
          </a:graphicData>
        </a:graphic>
      </p:graphicFrame>
      <p:graphicFrame>
        <p:nvGraphicFramePr>
          <p:cNvPr id="11" name="Table 10">
            <a:extLst>
              <a:ext uri="{FF2B5EF4-FFF2-40B4-BE49-F238E27FC236}">
                <a16:creationId xmlns="" xmlns:a16="http://schemas.microsoft.com/office/drawing/2014/main" id="{8A07E4BA-FBF5-4EDF-8B37-87806831E32D}"/>
              </a:ext>
            </a:extLst>
          </p:cNvPr>
          <p:cNvGraphicFramePr>
            <a:graphicFrameLocks noGrp="1"/>
          </p:cNvGraphicFramePr>
          <p:nvPr>
            <p:extLst>
              <p:ext uri="{D42A27DB-BD31-4B8C-83A1-F6EECF244321}">
                <p14:modId xmlns:p14="http://schemas.microsoft.com/office/powerpoint/2010/main" val="2194163679"/>
              </p:ext>
            </p:extLst>
          </p:nvPr>
        </p:nvGraphicFramePr>
        <p:xfrm>
          <a:off x="4790060" y="4152900"/>
          <a:ext cx="4105367" cy="2621280"/>
        </p:xfrm>
        <a:graphic>
          <a:graphicData uri="http://schemas.openxmlformats.org/drawingml/2006/table">
            <a:tbl>
              <a:tblPr>
                <a:tableStyleId>{284E427A-3D55-4303-BF80-6455036E1DE7}</a:tableStyleId>
              </a:tblPr>
              <a:tblGrid>
                <a:gridCol w="1479178">
                  <a:extLst>
                    <a:ext uri="{9D8B030D-6E8A-4147-A177-3AD203B41FA5}">
                      <a16:colId xmlns="" xmlns:a16="http://schemas.microsoft.com/office/drawing/2014/main" val="1037038783"/>
                    </a:ext>
                  </a:extLst>
                </a:gridCol>
                <a:gridCol w="1313095">
                  <a:extLst>
                    <a:ext uri="{9D8B030D-6E8A-4147-A177-3AD203B41FA5}">
                      <a16:colId xmlns="" xmlns:a16="http://schemas.microsoft.com/office/drawing/2014/main" val="2566797286"/>
                    </a:ext>
                  </a:extLst>
                </a:gridCol>
                <a:gridCol w="1313095">
                  <a:extLst>
                    <a:ext uri="{9D8B030D-6E8A-4147-A177-3AD203B41FA5}">
                      <a16:colId xmlns="" xmlns:a16="http://schemas.microsoft.com/office/drawing/2014/main" val="4198239956"/>
                    </a:ext>
                  </a:extLst>
                </a:gridCol>
              </a:tblGrid>
              <a:tr h="731520">
                <a:tc>
                  <a:txBody>
                    <a:bodyPr/>
                    <a:lstStyle/>
                    <a:p>
                      <a:pPr algn="ctr"/>
                      <a:r>
                        <a:rPr lang="en-IN" sz="2000" b="1" dirty="0">
                          <a:effectLst/>
                        </a:rPr>
                        <a:t>State / Alphabet</a:t>
                      </a:r>
                      <a:endParaRPr lang="en-IN" sz="2000" dirty="0">
                        <a:effectLst/>
                      </a:endParaRPr>
                    </a:p>
                  </a:txBody>
                  <a:tcPr marL="57150" marR="57150" marT="60960" marB="60960" anchor="ctr"/>
                </a:tc>
                <a:tc>
                  <a:txBody>
                    <a:bodyPr/>
                    <a:lstStyle/>
                    <a:p>
                      <a:pPr algn="ctr"/>
                      <a:r>
                        <a:rPr lang="en-IN" sz="2000" b="1">
                          <a:effectLst/>
                        </a:rPr>
                        <a:t>0</a:t>
                      </a:r>
                      <a:endParaRPr lang="en-IN" sz="2000">
                        <a:effectLst/>
                      </a:endParaRPr>
                    </a:p>
                  </a:txBody>
                  <a:tcPr marL="57150" marR="57150" marT="60960" marB="60960" anchor="ctr"/>
                </a:tc>
                <a:tc>
                  <a:txBody>
                    <a:bodyPr/>
                    <a:lstStyle/>
                    <a:p>
                      <a:pPr algn="ctr"/>
                      <a:r>
                        <a:rPr lang="en-IN" sz="2000" b="1">
                          <a:effectLst/>
                        </a:rPr>
                        <a:t>1</a:t>
                      </a:r>
                      <a:endParaRPr lang="en-IN" sz="2000">
                        <a:effectLst/>
                      </a:endParaRPr>
                    </a:p>
                  </a:txBody>
                  <a:tcPr marL="57150" marR="57150" marT="60960" marB="60960" anchor="ctr"/>
                </a:tc>
                <a:extLst>
                  <a:ext uri="{0D108BD9-81ED-4DB2-BD59-A6C34878D82A}">
                    <a16:rowId xmlns="" xmlns:a16="http://schemas.microsoft.com/office/drawing/2014/main" val="364316439"/>
                  </a:ext>
                </a:extLst>
              </a:tr>
              <a:tr h="426720">
                <a:tc>
                  <a:txBody>
                    <a:bodyPr/>
                    <a:lstStyle/>
                    <a:p>
                      <a:pPr algn="ctr"/>
                      <a:r>
                        <a:rPr lang="en-IN" sz="2000">
                          <a:effectLst/>
                        </a:rPr>
                        <a:t>→</a:t>
                      </a:r>
                      <a:r>
                        <a:rPr lang="en-IN" sz="2000" b="1">
                          <a:effectLst/>
                        </a:rPr>
                        <a:t>q0</a:t>
                      </a:r>
                      <a:endParaRPr lang="en-IN" sz="2000">
                        <a:effectLst/>
                      </a:endParaRPr>
                    </a:p>
                  </a:txBody>
                  <a:tcPr marL="57150" marR="57150" marT="60960" marB="60960" anchor="ctr"/>
                </a:tc>
                <a:tc>
                  <a:txBody>
                    <a:bodyPr/>
                    <a:lstStyle/>
                    <a:p>
                      <a:pPr algn="ctr"/>
                      <a:r>
                        <a:rPr lang="en-IN" sz="2000" dirty="0">
                          <a:effectLst/>
                        </a:rPr>
                        <a:t>q0</a:t>
                      </a:r>
                    </a:p>
                  </a:txBody>
                  <a:tcPr marL="57150" marR="57150" marT="60960" marB="60960" anchor="ctr"/>
                </a:tc>
                <a:tc>
                  <a:txBody>
                    <a:bodyPr/>
                    <a:lstStyle/>
                    <a:p>
                      <a:pPr algn="ctr"/>
                      <a:r>
                        <a:rPr lang="en-IN" sz="2000">
                          <a:effectLst/>
                        </a:rPr>
                        <a:t>*{q1, q2}</a:t>
                      </a:r>
                    </a:p>
                  </a:txBody>
                  <a:tcPr marL="57150" marR="57150" marT="60960" marB="60960" anchor="ctr"/>
                </a:tc>
                <a:extLst>
                  <a:ext uri="{0D108BD9-81ED-4DB2-BD59-A6C34878D82A}">
                    <a16:rowId xmlns="" xmlns:a16="http://schemas.microsoft.com/office/drawing/2014/main" val="1407853393"/>
                  </a:ext>
                </a:extLst>
              </a:tr>
              <a:tr h="731520">
                <a:tc>
                  <a:txBody>
                    <a:bodyPr/>
                    <a:lstStyle/>
                    <a:p>
                      <a:pPr algn="ctr"/>
                      <a:r>
                        <a:rPr lang="en-IN" sz="2000" b="1">
                          <a:effectLst/>
                        </a:rPr>
                        <a:t>*{q1, q2}</a:t>
                      </a:r>
                      <a:endParaRPr lang="en-IN" sz="2000">
                        <a:effectLst/>
                      </a:endParaRPr>
                    </a:p>
                  </a:txBody>
                  <a:tcPr marL="57150" marR="57150" marT="60960" marB="60960" anchor="ctr"/>
                </a:tc>
                <a:tc>
                  <a:txBody>
                    <a:bodyPr/>
                    <a:lstStyle/>
                    <a:p>
                      <a:pPr algn="ctr"/>
                      <a:r>
                        <a:rPr lang="en-IN" sz="2000">
                          <a:effectLst/>
                        </a:rPr>
                        <a:t>*{q0, q1, q2}</a:t>
                      </a:r>
                    </a:p>
                  </a:txBody>
                  <a:tcPr marL="57150" marR="57150" marT="60960" marB="60960" anchor="ctr"/>
                </a:tc>
                <a:tc>
                  <a:txBody>
                    <a:bodyPr/>
                    <a:lstStyle/>
                    <a:p>
                      <a:pPr algn="ctr"/>
                      <a:r>
                        <a:rPr lang="en-IN" sz="2000">
                          <a:effectLst/>
                        </a:rPr>
                        <a:t>*{q1, q2}</a:t>
                      </a:r>
                    </a:p>
                  </a:txBody>
                  <a:tcPr marL="57150" marR="57150" marT="60960" marB="60960" anchor="ctr"/>
                </a:tc>
                <a:extLst>
                  <a:ext uri="{0D108BD9-81ED-4DB2-BD59-A6C34878D82A}">
                    <a16:rowId xmlns="" xmlns:a16="http://schemas.microsoft.com/office/drawing/2014/main" val="2721814145"/>
                  </a:ext>
                </a:extLst>
              </a:tr>
              <a:tr h="731520">
                <a:tc>
                  <a:txBody>
                    <a:bodyPr/>
                    <a:lstStyle/>
                    <a:p>
                      <a:pPr algn="ctr"/>
                      <a:r>
                        <a:rPr lang="en-IN" sz="2000" b="1">
                          <a:effectLst/>
                        </a:rPr>
                        <a:t>*{q0, q1, q2}</a:t>
                      </a:r>
                      <a:endParaRPr lang="en-IN" sz="2000">
                        <a:effectLst/>
                      </a:endParaRPr>
                    </a:p>
                  </a:txBody>
                  <a:tcPr marL="57150" marR="57150" marT="60960" marB="60960" anchor="ctr"/>
                </a:tc>
                <a:tc>
                  <a:txBody>
                    <a:bodyPr/>
                    <a:lstStyle/>
                    <a:p>
                      <a:pPr algn="ctr"/>
                      <a:r>
                        <a:rPr lang="en-IN" sz="2000" dirty="0">
                          <a:effectLst/>
                        </a:rPr>
                        <a:t>*{q0, q1, q2}</a:t>
                      </a:r>
                    </a:p>
                  </a:txBody>
                  <a:tcPr marL="57150" marR="57150" marT="60960" marB="60960" anchor="ctr"/>
                </a:tc>
                <a:tc>
                  <a:txBody>
                    <a:bodyPr/>
                    <a:lstStyle/>
                    <a:p>
                      <a:pPr algn="ctr"/>
                      <a:r>
                        <a:rPr lang="en-IN" sz="2000" dirty="0">
                          <a:effectLst/>
                        </a:rPr>
                        <a:t>*{q1, q2}</a:t>
                      </a:r>
                    </a:p>
                  </a:txBody>
                  <a:tcPr marL="57150" marR="57150" marT="60960" marB="60960" anchor="ctr"/>
                </a:tc>
                <a:extLst>
                  <a:ext uri="{0D108BD9-81ED-4DB2-BD59-A6C34878D82A}">
                    <a16:rowId xmlns="" xmlns:a16="http://schemas.microsoft.com/office/drawing/2014/main" val="2621816112"/>
                  </a:ext>
                </a:extLst>
              </a:tr>
            </a:tbl>
          </a:graphicData>
        </a:graphic>
      </p:graphicFrame>
      <p:pic>
        <p:nvPicPr>
          <p:cNvPr id="13" name="Picture 12">
            <a:extLst>
              <a:ext uri="{FF2B5EF4-FFF2-40B4-BE49-F238E27FC236}">
                <a16:creationId xmlns="" xmlns:a16="http://schemas.microsoft.com/office/drawing/2014/main" id="{5FD5B944-9CB2-4A1D-A04C-1AB0AAC8E619}"/>
              </a:ext>
            </a:extLst>
          </p:cNvPr>
          <p:cNvPicPr>
            <a:picLocks noChangeAspect="1"/>
          </p:cNvPicPr>
          <p:nvPr/>
        </p:nvPicPr>
        <p:blipFill>
          <a:blip r:embed="rId3"/>
          <a:stretch>
            <a:fillRect/>
          </a:stretch>
        </p:blipFill>
        <p:spPr>
          <a:xfrm>
            <a:off x="4502020" y="1548822"/>
            <a:ext cx="4203369" cy="2562053"/>
          </a:xfrm>
          <a:prstGeom prst="rect">
            <a:avLst/>
          </a:prstGeom>
        </p:spPr>
      </p:pic>
    </p:spTree>
    <p:extLst>
      <p:ext uri="{BB962C8B-B14F-4D97-AF65-F5344CB8AC3E}">
        <p14:creationId xmlns:p14="http://schemas.microsoft.com/office/powerpoint/2010/main" val="163450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heel(1)">
                                      <p:cBhvr>
                                        <p:cTn id="11" dur="20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heel(1)">
                                      <p:cBhvr>
                                        <p:cTn id="24"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p:txBody>
          <a:bodyPr/>
          <a:lstStyle/>
          <a:p>
            <a:pPr eaLnBrk="1" hangingPunct="1"/>
            <a:r>
              <a:rPr lang="en-US" smtClean="0"/>
              <a:t>NFA</a:t>
            </a:r>
            <a:r>
              <a:rPr lang="el-GR" baseline="-25000" smtClean="0"/>
              <a:t>ε</a:t>
            </a:r>
            <a:r>
              <a:rPr lang="en-US" baseline="-25000" smtClean="0"/>
              <a:t> </a:t>
            </a:r>
            <a:r>
              <a:rPr lang="en-US" smtClean="0"/>
              <a:t>- NFA - DFA equivalence</a:t>
            </a:r>
            <a:r>
              <a:rPr lang="el-GR" baseline="-25000" smtClean="0"/>
              <a:t> </a:t>
            </a:r>
            <a:endParaRPr lang="el-GR" smtClean="0"/>
          </a:p>
        </p:txBody>
      </p:sp>
    </p:spTree>
    <p:extLst>
      <p:ext uri="{BB962C8B-B14F-4D97-AF65-F5344CB8AC3E}">
        <p14:creationId xmlns:p14="http://schemas.microsoft.com/office/powerpoint/2010/main" val="32439344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514649" y="67469"/>
            <a:ext cx="8229600" cy="1143000"/>
          </a:xfrm>
        </p:spPr>
        <p:txBody>
          <a:bodyPr/>
          <a:lstStyle/>
          <a:p>
            <a:pPr eaLnBrk="1" hangingPunct="1"/>
            <a:r>
              <a:rPr lang="en-US" sz="2900" dirty="0"/>
              <a:t>What is an </a:t>
            </a:r>
            <a:r>
              <a:rPr lang="en-US" sz="2900" b="1" dirty="0"/>
              <a:t>Epsilon NFA  (∈-NFA)</a:t>
            </a:r>
            <a:r>
              <a:rPr lang="en-US" sz="2900" dirty="0"/>
              <a:t/>
            </a:r>
            <a:br>
              <a:rPr lang="en-US" sz="2900" dirty="0"/>
            </a:br>
            <a:r>
              <a:rPr lang="en-US" sz="2900" dirty="0"/>
              <a:t>NFA</a:t>
            </a:r>
            <a:r>
              <a:rPr lang="el-GR" sz="2900" baseline="-25000" dirty="0"/>
              <a:t>ε</a:t>
            </a:r>
            <a:endParaRPr lang="el-GR" sz="2900" dirty="0"/>
          </a:p>
        </p:txBody>
      </p:sp>
      <p:sp>
        <p:nvSpPr>
          <p:cNvPr id="7171" name="Content Placeholder 2"/>
          <p:cNvSpPr>
            <a:spLocks noGrp="1"/>
          </p:cNvSpPr>
          <p:nvPr>
            <p:ph idx="1"/>
          </p:nvPr>
        </p:nvSpPr>
        <p:spPr>
          <a:xfrm>
            <a:off x="505769" y="1257300"/>
            <a:ext cx="8229600" cy="4279901"/>
          </a:xfrm>
        </p:spPr>
        <p:txBody>
          <a:bodyPr/>
          <a:lstStyle/>
          <a:p>
            <a:pPr eaLnBrk="1" hangingPunct="1"/>
            <a:r>
              <a:rPr lang="en-US" sz="2900" dirty="0"/>
              <a:t>An NFA</a:t>
            </a:r>
            <a:r>
              <a:rPr lang="el-GR" sz="2900" baseline="-25000" dirty="0"/>
              <a:t>ε</a:t>
            </a:r>
            <a:r>
              <a:rPr lang="en-US" sz="2900" dirty="0"/>
              <a:t> is an NFA that might have </a:t>
            </a:r>
            <a:r>
              <a:rPr lang="el-GR" sz="2900" dirty="0"/>
              <a:t>ε</a:t>
            </a:r>
            <a:r>
              <a:rPr lang="en-US" sz="2900" dirty="0"/>
              <a:t>-moves. In an </a:t>
            </a:r>
            <a:r>
              <a:rPr lang="el-GR" sz="2900" dirty="0"/>
              <a:t>ε-</a:t>
            </a:r>
            <a:r>
              <a:rPr lang="en-US" sz="2900" dirty="0"/>
              <a:t>move we can transport from one state to the other without having any symbols.</a:t>
            </a:r>
          </a:p>
          <a:p>
            <a:pPr eaLnBrk="1" hangingPunct="1"/>
            <a:endParaRPr lang="en-US" sz="2900" dirty="0"/>
          </a:p>
          <a:p>
            <a:pPr eaLnBrk="1" hangingPunct="1">
              <a:buFont typeface="Arial" charset="0"/>
              <a:buNone/>
            </a:pPr>
            <a:endParaRPr lang="el-GR" sz="2900" dirty="0"/>
          </a:p>
          <a:p>
            <a:pPr eaLnBrk="1" hangingPunct="1"/>
            <a:endParaRPr lang="en-US" sz="2900" dirty="0"/>
          </a:p>
          <a:p>
            <a:pPr eaLnBrk="1" hangingPunct="1"/>
            <a:r>
              <a:rPr lang="en-US" sz="2900" dirty="0"/>
              <a:t>An NFA is by definition an NFA</a:t>
            </a:r>
            <a:r>
              <a:rPr lang="el-GR" sz="2900" baseline="-25000" dirty="0"/>
              <a:t>ε</a:t>
            </a:r>
            <a:r>
              <a:rPr lang="en-US" sz="2900" dirty="0"/>
              <a:t> (but with no </a:t>
            </a:r>
            <a:r>
              <a:rPr lang="el-GR" sz="2900" dirty="0"/>
              <a:t>ε-</a:t>
            </a:r>
            <a:r>
              <a:rPr lang="en-US" sz="2900" dirty="0"/>
              <a:t>moves)</a:t>
            </a:r>
            <a:r>
              <a:rPr lang="el-GR" sz="2900" dirty="0"/>
              <a:t>.</a:t>
            </a:r>
          </a:p>
        </p:txBody>
      </p:sp>
      <p:sp>
        <p:nvSpPr>
          <p:cNvPr id="2" name="AutoShape 2" descr="Automata Conversion from NFA with null ..."/>
          <p:cNvSpPr>
            <a:spLocks noChangeAspect="1" noChangeArrowheads="1"/>
          </p:cNvSpPr>
          <p:nvPr/>
        </p:nvSpPr>
        <p:spPr bwMode="auto">
          <a:xfrm>
            <a:off x="73308" y="-72232"/>
            <a:ext cx="143623" cy="152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44175" tIns="22087" rIns="44175" bIns="22087" numCol="1" anchor="t" anchorCtr="0" compatLnSpc="1">
            <a:prstTxWarp prst="textNoShape">
              <a:avLst/>
            </a:prstTxWarp>
          </a:bodyPr>
          <a:lstStyle/>
          <a:p>
            <a:endParaRPr lang="en-US"/>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2965" y="2743200"/>
            <a:ext cx="472834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7802067"/>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mtClean="0"/>
              <a:t>NFA computation</a:t>
            </a:r>
            <a:endParaRPr lang="el-GR" smtClean="0"/>
          </a:p>
        </p:txBody>
      </p:sp>
      <p:sp>
        <p:nvSpPr>
          <p:cNvPr id="3" name="Content Placeholder 2"/>
          <p:cNvSpPr>
            <a:spLocks noGrp="1"/>
          </p:cNvSpPr>
          <p:nvPr>
            <p:ph idx="1"/>
          </p:nvPr>
        </p:nvSpPr>
        <p:spPr>
          <a:xfrm>
            <a:off x="457200" y="1600200"/>
            <a:ext cx="8229600" cy="4686300"/>
          </a:xfrm>
        </p:spPr>
        <p:txBody>
          <a:bodyPr rtlCol="0">
            <a:normAutofit fontScale="92500" lnSpcReduction="20000"/>
          </a:bodyPr>
          <a:lstStyle/>
          <a:p>
            <a:pPr>
              <a:buFont typeface="Arial" pitchFamily="34" charset="0"/>
              <a:buChar char="•"/>
              <a:defRPr/>
            </a:pPr>
            <a:r>
              <a:rPr lang="en-US" dirty="0" smtClean="0"/>
              <a:t>An NFA illustrates a machine that can have choices (just like our brains). If there are two arrows under a specific symbol it can choose either of them and follow it.</a:t>
            </a:r>
          </a:p>
          <a:p>
            <a:pPr>
              <a:buFont typeface="Arial" pitchFamily="34" charset="0"/>
              <a:buChar char="•"/>
              <a:defRPr/>
            </a:pPr>
            <a:r>
              <a:rPr lang="en-US" dirty="0" smtClean="0"/>
              <a:t>So it works more or less like you. Suppose that you want to do something and that you can think of several methods to do it. Some of them can possibly fail but it suffices to find one that succeeds. </a:t>
            </a:r>
          </a:p>
          <a:p>
            <a:pPr>
              <a:buFont typeface="Arial" pitchFamily="34" charset="0"/>
              <a:buChar char="•"/>
              <a:defRPr/>
            </a:pPr>
            <a:r>
              <a:rPr lang="en-US" dirty="0" smtClean="0"/>
              <a:t>An NFA accepts a string if there </a:t>
            </a:r>
            <a:r>
              <a:rPr lang="en-US" b="1" i="1" dirty="0" smtClean="0"/>
              <a:t>exists</a:t>
            </a:r>
            <a:r>
              <a:rPr lang="en-US" dirty="0" smtClean="0"/>
              <a:t> a path following arrows under the symbols of the string consecutively that takes us to an accept state.</a:t>
            </a:r>
            <a:endParaRPr lang="el-GR" dirty="0" smtClean="0"/>
          </a:p>
        </p:txBody>
      </p:sp>
    </p:spTree>
    <p:extLst>
      <p:ext uri="{BB962C8B-B14F-4D97-AF65-F5344CB8AC3E}">
        <p14:creationId xmlns:p14="http://schemas.microsoft.com/office/powerpoint/2010/main" val="268066612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335120" y="-76200"/>
            <a:ext cx="8229600" cy="1143000"/>
          </a:xfrm>
        </p:spPr>
        <p:txBody>
          <a:bodyPr/>
          <a:lstStyle/>
          <a:p>
            <a:pPr eaLnBrk="1" hangingPunct="1"/>
            <a:r>
              <a:rPr lang="en-US" dirty="0" smtClean="0"/>
              <a:t>Example</a:t>
            </a:r>
            <a:endParaRPr lang="el-GR" dirty="0" smtClean="0"/>
          </a:p>
        </p:txBody>
      </p:sp>
      <p:sp>
        <p:nvSpPr>
          <p:cNvPr id="3" name="Content Placeholder 2"/>
          <p:cNvSpPr>
            <a:spLocks noGrp="1"/>
          </p:cNvSpPr>
          <p:nvPr>
            <p:ph idx="1"/>
          </p:nvPr>
        </p:nvSpPr>
        <p:spPr>
          <a:xfrm>
            <a:off x="457200" y="1600202"/>
            <a:ext cx="8229600" cy="4829175"/>
          </a:xfrm>
        </p:spPr>
        <p:txBody>
          <a:bodyPr rtlCol="0">
            <a:normAutofit/>
          </a:bodyPr>
          <a:lstStyle/>
          <a:p>
            <a:pPr>
              <a:buNone/>
              <a:defRPr/>
            </a:pPr>
            <a:endParaRPr lang="en-US" dirty="0" smtClean="0"/>
          </a:p>
          <a:p>
            <a:pPr>
              <a:buNone/>
              <a:defRPr/>
            </a:pPr>
            <a:endParaRPr lang="en-US" dirty="0" smtClean="0"/>
          </a:p>
          <a:p>
            <a:pPr>
              <a:buFont typeface="Arial" pitchFamily="34" charset="0"/>
              <a:buChar char="•"/>
              <a:defRPr/>
            </a:pPr>
            <a:endParaRPr lang="en-US" sz="2600" dirty="0"/>
          </a:p>
          <a:p>
            <a:pPr>
              <a:buFont typeface="Arial" pitchFamily="34" charset="0"/>
              <a:buChar char="•"/>
              <a:defRPr/>
            </a:pPr>
            <a:r>
              <a:rPr lang="en-US" sz="2600" dirty="0"/>
              <a:t>This automaton accepts the string 1110 because there is a path under 1110 that takes us to an accept state (the path q</a:t>
            </a:r>
            <a:r>
              <a:rPr lang="en-US" sz="2600" baseline="-25000" dirty="0"/>
              <a:t>0</a:t>
            </a:r>
            <a:r>
              <a:rPr lang="en-US" sz="2600" dirty="0"/>
              <a:t> , q</a:t>
            </a:r>
            <a:r>
              <a:rPr lang="en-US" sz="2600" baseline="-25000" dirty="0"/>
              <a:t>0</a:t>
            </a:r>
            <a:r>
              <a:rPr lang="en-US" sz="2600" dirty="0"/>
              <a:t> , q</a:t>
            </a:r>
            <a:r>
              <a:rPr lang="en-US" sz="2600" baseline="-25000" dirty="0"/>
              <a:t>0</a:t>
            </a:r>
            <a:r>
              <a:rPr lang="en-US" sz="2600" dirty="0"/>
              <a:t> , q</a:t>
            </a:r>
            <a:r>
              <a:rPr lang="en-US" sz="2600" baseline="-25000" dirty="0"/>
              <a:t>1</a:t>
            </a:r>
            <a:r>
              <a:rPr lang="en-US" sz="2600" dirty="0"/>
              <a:t>), beside the fact that there are paths under 1110 that fail (for example the path q</a:t>
            </a:r>
            <a:r>
              <a:rPr lang="en-US" sz="2600" baseline="-25000" dirty="0"/>
              <a:t>0</a:t>
            </a:r>
            <a:r>
              <a:rPr lang="en-US" sz="2600" dirty="0"/>
              <a:t> , q</a:t>
            </a:r>
            <a:r>
              <a:rPr lang="en-US" sz="2600" baseline="-25000" dirty="0"/>
              <a:t>0</a:t>
            </a:r>
            <a:r>
              <a:rPr lang="en-US" sz="2600" dirty="0"/>
              <a:t> , q</a:t>
            </a:r>
            <a:r>
              <a:rPr lang="en-US" sz="2600" baseline="-25000" dirty="0"/>
              <a:t>1</a:t>
            </a:r>
            <a:r>
              <a:rPr lang="en-US" sz="2600" dirty="0"/>
              <a:t>, q</a:t>
            </a:r>
            <a:r>
              <a:rPr lang="en-US" sz="2600" baseline="-25000" dirty="0"/>
              <a:t>0</a:t>
            </a:r>
            <a:r>
              <a:rPr lang="en-US" sz="2600" dirty="0"/>
              <a:t>). </a:t>
            </a:r>
          </a:p>
          <a:p>
            <a:pPr>
              <a:buFont typeface="Arial" pitchFamily="34" charset="0"/>
              <a:buChar char="•"/>
              <a:defRPr/>
            </a:pPr>
            <a:r>
              <a:rPr lang="en-US" sz="2600" dirty="0"/>
              <a:t>However it doesn’t accept the string 00 because there are no paths under 00 that can take us to q</a:t>
            </a:r>
            <a:r>
              <a:rPr lang="en-US" sz="2600" baseline="-25000" dirty="0"/>
              <a:t>1</a:t>
            </a:r>
            <a:r>
              <a:rPr lang="en-US" dirty="0" smtClean="0"/>
              <a:t>.</a:t>
            </a:r>
          </a:p>
          <a:p>
            <a:pPr>
              <a:buNone/>
              <a:defRPr/>
            </a:pPr>
            <a:endParaRPr lang="el-GR" dirty="0" smtClean="0"/>
          </a:p>
        </p:txBody>
      </p:sp>
      <p:cxnSp>
        <p:nvCxnSpPr>
          <p:cNvPr id="13" name="Straight Arrow Connector 12"/>
          <p:cNvCxnSpPr>
            <a:endCxn id="5" idx="2"/>
          </p:cNvCxnSpPr>
          <p:nvPr/>
        </p:nvCxnSpPr>
        <p:spPr>
          <a:xfrm flipV="1">
            <a:off x="2329918" y="2663388"/>
            <a:ext cx="843788" cy="103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9221" name="Group 22"/>
          <p:cNvGrpSpPr>
            <a:grpSpLocks/>
          </p:cNvGrpSpPr>
          <p:nvPr/>
        </p:nvGrpSpPr>
        <p:grpSpPr bwMode="auto">
          <a:xfrm>
            <a:off x="3136537" y="1374511"/>
            <a:ext cx="3178921" cy="1909363"/>
            <a:chOff x="3836492" y="4621384"/>
            <a:chExt cx="1807078" cy="879317"/>
          </a:xfrm>
        </p:grpSpPr>
        <p:grpSp>
          <p:nvGrpSpPr>
            <p:cNvPr id="9222" name="Group 17"/>
            <p:cNvGrpSpPr>
              <a:grpSpLocks/>
            </p:cNvGrpSpPr>
            <p:nvPr/>
          </p:nvGrpSpPr>
          <p:grpSpPr bwMode="auto">
            <a:xfrm>
              <a:off x="3836492" y="4651398"/>
              <a:ext cx="1807078" cy="849303"/>
              <a:chOff x="3836492" y="2365382"/>
              <a:chExt cx="1807078" cy="849303"/>
            </a:xfrm>
          </p:grpSpPr>
          <p:grpSp>
            <p:nvGrpSpPr>
              <p:cNvPr id="9225" name="Group 3"/>
              <p:cNvGrpSpPr>
                <a:grpSpLocks/>
              </p:cNvGrpSpPr>
              <p:nvPr/>
            </p:nvGrpSpPr>
            <p:grpSpPr bwMode="auto">
              <a:xfrm>
                <a:off x="3836492" y="2365382"/>
                <a:ext cx="1807078" cy="849303"/>
                <a:chOff x="3479302" y="3222638"/>
                <a:chExt cx="1807078" cy="849303"/>
              </a:xfrm>
            </p:grpSpPr>
            <p:sp>
              <p:nvSpPr>
                <p:cNvPr id="5" name="Oval 4"/>
                <p:cNvSpPr/>
                <p:nvPr/>
              </p:nvSpPr>
              <p:spPr>
                <a:xfrm>
                  <a:off x="3500431" y="3500437"/>
                  <a:ext cx="571504" cy="5715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sz="2600" dirty="0">
                      <a:solidFill>
                        <a:prstClr val="black">
                          <a:lumMod val="75000"/>
                          <a:lumOff val="25000"/>
                        </a:prstClr>
                      </a:solidFill>
                    </a:rPr>
                    <a:t>q</a:t>
                  </a:r>
                  <a:r>
                    <a:rPr lang="en-US" sz="2600" baseline="-25000" dirty="0">
                      <a:solidFill>
                        <a:prstClr val="black">
                          <a:lumMod val="75000"/>
                          <a:lumOff val="25000"/>
                        </a:prstClr>
                      </a:solidFill>
                    </a:rPr>
                    <a:t>0</a:t>
                  </a:r>
                  <a:endParaRPr lang="el-GR" kern="1200" dirty="0">
                    <a:solidFill>
                      <a:prstClr val="black">
                        <a:lumMod val="75000"/>
                        <a:lumOff val="25000"/>
                      </a:prstClr>
                    </a:solidFill>
                  </a:endParaRPr>
                </a:p>
              </p:txBody>
            </p:sp>
            <p:sp>
              <p:nvSpPr>
                <p:cNvPr id="6" name="Oval 5"/>
                <p:cNvSpPr/>
                <p:nvPr/>
              </p:nvSpPr>
              <p:spPr>
                <a:xfrm>
                  <a:off x="4714876" y="3500437"/>
                  <a:ext cx="571504" cy="5715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sz="2600" dirty="0">
                      <a:solidFill>
                        <a:prstClr val="black">
                          <a:lumMod val="75000"/>
                          <a:lumOff val="25000"/>
                        </a:prstClr>
                      </a:solidFill>
                    </a:rPr>
                    <a:t>q</a:t>
                  </a:r>
                  <a:r>
                    <a:rPr lang="en-US" sz="2600" baseline="-25000" dirty="0">
                      <a:solidFill>
                        <a:prstClr val="black">
                          <a:lumMod val="75000"/>
                          <a:lumOff val="25000"/>
                        </a:prstClr>
                      </a:solidFill>
                    </a:rPr>
                    <a:t>1</a:t>
                  </a:r>
                  <a:endParaRPr lang="el-GR" sz="2600" dirty="0">
                    <a:solidFill>
                      <a:prstClr val="black">
                        <a:lumMod val="75000"/>
                        <a:lumOff val="25000"/>
                      </a:prstClr>
                    </a:solidFill>
                  </a:endParaRPr>
                </a:p>
              </p:txBody>
            </p:sp>
            <p:cxnSp>
              <p:nvCxnSpPr>
                <p:cNvPr id="7" name="Straight Arrow Connector 6"/>
                <p:cNvCxnSpPr>
                  <a:stCxn id="5" idx="6"/>
                  <a:endCxn id="6" idx="2"/>
                </p:cNvCxnSpPr>
                <p:nvPr/>
              </p:nvCxnSpPr>
              <p:spPr>
                <a:xfrm>
                  <a:off x="4071935" y="3786189"/>
                  <a:ext cx="642941"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hape 7"/>
                <p:cNvCxnSpPr>
                  <a:stCxn id="5" idx="1"/>
                  <a:endCxn id="5" idx="0"/>
                </p:cNvCxnSpPr>
                <p:nvPr/>
              </p:nvCxnSpPr>
              <p:spPr>
                <a:xfrm rot="5400000" flipH="1" flipV="1">
                  <a:off x="3643307" y="3441699"/>
                  <a:ext cx="84138" cy="201614"/>
                </a:xfrm>
                <a:prstGeom prst="curvedConnector3">
                  <a:avLst>
                    <a:gd name="adj1" fmla="val 408378"/>
                  </a:avLst>
                </a:prstGeom>
                <a:ln>
                  <a:tailEnd type="arrow"/>
                </a:ln>
              </p:spPr>
              <p:style>
                <a:lnRef idx="1">
                  <a:schemeClr val="accent1"/>
                </a:lnRef>
                <a:fillRef idx="0">
                  <a:schemeClr val="accent1"/>
                </a:fillRef>
                <a:effectRef idx="0">
                  <a:schemeClr val="accent1"/>
                </a:effectRef>
                <a:fontRef idx="minor">
                  <a:schemeClr val="tx1"/>
                </a:fontRef>
              </p:style>
            </p:cxnSp>
            <p:sp>
              <p:nvSpPr>
                <p:cNvPr id="9231" name="TextBox 8"/>
                <p:cNvSpPr txBox="1">
                  <a:spLocks noChangeArrowheads="1"/>
                </p:cNvSpPr>
                <p:nvPr/>
              </p:nvSpPr>
              <p:spPr bwMode="auto">
                <a:xfrm>
                  <a:off x="3479302" y="3222638"/>
                  <a:ext cx="175140" cy="17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dirty="0">
                      <a:solidFill>
                        <a:prstClr val="black"/>
                      </a:solidFill>
                      <a:latin typeface="Calibri" pitchFamily="34" charset="0"/>
                    </a:rPr>
                    <a:t>1</a:t>
                  </a:r>
                  <a:endParaRPr lang="el-GR" sz="1900" dirty="0">
                    <a:solidFill>
                      <a:prstClr val="black"/>
                    </a:solidFill>
                    <a:latin typeface="Calibri" pitchFamily="34" charset="0"/>
                  </a:endParaRPr>
                </a:p>
              </p:txBody>
            </p:sp>
            <p:sp>
              <p:nvSpPr>
                <p:cNvPr id="9232" name="TextBox 9"/>
                <p:cNvSpPr txBox="1">
                  <a:spLocks noChangeArrowheads="1"/>
                </p:cNvSpPr>
                <p:nvPr/>
              </p:nvSpPr>
              <p:spPr bwMode="auto">
                <a:xfrm>
                  <a:off x="4241201" y="3572639"/>
                  <a:ext cx="316382" cy="205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2300" dirty="0">
                      <a:solidFill>
                        <a:prstClr val="black"/>
                      </a:solidFill>
                      <a:latin typeface="Calibri" pitchFamily="34" charset="0"/>
                    </a:rPr>
                    <a:t>0,1</a:t>
                  </a:r>
                  <a:endParaRPr lang="el-GR" sz="2300" dirty="0">
                    <a:solidFill>
                      <a:prstClr val="black"/>
                    </a:solidFill>
                    <a:latin typeface="Calibri" pitchFamily="34" charset="0"/>
                  </a:endParaRPr>
                </a:p>
              </p:txBody>
            </p:sp>
          </p:grpSp>
          <p:sp>
            <p:nvSpPr>
              <p:cNvPr id="11" name="Oval 10"/>
              <p:cNvSpPr/>
              <p:nvPr/>
            </p:nvSpPr>
            <p:spPr>
              <a:xfrm>
                <a:off x="5143505" y="2724144"/>
                <a:ext cx="419103" cy="41910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endParaRPr lang="el-GR" kern="1200" dirty="0">
                  <a:solidFill>
                    <a:prstClr val="black">
                      <a:lumMod val="75000"/>
                      <a:lumOff val="25000"/>
                    </a:prstClr>
                  </a:solidFill>
                </a:endParaRPr>
              </a:p>
            </p:txBody>
          </p:sp>
        </p:grpSp>
        <p:cxnSp>
          <p:nvCxnSpPr>
            <p:cNvPr id="20" name="Curved Connector 19"/>
            <p:cNvCxnSpPr>
              <a:stCxn id="6" idx="1"/>
              <a:endCxn id="5" idx="7"/>
            </p:cNvCxnSpPr>
            <p:nvPr/>
          </p:nvCxnSpPr>
          <p:spPr>
            <a:xfrm rot="16200000" flipV="1">
              <a:off x="4750596" y="4607727"/>
              <a:ext cx="1587" cy="809631"/>
            </a:xfrm>
            <a:prstGeom prst="curvedConnector3">
              <a:avLst>
                <a:gd name="adj1" fmla="val 14093518"/>
              </a:avLst>
            </a:prstGeom>
            <a:ln>
              <a:tailEnd type="arrow"/>
            </a:ln>
          </p:spPr>
          <p:style>
            <a:lnRef idx="1">
              <a:schemeClr val="accent1"/>
            </a:lnRef>
            <a:fillRef idx="0">
              <a:schemeClr val="accent1"/>
            </a:fillRef>
            <a:effectRef idx="0">
              <a:schemeClr val="accent1"/>
            </a:effectRef>
            <a:fontRef idx="minor">
              <a:schemeClr val="tx1"/>
            </a:fontRef>
          </p:style>
        </p:cxnSp>
        <p:sp>
          <p:nvSpPr>
            <p:cNvPr id="9224" name="TextBox 21"/>
            <p:cNvSpPr txBox="1">
              <a:spLocks noChangeArrowheads="1"/>
            </p:cNvSpPr>
            <p:nvPr/>
          </p:nvSpPr>
          <p:spPr bwMode="auto">
            <a:xfrm>
              <a:off x="4608438" y="4621384"/>
              <a:ext cx="175140" cy="17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dirty="0">
                  <a:solidFill>
                    <a:prstClr val="black"/>
                  </a:solidFill>
                  <a:latin typeface="Calibri" pitchFamily="34" charset="0"/>
                </a:rPr>
                <a:t>0</a:t>
              </a:r>
              <a:endParaRPr lang="el-GR" sz="1900" dirty="0">
                <a:solidFill>
                  <a:prstClr val="black"/>
                </a:solidFill>
                <a:latin typeface="Calibri" pitchFamily="34" charset="0"/>
              </a:endParaRPr>
            </a:p>
          </p:txBody>
        </p:sp>
      </p:grpSp>
    </p:spTree>
    <p:extLst>
      <p:ext uri="{BB962C8B-B14F-4D97-AF65-F5344CB8AC3E}">
        <p14:creationId xmlns:p14="http://schemas.microsoft.com/office/powerpoint/2010/main" val="2612853214"/>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mtClean="0"/>
              <a:t>NFA – DFA equivalence</a:t>
            </a:r>
            <a:endParaRPr lang="el-GR" smtClean="0"/>
          </a:p>
        </p:txBody>
      </p:sp>
      <p:sp>
        <p:nvSpPr>
          <p:cNvPr id="10243" name="Content Placeholder 2"/>
          <p:cNvSpPr>
            <a:spLocks noGrp="1"/>
          </p:cNvSpPr>
          <p:nvPr>
            <p:ph idx="1"/>
          </p:nvPr>
        </p:nvSpPr>
        <p:spPr/>
        <p:txBody>
          <a:bodyPr/>
          <a:lstStyle/>
          <a:p>
            <a:pPr eaLnBrk="1" hangingPunct="1"/>
            <a:r>
              <a:rPr lang="en-US" smtClean="0"/>
              <a:t>The language that an NFA recognizes is the set of strings which the NFA accepts.</a:t>
            </a:r>
          </a:p>
          <a:p>
            <a:pPr eaLnBrk="1" hangingPunct="1"/>
            <a:r>
              <a:rPr lang="en-US" smtClean="0"/>
              <a:t>To see if a string is accepted it suffices to find the set of the possible states in which I can be with this string as input and see if a final state is contained in this set. </a:t>
            </a:r>
          </a:p>
        </p:txBody>
      </p:sp>
    </p:spTree>
    <p:extLst>
      <p:ext uri="{BB962C8B-B14F-4D97-AF65-F5344CB8AC3E}">
        <p14:creationId xmlns:p14="http://schemas.microsoft.com/office/powerpoint/2010/main" val="251260575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p:txBody>
          <a:bodyPr/>
          <a:lstStyle/>
          <a:p>
            <a:pPr eaLnBrk="1" hangingPunct="1"/>
            <a:r>
              <a:rPr lang="en-US" smtClean="0"/>
              <a:t>NFA – DFA eqivalence</a:t>
            </a:r>
            <a:endParaRPr lang="el-GR" smtClean="0"/>
          </a:p>
        </p:txBody>
      </p:sp>
      <p:sp>
        <p:nvSpPr>
          <p:cNvPr id="1028" name="Content Placeholder 2"/>
          <p:cNvSpPr>
            <a:spLocks noGrp="1"/>
          </p:cNvSpPr>
          <p:nvPr>
            <p:ph idx="1"/>
          </p:nvPr>
        </p:nvSpPr>
        <p:spPr/>
        <p:txBody>
          <a:bodyPr/>
          <a:lstStyle/>
          <a:p>
            <a:pPr eaLnBrk="1" hangingPunct="1"/>
            <a:r>
              <a:rPr lang="en-US" dirty="0" smtClean="0"/>
              <a:t>Whenever an arrow is followed, there is a set of possible following states that the NFA can be. This set of states is a subset of Q. </a:t>
            </a:r>
          </a:p>
          <a:p>
            <a:pPr eaLnBrk="1" hangingPunct="1"/>
            <a:r>
              <a:rPr lang="en-US" dirty="0" smtClean="0"/>
              <a:t>For example with 0010 I have the following sequence of set of states: </a:t>
            </a:r>
          </a:p>
          <a:p>
            <a:pPr eaLnBrk="1" hangingPunct="1"/>
            <a:endParaRPr lang="en-US" dirty="0" smtClean="0"/>
          </a:p>
          <a:p>
            <a:pPr eaLnBrk="1" hangingPunct="1"/>
            <a:endParaRPr lang="el-GR" dirty="0" smtClean="0"/>
          </a:p>
        </p:txBody>
      </p:sp>
      <p:grpSp>
        <p:nvGrpSpPr>
          <p:cNvPr id="1029" name="Group 22"/>
          <p:cNvGrpSpPr>
            <a:grpSpLocks/>
          </p:cNvGrpSpPr>
          <p:nvPr/>
        </p:nvGrpSpPr>
        <p:grpSpPr bwMode="auto">
          <a:xfrm>
            <a:off x="3286125" y="4845052"/>
            <a:ext cx="3214688" cy="1084263"/>
            <a:chOff x="3286125" y="4845050"/>
            <a:chExt cx="3214688" cy="1084263"/>
          </a:xfrm>
        </p:grpSpPr>
        <p:grpSp>
          <p:nvGrpSpPr>
            <p:cNvPr id="1032" name="Group 22"/>
            <p:cNvGrpSpPr>
              <a:grpSpLocks/>
            </p:cNvGrpSpPr>
            <p:nvPr/>
          </p:nvGrpSpPr>
          <p:grpSpPr bwMode="auto">
            <a:xfrm>
              <a:off x="3286125" y="4845050"/>
              <a:ext cx="2000250" cy="1084263"/>
              <a:chOff x="3643306" y="4416996"/>
              <a:chExt cx="2000264" cy="1083705"/>
            </a:xfrm>
          </p:grpSpPr>
          <p:grpSp>
            <p:nvGrpSpPr>
              <p:cNvPr id="1036" name="Group 17"/>
              <p:cNvGrpSpPr>
                <a:grpSpLocks/>
              </p:cNvGrpSpPr>
              <p:nvPr/>
            </p:nvGrpSpPr>
            <p:grpSpPr bwMode="auto">
              <a:xfrm>
                <a:off x="3643306" y="4572008"/>
                <a:ext cx="2000264" cy="928693"/>
                <a:chOff x="3643306" y="2285992"/>
                <a:chExt cx="2000264" cy="928693"/>
              </a:xfrm>
            </p:grpSpPr>
            <p:grpSp>
              <p:nvGrpSpPr>
                <p:cNvPr id="1039" name="Group 3"/>
                <p:cNvGrpSpPr>
                  <a:grpSpLocks/>
                </p:cNvGrpSpPr>
                <p:nvPr/>
              </p:nvGrpSpPr>
              <p:grpSpPr bwMode="auto">
                <a:xfrm>
                  <a:off x="3643306" y="2285992"/>
                  <a:ext cx="2000264" cy="928693"/>
                  <a:chOff x="3286116" y="3143248"/>
                  <a:chExt cx="2000264" cy="928693"/>
                </a:xfrm>
              </p:grpSpPr>
              <p:sp>
                <p:nvSpPr>
                  <p:cNvPr id="10" name="Oval 9"/>
                  <p:cNvSpPr/>
                  <p:nvPr/>
                </p:nvSpPr>
                <p:spPr>
                  <a:xfrm>
                    <a:off x="3500431" y="3500735"/>
                    <a:ext cx="571504" cy="57120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sz="2100" dirty="0">
                        <a:solidFill>
                          <a:prstClr val="black">
                            <a:lumMod val="75000"/>
                            <a:lumOff val="25000"/>
                          </a:prstClr>
                        </a:solidFill>
                      </a:rPr>
                      <a:t>q</a:t>
                    </a:r>
                    <a:r>
                      <a:rPr lang="en-US" sz="2100" baseline="-25000" dirty="0">
                        <a:solidFill>
                          <a:prstClr val="black">
                            <a:lumMod val="75000"/>
                            <a:lumOff val="25000"/>
                          </a:prstClr>
                        </a:solidFill>
                      </a:rPr>
                      <a:t>0</a:t>
                    </a:r>
                    <a:endParaRPr lang="el-GR" sz="2100" dirty="0">
                      <a:solidFill>
                        <a:prstClr val="black">
                          <a:lumMod val="75000"/>
                          <a:lumOff val="25000"/>
                        </a:prstClr>
                      </a:solidFill>
                    </a:endParaRPr>
                  </a:p>
                </p:txBody>
              </p:sp>
              <p:sp>
                <p:nvSpPr>
                  <p:cNvPr id="11" name="Oval 5"/>
                  <p:cNvSpPr/>
                  <p:nvPr/>
                </p:nvSpPr>
                <p:spPr>
                  <a:xfrm>
                    <a:off x="4714876" y="3500735"/>
                    <a:ext cx="571504" cy="57120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sz="2100" dirty="0">
                        <a:solidFill>
                          <a:prstClr val="black">
                            <a:lumMod val="75000"/>
                            <a:lumOff val="25000"/>
                          </a:prstClr>
                        </a:solidFill>
                      </a:rPr>
                      <a:t>q</a:t>
                    </a:r>
                    <a:r>
                      <a:rPr lang="en-US" sz="2100" baseline="-25000" dirty="0">
                        <a:solidFill>
                          <a:prstClr val="black">
                            <a:lumMod val="75000"/>
                            <a:lumOff val="25000"/>
                          </a:prstClr>
                        </a:solidFill>
                      </a:rPr>
                      <a:t>1</a:t>
                    </a:r>
                    <a:endParaRPr lang="el-GR" sz="2100" dirty="0">
                      <a:solidFill>
                        <a:prstClr val="black">
                          <a:lumMod val="75000"/>
                          <a:lumOff val="25000"/>
                        </a:prstClr>
                      </a:solidFill>
                    </a:endParaRPr>
                  </a:p>
                </p:txBody>
              </p:sp>
              <p:cxnSp>
                <p:nvCxnSpPr>
                  <p:cNvPr id="12" name="Straight Arrow Connector 11"/>
                  <p:cNvCxnSpPr>
                    <a:stCxn id="10" idx="6"/>
                  </p:cNvCxnSpPr>
                  <p:nvPr/>
                </p:nvCxnSpPr>
                <p:spPr>
                  <a:xfrm>
                    <a:off x="4071935" y="3786338"/>
                    <a:ext cx="642941" cy="15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hape 7"/>
                  <p:cNvCxnSpPr>
                    <a:stCxn id="10" idx="1"/>
                    <a:endCxn id="10" idx="0"/>
                  </p:cNvCxnSpPr>
                  <p:nvPr/>
                </p:nvCxnSpPr>
                <p:spPr>
                  <a:xfrm rot="5400000" flipH="1" flipV="1">
                    <a:off x="3643328" y="3441975"/>
                    <a:ext cx="84094" cy="201614"/>
                  </a:xfrm>
                  <a:prstGeom prst="curvedConnector3">
                    <a:avLst>
                      <a:gd name="adj1" fmla="val 408378"/>
                    </a:avLst>
                  </a:prstGeom>
                  <a:ln>
                    <a:tailEnd type="arrow"/>
                  </a:ln>
                </p:spPr>
                <p:style>
                  <a:lnRef idx="1">
                    <a:schemeClr val="accent1"/>
                  </a:lnRef>
                  <a:fillRef idx="0">
                    <a:schemeClr val="accent1"/>
                  </a:fillRef>
                  <a:effectRef idx="0">
                    <a:schemeClr val="accent1"/>
                  </a:effectRef>
                  <a:fontRef idx="minor">
                    <a:schemeClr val="tx1"/>
                  </a:fontRef>
                </p:style>
              </p:cxnSp>
              <p:sp>
                <p:nvSpPr>
                  <p:cNvPr id="1045" name="TextBox 8"/>
                  <p:cNvSpPr txBox="1">
                    <a:spLocks noChangeArrowheads="1"/>
                  </p:cNvSpPr>
                  <p:nvPr/>
                </p:nvSpPr>
                <p:spPr bwMode="auto">
                  <a:xfrm>
                    <a:off x="3286116" y="3143248"/>
                    <a:ext cx="295276" cy="353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700" dirty="0">
                        <a:solidFill>
                          <a:prstClr val="black"/>
                        </a:solidFill>
                        <a:latin typeface="Calibri" pitchFamily="34" charset="0"/>
                      </a:rPr>
                      <a:t>1</a:t>
                    </a:r>
                    <a:endParaRPr lang="el-GR" sz="1700" dirty="0">
                      <a:solidFill>
                        <a:prstClr val="black"/>
                      </a:solidFill>
                      <a:latin typeface="Calibri" pitchFamily="34" charset="0"/>
                    </a:endParaRPr>
                  </a:p>
                </p:txBody>
              </p:sp>
              <p:sp>
                <p:nvSpPr>
                  <p:cNvPr id="1046" name="TextBox 9"/>
                  <p:cNvSpPr txBox="1">
                    <a:spLocks noChangeArrowheads="1"/>
                  </p:cNvSpPr>
                  <p:nvPr/>
                </p:nvSpPr>
                <p:spPr bwMode="auto">
                  <a:xfrm>
                    <a:off x="4199704" y="3542516"/>
                    <a:ext cx="428325" cy="32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500" dirty="0">
                        <a:solidFill>
                          <a:prstClr val="black"/>
                        </a:solidFill>
                        <a:latin typeface="Calibri" pitchFamily="34" charset="0"/>
                      </a:rPr>
                      <a:t>0,1</a:t>
                    </a:r>
                    <a:endParaRPr lang="el-GR" sz="1500" dirty="0">
                      <a:solidFill>
                        <a:prstClr val="black"/>
                      </a:solidFill>
                      <a:latin typeface="Calibri" pitchFamily="34" charset="0"/>
                    </a:endParaRPr>
                  </a:p>
                </p:txBody>
              </p:sp>
            </p:grpSp>
            <p:sp>
              <p:nvSpPr>
                <p:cNvPr id="9" name="Oval 8"/>
                <p:cNvSpPr/>
                <p:nvPr/>
              </p:nvSpPr>
              <p:spPr>
                <a:xfrm>
                  <a:off x="5143505" y="2724399"/>
                  <a:ext cx="419103" cy="4188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endParaRPr lang="el-GR" kern="1200" dirty="0">
                    <a:solidFill>
                      <a:prstClr val="black">
                        <a:lumMod val="75000"/>
                        <a:lumOff val="25000"/>
                      </a:prstClr>
                    </a:solidFill>
                  </a:endParaRPr>
                </a:p>
              </p:txBody>
            </p:sp>
          </p:grpSp>
          <p:cxnSp>
            <p:nvCxnSpPr>
              <p:cNvPr id="6" name="Curved Connector 5"/>
              <p:cNvCxnSpPr>
                <a:stCxn id="11" idx="1"/>
                <a:endCxn id="10" idx="7"/>
              </p:cNvCxnSpPr>
              <p:nvPr/>
            </p:nvCxnSpPr>
            <p:spPr>
              <a:xfrm rot="16200000" flipV="1">
                <a:off x="4750596" y="4607980"/>
                <a:ext cx="1586" cy="809631"/>
              </a:xfrm>
              <a:prstGeom prst="curvedConnector3">
                <a:avLst>
                  <a:gd name="adj1" fmla="val 19665869"/>
                </a:avLst>
              </a:prstGeom>
              <a:ln>
                <a:tailEnd type="arrow"/>
              </a:ln>
            </p:spPr>
            <p:style>
              <a:lnRef idx="1">
                <a:schemeClr val="accent1"/>
              </a:lnRef>
              <a:fillRef idx="0">
                <a:schemeClr val="accent1"/>
              </a:fillRef>
              <a:effectRef idx="0">
                <a:schemeClr val="accent1"/>
              </a:effectRef>
              <a:fontRef idx="minor">
                <a:schemeClr val="tx1"/>
              </a:fontRef>
            </p:style>
          </p:cxnSp>
          <p:sp>
            <p:nvSpPr>
              <p:cNvPr id="1038" name="TextBox 21"/>
              <p:cNvSpPr txBox="1">
                <a:spLocks noChangeArrowheads="1"/>
              </p:cNvSpPr>
              <p:nvPr/>
            </p:nvSpPr>
            <p:spPr bwMode="auto">
              <a:xfrm>
                <a:off x="4572001" y="4416996"/>
                <a:ext cx="308100" cy="38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dirty="0">
                    <a:solidFill>
                      <a:prstClr val="black"/>
                    </a:solidFill>
                    <a:latin typeface="Calibri" pitchFamily="34" charset="0"/>
                  </a:rPr>
                  <a:t>0</a:t>
                </a:r>
                <a:endParaRPr lang="el-GR" sz="1900" dirty="0">
                  <a:solidFill>
                    <a:prstClr val="black"/>
                  </a:solidFill>
                  <a:latin typeface="Calibri" pitchFamily="34" charset="0"/>
                </a:endParaRPr>
              </a:p>
            </p:txBody>
          </p:sp>
        </p:grpSp>
        <p:sp>
          <p:nvSpPr>
            <p:cNvPr id="17" name="Oval 16"/>
            <p:cNvSpPr/>
            <p:nvPr/>
          </p:nvSpPr>
          <p:spPr bwMode="auto">
            <a:xfrm>
              <a:off x="5929313" y="5357813"/>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2</a:t>
              </a:r>
              <a:endParaRPr lang="el-GR" sz="1900" dirty="0">
                <a:solidFill>
                  <a:prstClr val="black">
                    <a:lumMod val="75000"/>
                    <a:lumOff val="25000"/>
                  </a:prstClr>
                </a:solidFill>
              </a:endParaRPr>
            </a:p>
          </p:txBody>
        </p:sp>
        <p:cxnSp>
          <p:nvCxnSpPr>
            <p:cNvPr id="18" name="Curved Connector 17"/>
            <p:cNvCxnSpPr>
              <a:stCxn id="11" idx="6"/>
              <a:endCxn id="17" idx="2"/>
            </p:cNvCxnSpPr>
            <p:nvPr/>
          </p:nvCxnSpPr>
          <p:spPr bwMode="auto">
            <a:xfrm>
              <a:off x="5286375" y="5643563"/>
              <a:ext cx="642938" cy="1587"/>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35" name="TextBox 21"/>
            <p:cNvSpPr txBox="1">
              <a:spLocks noChangeArrowheads="1"/>
            </p:cNvSpPr>
            <p:nvPr/>
          </p:nvSpPr>
          <p:spPr bwMode="auto">
            <a:xfrm>
              <a:off x="5429256" y="5214950"/>
              <a:ext cx="308098"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dirty="0">
                  <a:solidFill>
                    <a:prstClr val="black"/>
                  </a:solidFill>
                  <a:latin typeface="Calibri" pitchFamily="34" charset="0"/>
                </a:rPr>
                <a:t>0</a:t>
              </a:r>
              <a:endParaRPr lang="el-GR" sz="1900" dirty="0">
                <a:solidFill>
                  <a:prstClr val="black"/>
                </a:solidFill>
                <a:latin typeface="Calibri" pitchFamily="34" charset="0"/>
              </a:endParaRPr>
            </a:p>
          </p:txBody>
        </p:sp>
      </p:grpSp>
      <p:sp>
        <p:nvSpPr>
          <p:cNvPr id="1030" name="Rectangle 4"/>
          <p:cNvSpPr>
            <a:spLocks noChangeArrowheads="1"/>
          </p:cNvSpPr>
          <p:nvPr/>
        </p:nvSpPr>
        <p:spPr bwMode="auto">
          <a:xfrm>
            <a:off x="0" y="-184657"/>
            <a:ext cx="184702" cy="36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nchor="ctr">
            <a:spAutoFit/>
          </a:bodyPr>
          <a:lstStyle/>
          <a:p>
            <a:pPr algn="l" rtl="0" fontAlgn="base">
              <a:spcBef>
                <a:spcPct val="0"/>
              </a:spcBef>
              <a:spcAft>
                <a:spcPct val="0"/>
              </a:spcAft>
            </a:pPr>
            <a:endParaRPr lang="en-US" kern="1200">
              <a:solidFill>
                <a:prstClr val="black"/>
              </a:solidFill>
              <a:latin typeface="Arial" charset="0"/>
              <a:ea typeface="+mn-ea"/>
              <a:cs typeface="+mn-cs"/>
            </a:endParaRPr>
          </a:p>
        </p:txBody>
      </p:sp>
      <p:graphicFrame>
        <p:nvGraphicFramePr>
          <p:cNvPr id="1026" name="Object 3"/>
          <p:cNvGraphicFramePr>
            <a:graphicFrameLocks noChangeAspect="1"/>
          </p:cNvGraphicFramePr>
          <p:nvPr/>
        </p:nvGraphicFramePr>
        <p:xfrm>
          <a:off x="1285877" y="4333875"/>
          <a:ext cx="6588125" cy="452438"/>
        </p:xfrm>
        <a:graphic>
          <a:graphicData uri="http://schemas.openxmlformats.org/presentationml/2006/ole">
            <mc:AlternateContent xmlns:mc="http://schemas.openxmlformats.org/markup-compatibility/2006">
              <mc:Choice xmlns:v="urn:schemas-microsoft-com:vml" Requires="v">
                <p:oleObj spid="_x0000_s1026" name="Equation" r:id="rId3" imgW="3467100" imgH="241300" progId="Equation.3">
                  <p:embed/>
                </p:oleObj>
              </mc:Choice>
              <mc:Fallback>
                <p:oleObj name="Equation" r:id="rId3" imgW="34671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7" y="4333875"/>
                        <a:ext cx="6588125"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4" name="Straight Arrow Connector 23"/>
          <p:cNvCxnSpPr>
            <a:endCxn id="10" idx="2"/>
          </p:cNvCxnSpPr>
          <p:nvPr/>
        </p:nvCxnSpPr>
        <p:spPr>
          <a:xfrm flipV="1">
            <a:off x="2928938" y="5643563"/>
            <a:ext cx="5715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126966"/>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NFA – DFA equivalence</a:t>
            </a:r>
            <a:endParaRPr lang="el-GR" smtClean="0"/>
          </a:p>
        </p:txBody>
      </p:sp>
      <p:sp>
        <p:nvSpPr>
          <p:cNvPr id="11267" name="Content Placeholder 2"/>
          <p:cNvSpPr>
            <a:spLocks noGrp="1"/>
          </p:cNvSpPr>
          <p:nvPr>
            <p:ph idx="1"/>
          </p:nvPr>
        </p:nvSpPr>
        <p:spPr/>
        <p:txBody>
          <a:bodyPr/>
          <a:lstStyle/>
          <a:p>
            <a:r>
              <a:rPr lang="en-US" dirty="0" smtClean="0"/>
              <a:t>So  only want to keep information about these subsets of states that can be reached from the initial state after following arrows.</a:t>
            </a:r>
          </a:p>
          <a:p>
            <a:r>
              <a:rPr lang="en-US" dirty="0" smtClean="0"/>
              <a:t>Since all the subsets of Q are 2</a:t>
            </a:r>
            <a:r>
              <a:rPr lang="en-US" baseline="30000" dirty="0" smtClean="0"/>
              <a:t>|Q|</a:t>
            </a:r>
            <a:r>
              <a:rPr lang="en-US" dirty="0" smtClean="0"/>
              <a:t> in total, this should be a finite (&lt;= 2</a:t>
            </a:r>
            <a:r>
              <a:rPr lang="en-US" baseline="30000" dirty="0" smtClean="0"/>
              <a:t>|Q|</a:t>
            </a:r>
            <a:r>
              <a:rPr lang="en-US" dirty="0" smtClean="0"/>
              <a:t>) number of subsets. </a:t>
            </a:r>
          </a:p>
          <a:p>
            <a:r>
              <a:rPr lang="en-US" dirty="0" smtClean="0"/>
              <a:t> consider each subset of states of the NFA as a state of the DFA and every subset of states containing a final state as a final state of the DFA.</a:t>
            </a:r>
            <a:endParaRPr lang="el-GR" dirty="0" smtClean="0"/>
          </a:p>
        </p:txBody>
      </p:sp>
    </p:spTree>
    <p:extLst>
      <p:ext uri="{BB962C8B-B14F-4D97-AF65-F5344CB8AC3E}">
        <p14:creationId xmlns:p14="http://schemas.microsoft.com/office/powerpoint/2010/main" val="2346377029"/>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t>NFA – DFA equivalence</a:t>
            </a:r>
            <a:endParaRPr lang="el-GR" smtClean="0"/>
          </a:p>
        </p:txBody>
      </p:sp>
      <p:sp>
        <p:nvSpPr>
          <p:cNvPr id="12291" name="Content Placeholder 2"/>
          <p:cNvSpPr>
            <a:spLocks noGrp="1"/>
          </p:cNvSpPr>
          <p:nvPr>
            <p:ph idx="1"/>
          </p:nvPr>
        </p:nvSpPr>
        <p:spPr/>
        <p:txBody>
          <a:bodyPr/>
          <a:lstStyle/>
          <a:p>
            <a:pPr>
              <a:buFont typeface="Arial" charset="0"/>
              <a:buNone/>
            </a:pPr>
            <a:r>
              <a:rPr lang="en-US" smtClean="0"/>
              <a:t>Suppose that you want to find an equivalent DFA for an NFA . The algorithm is the following: </a:t>
            </a:r>
          </a:p>
          <a:p>
            <a:r>
              <a:rPr lang="en-US" smtClean="0"/>
              <a:t>Start from the start state and see where 0 or 1 takes you.</a:t>
            </a:r>
          </a:p>
          <a:p>
            <a:r>
              <a:rPr lang="en-US" smtClean="0"/>
              <a:t>For every new subset you find, see where 0 or 1 takes you.</a:t>
            </a:r>
          </a:p>
          <a:p>
            <a:r>
              <a:rPr lang="en-US" smtClean="0"/>
              <a:t>Repeat until no new subsets are found.</a:t>
            </a:r>
            <a:endParaRPr lang="el-GR" smtClean="0"/>
          </a:p>
        </p:txBody>
      </p:sp>
    </p:spTree>
    <p:extLst>
      <p:ext uri="{BB962C8B-B14F-4D97-AF65-F5344CB8AC3E}">
        <p14:creationId xmlns:p14="http://schemas.microsoft.com/office/powerpoint/2010/main" val="1741857305"/>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Title 1"/>
          <p:cNvSpPr>
            <a:spLocks noGrp="1"/>
          </p:cNvSpPr>
          <p:nvPr>
            <p:ph type="title"/>
          </p:nvPr>
        </p:nvSpPr>
        <p:spPr/>
        <p:txBody>
          <a:bodyPr/>
          <a:lstStyle/>
          <a:p>
            <a:r>
              <a:rPr lang="en-US" smtClean="0"/>
              <a:t>NFA – DFA equivalence (example)</a:t>
            </a:r>
            <a:endParaRPr lang="el-GR" smtClean="0"/>
          </a:p>
        </p:txBody>
      </p:sp>
      <p:sp>
        <p:nvSpPr>
          <p:cNvPr id="2055" name="Content Placeholder 2"/>
          <p:cNvSpPr>
            <a:spLocks noGrp="1"/>
          </p:cNvSpPr>
          <p:nvPr>
            <p:ph idx="1"/>
          </p:nvPr>
        </p:nvSpPr>
        <p:spPr>
          <a:xfrm>
            <a:off x="457200" y="1600202"/>
            <a:ext cx="8229600" cy="1185863"/>
          </a:xfrm>
        </p:spPr>
        <p:txBody>
          <a:bodyPr/>
          <a:lstStyle/>
          <a:p>
            <a:pPr>
              <a:buFont typeface="Arial" charset="0"/>
              <a:buNone/>
            </a:pPr>
            <a:r>
              <a:rPr lang="en-US" dirty="0" smtClean="0"/>
              <a:t>To find an equivalent DFA with the NFA of the figure, complete the following table:</a:t>
            </a:r>
          </a:p>
          <a:p>
            <a:pPr>
              <a:buFont typeface="Arial" charset="0"/>
              <a:buNone/>
            </a:pPr>
            <a:endParaRPr lang="en-US" dirty="0" smtClean="0"/>
          </a:p>
        </p:txBody>
      </p:sp>
      <p:graphicFrame>
        <p:nvGraphicFramePr>
          <p:cNvPr id="4" name="Table 3"/>
          <p:cNvGraphicFramePr>
            <a:graphicFrameLocks noGrp="1"/>
          </p:cNvGraphicFramePr>
          <p:nvPr/>
        </p:nvGraphicFramePr>
        <p:xfrm>
          <a:off x="571500" y="3214690"/>
          <a:ext cx="3500438" cy="2595565"/>
        </p:xfrm>
        <a:graphic>
          <a:graphicData uri="http://schemas.openxmlformats.org/drawingml/2006/table">
            <a:tbl>
              <a:tblPr firstRow="1" bandRow="1">
                <a:tableStyleId>{5C22544A-7EE6-4342-B048-85BDC9FD1C3A}</a:tableStyleId>
              </a:tblPr>
              <a:tblGrid>
                <a:gridCol w="1192522"/>
                <a:gridCol w="1192522"/>
                <a:gridCol w="1115394"/>
              </a:tblGrid>
              <a:tr h="370795">
                <a:tc>
                  <a:txBody>
                    <a:bodyPr/>
                    <a:lstStyle/>
                    <a:p>
                      <a:pPr algn="ctr"/>
                      <a:endParaRPr lang="el-GR" sz="1800" dirty="0"/>
                    </a:p>
                  </a:txBody>
                  <a:tcPr marL="91439" marR="91439" marT="45714" marB="45714"/>
                </a:tc>
                <a:tc>
                  <a:txBody>
                    <a:bodyPr/>
                    <a:lstStyle/>
                    <a:p>
                      <a:pPr algn="ctr"/>
                      <a:r>
                        <a:rPr lang="en-US" sz="1800" dirty="0" smtClean="0"/>
                        <a:t>0</a:t>
                      </a:r>
                      <a:endParaRPr lang="el-GR" sz="1800" dirty="0"/>
                    </a:p>
                  </a:txBody>
                  <a:tcPr marL="91439" marR="91439" marT="45714" marB="45714"/>
                </a:tc>
                <a:tc>
                  <a:txBody>
                    <a:bodyPr/>
                    <a:lstStyle/>
                    <a:p>
                      <a:pPr algn="ctr"/>
                      <a:r>
                        <a:rPr lang="en-US" sz="1800" dirty="0" smtClean="0"/>
                        <a:t>1</a:t>
                      </a:r>
                      <a:endParaRPr lang="el-GR" sz="1800" dirty="0"/>
                    </a:p>
                  </a:txBody>
                  <a:tcPr marL="91439" marR="91439" marT="45714" marB="45714"/>
                </a:tc>
              </a:tr>
              <a:tr h="370795">
                <a:tc>
                  <a:txBody>
                    <a:bodyPr/>
                    <a:lstStyle/>
                    <a:p>
                      <a:pPr algn="ctr"/>
                      <a:r>
                        <a:rPr lang="en-US" sz="1800" dirty="0" smtClean="0"/>
                        <a:t>q</a:t>
                      </a:r>
                      <a:r>
                        <a:rPr lang="en-US" sz="1800" baseline="-25000" dirty="0" smtClean="0"/>
                        <a:t>0</a:t>
                      </a:r>
                      <a:endParaRPr lang="el-GR" sz="1800" baseline="-25000" dirty="0"/>
                    </a:p>
                  </a:txBody>
                  <a:tcPr marL="91439" marR="91439" marT="45714" marB="45714"/>
                </a:tc>
                <a:tc>
                  <a:txBody>
                    <a:bodyPr/>
                    <a:lstStyle/>
                    <a:p>
                      <a:pPr algn="ctr"/>
                      <a:r>
                        <a:rPr lang="en-US" sz="1800" dirty="0" smtClean="0"/>
                        <a:t>{q</a:t>
                      </a:r>
                      <a:r>
                        <a:rPr lang="en-US" sz="1800" baseline="-25000" dirty="0" smtClean="0"/>
                        <a:t>1</a:t>
                      </a:r>
                      <a:r>
                        <a:rPr lang="en-US" sz="1800" dirty="0" smtClean="0"/>
                        <a:t>}</a:t>
                      </a:r>
                      <a:endParaRPr lang="el-GR" sz="1800" dirty="0"/>
                    </a:p>
                  </a:txBody>
                  <a:tcPr marL="91439" marR="91439" marT="45714" marB="45714"/>
                </a:tc>
                <a:tc>
                  <a:txBody>
                    <a:bodyPr/>
                    <a:lstStyle/>
                    <a:p>
                      <a:pPr algn="ct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a:p>
                  </a:txBody>
                  <a:tcPr marL="91439" marR="91439" marT="45714" marB="45714"/>
                </a:tc>
              </a:tr>
              <a:tr h="370795">
                <a:tc>
                  <a:txBody>
                    <a:bodyPr/>
                    <a:lstStyle/>
                    <a:p>
                      <a:pPr algn="ctr"/>
                      <a:r>
                        <a:rPr lang="en-US" sz="1800" dirty="0" smtClean="0"/>
                        <a:t>{q</a:t>
                      </a:r>
                      <a:r>
                        <a:rPr lang="en-US" sz="1800" baseline="-25000" dirty="0" smtClean="0"/>
                        <a:t>1</a:t>
                      </a:r>
                      <a:r>
                        <a:rPr lang="en-US" sz="1800" dirty="0" smtClean="0"/>
                        <a:t>}</a:t>
                      </a:r>
                      <a:endParaRPr lang="el-GR" sz="1800" dirty="0"/>
                    </a:p>
                  </a:txBody>
                  <a:tcPr marL="91439" marR="91439" marT="45714" marB="45714"/>
                </a:tc>
                <a:tc>
                  <a:txBody>
                    <a:bodyPr/>
                    <a:lstStyle/>
                    <a:p>
                      <a:pPr algn="ctr"/>
                      <a:r>
                        <a:rPr lang="en-US" sz="1800" dirty="0" smtClean="0"/>
                        <a:t>{q</a:t>
                      </a:r>
                      <a:r>
                        <a:rPr lang="en-US" sz="1800" baseline="-25000" dirty="0" smtClean="0"/>
                        <a:t>0</a:t>
                      </a:r>
                      <a:r>
                        <a:rPr lang="en-US" sz="1800" dirty="0" smtClean="0"/>
                        <a:t>, q</a:t>
                      </a:r>
                      <a:r>
                        <a:rPr lang="en-US" sz="1800" baseline="-25000" dirty="0" smtClean="0"/>
                        <a:t>2</a:t>
                      </a:r>
                      <a:r>
                        <a:rPr lang="en-US" sz="1800" dirty="0" smtClean="0"/>
                        <a:t>}</a:t>
                      </a:r>
                      <a:endParaRPr lang="el-GR" sz="1800" dirty="0"/>
                    </a:p>
                  </a:txBody>
                  <a:tcPr marL="91439" marR="91439" marT="45714" marB="45714"/>
                </a:tc>
                <a:tc>
                  <a:txBody>
                    <a:bodyPr/>
                    <a:lstStyle/>
                    <a:p>
                      <a:pPr algn="ctr"/>
                      <a:endParaRPr lang="el-GR" sz="1800" dirty="0"/>
                    </a:p>
                  </a:txBody>
                  <a:tcPr marL="91439" marR="91439" marT="45714" marB="45714"/>
                </a:tc>
              </a:tr>
              <a:tr h="370795">
                <a:tc>
                  <a:txBody>
                    <a:bodyPr/>
                    <a:lstStyle/>
                    <a:p>
                      <a:pPr algn="ct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a:p>
                  </a:txBody>
                  <a:tcPr marL="91439" marR="91439" marT="45714" marB="45714"/>
                </a:tc>
                <a:tc>
                  <a:txBody>
                    <a:bodyPr/>
                    <a:lstStyle/>
                    <a:p>
                      <a:pPr algn="ctr"/>
                      <a:r>
                        <a:rPr lang="en-US" sz="1800" dirty="0" smtClean="0"/>
                        <a:t>{q</a:t>
                      </a:r>
                      <a:r>
                        <a:rPr lang="en-US" sz="1800" baseline="-25000" dirty="0" smtClean="0"/>
                        <a:t>0</a:t>
                      </a:r>
                      <a:r>
                        <a:rPr lang="en-US" sz="1800" dirty="0" smtClean="0"/>
                        <a:t>, q</a:t>
                      </a:r>
                      <a:r>
                        <a:rPr lang="en-US" sz="1800" baseline="-25000" dirty="0" smtClean="0"/>
                        <a:t>1</a:t>
                      </a:r>
                      <a:r>
                        <a:rPr lang="en-US" sz="1800" dirty="0" smtClean="0"/>
                        <a:t>, q</a:t>
                      </a:r>
                      <a:r>
                        <a:rPr lang="en-US" sz="1800" baseline="-25000" dirty="0" smtClean="0"/>
                        <a:t>2</a:t>
                      </a:r>
                      <a:r>
                        <a:rPr lang="en-US" sz="1800" dirty="0" smtClean="0"/>
                        <a:t>}</a:t>
                      </a:r>
                      <a:endParaRPr lang="el-GR" sz="1800" dirty="0"/>
                    </a:p>
                  </a:txBody>
                  <a:tcPr marL="91439" marR="91439" marT="45714" marB="45714"/>
                </a:tc>
                <a:tc>
                  <a:txBody>
                    <a:bodyPr/>
                    <a:lstStyle/>
                    <a:p>
                      <a:pPr algn="ct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a:p>
                  </a:txBody>
                  <a:tcPr marL="91439" marR="91439" marT="45714" marB="45714"/>
                </a:tc>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2</a:t>
                      </a:r>
                      <a:r>
                        <a:rPr lang="en-US" sz="1800" dirty="0" smtClean="0"/>
                        <a:t>}</a:t>
                      </a: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1</a:t>
                      </a:r>
                      <a:r>
                        <a:rPr lang="en-US" sz="1800" dirty="0" smtClean="0"/>
                        <a:t>}</a:t>
                      </a: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smtClean="0"/>
                    </a:p>
                  </a:txBody>
                  <a:tcPr marL="91439" marR="91439" marT="45714" marB="45714"/>
                </a:tc>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l-GR" sz="1800" dirty="0" smtClean="0"/>
                    </a:p>
                  </a:txBody>
                  <a:tcPr marL="91439" marR="91439" marT="45714" marB="45714"/>
                </a:tc>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1</a:t>
                      </a:r>
                      <a:r>
                        <a:rPr lang="en-US" sz="1800" dirty="0" smtClean="0"/>
                        <a:t>, q</a:t>
                      </a:r>
                      <a:r>
                        <a:rPr lang="en-US" sz="1800" baseline="-25000" dirty="0" smtClean="0"/>
                        <a:t>2</a:t>
                      </a:r>
                      <a:r>
                        <a:rPr lang="en-US" sz="1800" dirty="0" smtClean="0"/>
                        <a:t>}</a:t>
                      </a: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1</a:t>
                      </a:r>
                      <a:r>
                        <a:rPr lang="en-US" sz="1800" dirty="0" smtClean="0"/>
                        <a:t>, q</a:t>
                      </a:r>
                      <a:r>
                        <a:rPr lang="en-US" sz="1800" baseline="-25000" dirty="0" smtClean="0"/>
                        <a:t>2</a:t>
                      </a:r>
                      <a:r>
                        <a:rPr lang="en-US" sz="1800" dirty="0" smtClean="0"/>
                        <a:t>}</a:t>
                      </a: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smtClean="0"/>
                    </a:p>
                  </a:txBody>
                  <a:tcPr marL="91439" marR="91439" marT="45714" marB="45714"/>
                </a:tc>
              </a:tr>
            </a:tbl>
          </a:graphicData>
        </a:graphic>
      </p:graphicFrame>
      <p:grpSp>
        <p:nvGrpSpPr>
          <p:cNvPr id="2090" name="Group 143"/>
          <p:cNvGrpSpPr>
            <a:grpSpLocks/>
          </p:cNvGrpSpPr>
          <p:nvPr/>
        </p:nvGrpSpPr>
        <p:grpSpPr bwMode="auto">
          <a:xfrm>
            <a:off x="1095375" y="4000500"/>
            <a:ext cx="2547938" cy="1428750"/>
            <a:chOff x="833411" y="4738996"/>
            <a:chExt cx="2547954" cy="1428760"/>
          </a:xfrm>
        </p:grpSpPr>
        <p:graphicFrame>
          <p:nvGraphicFramePr>
            <p:cNvPr id="2050" name="Object 4"/>
            <p:cNvGraphicFramePr>
              <a:graphicFrameLocks noChangeAspect="1"/>
            </p:cNvGraphicFramePr>
            <p:nvPr/>
          </p:nvGraphicFramePr>
          <p:xfrm>
            <a:off x="833411" y="5882004"/>
            <a:ext cx="238127" cy="285752"/>
          </p:xfrm>
          <a:graphic>
            <a:graphicData uri="http://schemas.openxmlformats.org/presentationml/2006/ole">
              <mc:AlternateContent xmlns:mc="http://schemas.openxmlformats.org/markup-compatibility/2006">
                <mc:Choice xmlns:v="urn:schemas-microsoft-com:vml" Requires="v">
                  <p:oleObj spid="_x0000_s2050" name="Equation" r:id="rId3" imgW="126720" imgH="177480" progId="Equation.3">
                    <p:embed/>
                  </p:oleObj>
                </mc:Choice>
                <mc:Fallback>
                  <p:oleObj name="Equation" r:id="rId3"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411" y="5882004"/>
                          <a:ext cx="238127" cy="285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 name="Object 7"/>
            <p:cNvGraphicFramePr>
              <a:graphicFrameLocks noChangeAspect="1"/>
            </p:cNvGraphicFramePr>
            <p:nvPr/>
          </p:nvGraphicFramePr>
          <p:xfrm>
            <a:off x="3143240" y="4738996"/>
            <a:ext cx="238125" cy="285750"/>
          </p:xfrm>
          <a:graphic>
            <a:graphicData uri="http://schemas.openxmlformats.org/presentationml/2006/ole">
              <mc:AlternateContent xmlns:mc="http://schemas.openxmlformats.org/markup-compatibility/2006">
                <mc:Choice xmlns:v="urn:schemas-microsoft-com:vml" Requires="v">
                  <p:oleObj spid="_x0000_s2051" name="Equation" r:id="rId5" imgW="126720" imgH="177480" progId="Equation.3">
                    <p:embed/>
                  </p:oleObj>
                </mc:Choice>
                <mc:Fallback>
                  <p:oleObj name="Equation" r:id="rId5"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40" y="4738996"/>
                          <a:ext cx="2381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2" name="Object 8"/>
            <p:cNvGraphicFramePr>
              <a:graphicFrameLocks noChangeAspect="1"/>
            </p:cNvGraphicFramePr>
            <p:nvPr/>
          </p:nvGraphicFramePr>
          <p:xfrm>
            <a:off x="3143240" y="5882004"/>
            <a:ext cx="238125" cy="285750"/>
          </p:xfrm>
          <a:graphic>
            <a:graphicData uri="http://schemas.openxmlformats.org/presentationml/2006/ole">
              <mc:AlternateContent xmlns:mc="http://schemas.openxmlformats.org/markup-compatibility/2006">
                <mc:Choice xmlns:v="urn:schemas-microsoft-com:vml" Requires="v">
                  <p:oleObj spid="_x0000_s2052" name="Equation" r:id="rId6" imgW="126720" imgH="177480" progId="Equation.3">
                    <p:embed/>
                  </p:oleObj>
                </mc:Choice>
                <mc:Fallback>
                  <p:oleObj name="Equation" r:id="rId6"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40" y="5882004"/>
                          <a:ext cx="2381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3" name="Object 9"/>
            <p:cNvGraphicFramePr>
              <a:graphicFrameLocks noChangeAspect="1"/>
            </p:cNvGraphicFramePr>
            <p:nvPr/>
          </p:nvGraphicFramePr>
          <p:xfrm>
            <a:off x="1976421" y="5882004"/>
            <a:ext cx="238125" cy="285750"/>
          </p:xfrm>
          <a:graphic>
            <a:graphicData uri="http://schemas.openxmlformats.org/presentationml/2006/ole">
              <mc:AlternateContent xmlns:mc="http://schemas.openxmlformats.org/markup-compatibility/2006">
                <mc:Choice xmlns:v="urn:schemas-microsoft-com:vml" Requires="v">
                  <p:oleObj spid="_x0000_s2053" name="Equation" r:id="rId7" imgW="126720" imgH="177480" progId="Equation.3">
                    <p:embed/>
                  </p:oleObj>
                </mc:Choice>
                <mc:Fallback>
                  <p:oleObj name="Equation" r:id="rId7"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6421" y="5882004"/>
                          <a:ext cx="2381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091" name="Group 144"/>
          <p:cNvGrpSpPr>
            <a:grpSpLocks/>
          </p:cNvGrpSpPr>
          <p:nvPr/>
        </p:nvGrpSpPr>
        <p:grpSpPr bwMode="auto">
          <a:xfrm>
            <a:off x="4429125" y="3487738"/>
            <a:ext cx="3643313" cy="1084262"/>
            <a:chOff x="4429138" y="3487745"/>
            <a:chExt cx="3643324" cy="1084263"/>
          </a:xfrm>
        </p:grpSpPr>
        <p:cxnSp>
          <p:nvCxnSpPr>
            <p:cNvPr id="47" name="Straight Arrow Connector 46"/>
            <p:cNvCxnSpPr>
              <a:stCxn id="16" idx="6"/>
              <a:endCxn id="7" idx="2"/>
            </p:cNvCxnSpPr>
            <p:nvPr/>
          </p:nvCxnSpPr>
          <p:spPr>
            <a:xfrm>
              <a:off x="6858020" y="4286258"/>
              <a:ext cx="6429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093" name="Group 48"/>
            <p:cNvGrpSpPr>
              <a:grpSpLocks/>
            </p:cNvGrpSpPr>
            <p:nvPr/>
          </p:nvGrpSpPr>
          <p:grpSpPr bwMode="auto">
            <a:xfrm>
              <a:off x="4429138" y="3487745"/>
              <a:ext cx="3643324" cy="1084263"/>
              <a:chOff x="1071538" y="2571744"/>
              <a:chExt cx="3643324" cy="1084263"/>
            </a:xfrm>
          </p:grpSpPr>
          <p:grpSp>
            <p:nvGrpSpPr>
              <p:cNvPr id="2094" name="Group 4"/>
              <p:cNvGrpSpPr>
                <a:grpSpLocks/>
              </p:cNvGrpSpPr>
              <p:nvPr/>
            </p:nvGrpSpPr>
            <p:grpSpPr bwMode="auto">
              <a:xfrm>
                <a:off x="1500166" y="2571744"/>
                <a:ext cx="3214696" cy="1084263"/>
                <a:chOff x="3286117" y="4845050"/>
                <a:chExt cx="3214696" cy="1084263"/>
              </a:xfrm>
            </p:grpSpPr>
            <p:grpSp>
              <p:nvGrpSpPr>
                <p:cNvPr id="2096" name="Group 22"/>
                <p:cNvGrpSpPr>
                  <a:grpSpLocks/>
                </p:cNvGrpSpPr>
                <p:nvPr/>
              </p:nvGrpSpPr>
              <p:grpSpPr bwMode="auto">
                <a:xfrm>
                  <a:off x="3286117" y="4845050"/>
                  <a:ext cx="2000254" cy="1084263"/>
                  <a:chOff x="3643306" y="4416996"/>
                  <a:chExt cx="2000271" cy="1083705"/>
                </a:xfrm>
              </p:grpSpPr>
              <p:grpSp>
                <p:nvGrpSpPr>
                  <p:cNvPr id="2099" name="Group 17"/>
                  <p:cNvGrpSpPr>
                    <a:grpSpLocks/>
                  </p:cNvGrpSpPr>
                  <p:nvPr/>
                </p:nvGrpSpPr>
                <p:grpSpPr bwMode="auto">
                  <a:xfrm>
                    <a:off x="3643306" y="4572008"/>
                    <a:ext cx="2000271" cy="928693"/>
                    <a:chOff x="3643306" y="2285992"/>
                    <a:chExt cx="2000271" cy="928693"/>
                  </a:xfrm>
                </p:grpSpPr>
                <p:grpSp>
                  <p:nvGrpSpPr>
                    <p:cNvPr id="2102" name="Group 3"/>
                    <p:cNvGrpSpPr>
                      <a:grpSpLocks/>
                    </p:cNvGrpSpPr>
                    <p:nvPr/>
                  </p:nvGrpSpPr>
                  <p:grpSpPr bwMode="auto">
                    <a:xfrm>
                      <a:off x="3643306" y="2285992"/>
                      <a:ext cx="2000271" cy="928693"/>
                      <a:chOff x="3286116" y="3143248"/>
                      <a:chExt cx="2000271" cy="928693"/>
                    </a:xfrm>
                  </p:grpSpPr>
                  <p:sp>
                    <p:nvSpPr>
                      <p:cNvPr id="15" name="Oval 9"/>
                      <p:cNvSpPr/>
                      <p:nvPr/>
                    </p:nvSpPr>
                    <p:spPr>
                      <a:xfrm>
                        <a:off x="3500429" y="3500734"/>
                        <a:ext cx="571507" cy="571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0</a:t>
                        </a:r>
                        <a:endParaRPr lang="el-GR" kern="1200" dirty="0">
                          <a:solidFill>
                            <a:prstClr val="black">
                              <a:lumMod val="75000"/>
                              <a:lumOff val="25000"/>
                            </a:prstClr>
                          </a:solidFill>
                        </a:endParaRPr>
                      </a:p>
                    </p:txBody>
                  </p:sp>
                  <p:sp>
                    <p:nvSpPr>
                      <p:cNvPr id="16" name="Oval 5"/>
                      <p:cNvSpPr/>
                      <p:nvPr/>
                    </p:nvSpPr>
                    <p:spPr>
                      <a:xfrm>
                        <a:off x="4714880" y="3500734"/>
                        <a:ext cx="571507" cy="571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1</a:t>
                        </a:r>
                        <a:endParaRPr lang="el-GR" kern="1200" dirty="0">
                          <a:solidFill>
                            <a:prstClr val="black">
                              <a:lumMod val="75000"/>
                              <a:lumOff val="25000"/>
                            </a:prstClr>
                          </a:solidFill>
                        </a:endParaRPr>
                      </a:p>
                    </p:txBody>
                  </p:sp>
                  <p:cxnSp>
                    <p:nvCxnSpPr>
                      <p:cNvPr id="17" name="Straight Arrow Connector 16"/>
                      <p:cNvCxnSpPr/>
                      <p:nvPr/>
                    </p:nvCxnSpPr>
                    <p:spPr>
                      <a:xfrm>
                        <a:off x="4071936" y="3786338"/>
                        <a:ext cx="642944"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hape 7"/>
                      <p:cNvCxnSpPr/>
                      <p:nvPr/>
                    </p:nvCxnSpPr>
                    <p:spPr>
                      <a:xfrm rot="5400000" flipH="1" flipV="1">
                        <a:off x="3643328" y="3441974"/>
                        <a:ext cx="84095" cy="201615"/>
                      </a:xfrm>
                      <a:prstGeom prst="curvedConnector3">
                        <a:avLst>
                          <a:gd name="adj1" fmla="val 408378"/>
                        </a:avLst>
                      </a:prstGeom>
                      <a:ln>
                        <a:tailEnd type="arrow"/>
                      </a:ln>
                    </p:spPr>
                    <p:style>
                      <a:lnRef idx="1">
                        <a:schemeClr val="accent1"/>
                      </a:lnRef>
                      <a:fillRef idx="0">
                        <a:schemeClr val="accent1"/>
                      </a:fillRef>
                      <a:effectRef idx="0">
                        <a:schemeClr val="accent1"/>
                      </a:effectRef>
                      <a:fontRef idx="minor">
                        <a:schemeClr val="tx1"/>
                      </a:fontRef>
                    </p:style>
                  </p:cxnSp>
                  <p:sp>
                    <p:nvSpPr>
                      <p:cNvPr id="2108" name="TextBox 8"/>
                      <p:cNvSpPr txBox="1">
                        <a:spLocks noChangeArrowheads="1"/>
                      </p:cNvSpPr>
                      <p:nvPr/>
                    </p:nvSpPr>
                    <p:spPr bwMode="auto">
                      <a:xfrm>
                        <a:off x="3286116" y="3143248"/>
                        <a:ext cx="301689" cy="369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kern="1200">
                            <a:solidFill>
                              <a:prstClr val="black"/>
                            </a:solidFill>
                            <a:latin typeface="Calibri" pitchFamily="34" charset="0"/>
                            <a:ea typeface="+mn-ea"/>
                            <a:cs typeface="+mn-cs"/>
                          </a:rPr>
                          <a:t>1</a:t>
                        </a:r>
                        <a:endParaRPr lang="el-GR" kern="1200">
                          <a:solidFill>
                            <a:prstClr val="black"/>
                          </a:solidFill>
                          <a:latin typeface="Calibri" pitchFamily="34" charset="0"/>
                          <a:ea typeface="+mn-ea"/>
                          <a:cs typeface="+mn-cs"/>
                        </a:endParaRPr>
                      </a:p>
                    </p:txBody>
                  </p:sp>
                  <p:sp>
                    <p:nvSpPr>
                      <p:cNvPr id="2109" name="TextBox 9"/>
                      <p:cNvSpPr txBox="1">
                        <a:spLocks noChangeArrowheads="1"/>
                      </p:cNvSpPr>
                      <p:nvPr/>
                    </p:nvSpPr>
                    <p:spPr bwMode="auto">
                      <a:xfrm>
                        <a:off x="4143372" y="3500438"/>
                        <a:ext cx="476417" cy="369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kern="1200">
                            <a:solidFill>
                              <a:prstClr val="black"/>
                            </a:solidFill>
                            <a:latin typeface="Calibri" pitchFamily="34" charset="0"/>
                            <a:ea typeface="+mn-ea"/>
                            <a:cs typeface="+mn-cs"/>
                          </a:rPr>
                          <a:t>0,1</a:t>
                        </a:r>
                        <a:endParaRPr lang="el-GR" kern="1200">
                          <a:solidFill>
                            <a:prstClr val="black"/>
                          </a:solidFill>
                          <a:latin typeface="Calibri" pitchFamily="34" charset="0"/>
                          <a:ea typeface="+mn-ea"/>
                          <a:cs typeface="+mn-cs"/>
                        </a:endParaRPr>
                      </a:p>
                    </p:txBody>
                  </p:sp>
                </p:grpSp>
                <p:sp>
                  <p:nvSpPr>
                    <p:cNvPr id="14" name="Oval 13"/>
                    <p:cNvSpPr/>
                    <p:nvPr/>
                  </p:nvSpPr>
                  <p:spPr>
                    <a:xfrm>
                      <a:off x="5143509" y="2724400"/>
                      <a:ext cx="419105" cy="41888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endParaRPr lang="el-GR" kern="1200" dirty="0">
                        <a:solidFill>
                          <a:prstClr val="black">
                            <a:lumMod val="75000"/>
                            <a:lumOff val="25000"/>
                          </a:prstClr>
                        </a:solidFill>
                      </a:endParaRPr>
                    </a:p>
                  </p:txBody>
                </p:sp>
              </p:grpSp>
              <p:cxnSp>
                <p:nvCxnSpPr>
                  <p:cNvPr id="11" name="Curved Connector 10"/>
                  <p:cNvCxnSpPr>
                    <a:stCxn id="16" idx="1"/>
                  </p:cNvCxnSpPr>
                  <p:nvPr/>
                </p:nvCxnSpPr>
                <p:spPr>
                  <a:xfrm rot="16200000" flipV="1">
                    <a:off x="4750599" y="4607978"/>
                    <a:ext cx="1587" cy="809634"/>
                  </a:xfrm>
                  <a:prstGeom prst="curvedConnector3">
                    <a:avLst>
                      <a:gd name="adj1" fmla="val 19665869"/>
                    </a:avLst>
                  </a:prstGeom>
                  <a:ln>
                    <a:tailEnd type="arrow"/>
                  </a:ln>
                </p:spPr>
                <p:style>
                  <a:lnRef idx="1">
                    <a:schemeClr val="accent1"/>
                  </a:lnRef>
                  <a:fillRef idx="0">
                    <a:schemeClr val="accent1"/>
                  </a:fillRef>
                  <a:effectRef idx="0">
                    <a:schemeClr val="accent1"/>
                  </a:effectRef>
                  <a:fontRef idx="minor">
                    <a:schemeClr val="tx1"/>
                  </a:fontRef>
                </p:style>
              </p:cxnSp>
              <p:sp>
                <p:nvSpPr>
                  <p:cNvPr id="2101" name="TextBox 21"/>
                  <p:cNvSpPr txBox="1">
                    <a:spLocks noChangeArrowheads="1"/>
                  </p:cNvSpPr>
                  <p:nvPr/>
                </p:nvSpPr>
                <p:spPr bwMode="auto">
                  <a:xfrm>
                    <a:off x="4572001" y="4416996"/>
                    <a:ext cx="301689" cy="369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kern="1200">
                        <a:solidFill>
                          <a:prstClr val="black"/>
                        </a:solidFill>
                        <a:latin typeface="Calibri" pitchFamily="34" charset="0"/>
                        <a:ea typeface="+mn-ea"/>
                        <a:cs typeface="+mn-cs"/>
                      </a:rPr>
                      <a:t>0</a:t>
                    </a:r>
                    <a:endParaRPr lang="el-GR" kern="1200">
                      <a:solidFill>
                        <a:prstClr val="black"/>
                      </a:solidFill>
                      <a:latin typeface="Calibri" pitchFamily="34" charset="0"/>
                      <a:ea typeface="+mn-ea"/>
                      <a:cs typeface="+mn-cs"/>
                    </a:endParaRPr>
                  </a:p>
                </p:txBody>
              </p:sp>
            </p:grpSp>
            <p:sp>
              <p:nvSpPr>
                <p:cNvPr id="7" name="Oval 6"/>
                <p:cNvSpPr/>
                <p:nvPr/>
              </p:nvSpPr>
              <p:spPr bwMode="auto">
                <a:xfrm>
                  <a:off x="5929311" y="5357812"/>
                  <a:ext cx="571502" cy="57150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2</a:t>
                  </a:r>
                  <a:endParaRPr lang="el-GR" kern="1200" dirty="0">
                    <a:solidFill>
                      <a:prstClr val="black">
                        <a:lumMod val="75000"/>
                        <a:lumOff val="25000"/>
                      </a:prstClr>
                    </a:solidFill>
                  </a:endParaRPr>
                </a:p>
              </p:txBody>
            </p:sp>
            <p:sp>
              <p:nvSpPr>
                <p:cNvPr id="2098" name="TextBox 21"/>
                <p:cNvSpPr txBox="1">
                  <a:spLocks noChangeArrowheads="1"/>
                </p:cNvSpPr>
                <p:nvPr/>
              </p:nvSpPr>
              <p:spPr bwMode="auto">
                <a:xfrm>
                  <a:off x="5429256" y="5214950"/>
                  <a:ext cx="3016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kern="1200">
                      <a:solidFill>
                        <a:prstClr val="black"/>
                      </a:solidFill>
                      <a:latin typeface="Calibri" pitchFamily="34" charset="0"/>
                      <a:ea typeface="+mn-ea"/>
                      <a:cs typeface="+mn-cs"/>
                    </a:rPr>
                    <a:t>0</a:t>
                  </a:r>
                  <a:endParaRPr lang="el-GR" kern="1200">
                    <a:solidFill>
                      <a:prstClr val="black"/>
                    </a:solidFill>
                    <a:latin typeface="Calibri" pitchFamily="34" charset="0"/>
                    <a:ea typeface="+mn-ea"/>
                    <a:cs typeface="+mn-cs"/>
                  </a:endParaRPr>
                </a:p>
              </p:txBody>
            </p:sp>
          </p:grpSp>
          <p:cxnSp>
            <p:nvCxnSpPr>
              <p:cNvPr id="48" name="Straight Arrow Connector 47"/>
              <p:cNvCxnSpPr/>
              <p:nvPr/>
            </p:nvCxnSpPr>
            <p:spPr>
              <a:xfrm>
                <a:off x="1071538" y="3357557"/>
                <a:ext cx="64294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72365661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 name="Table 85"/>
          <p:cNvGraphicFramePr>
            <a:graphicFrameLocks noGrp="1"/>
          </p:cNvGraphicFramePr>
          <p:nvPr/>
        </p:nvGraphicFramePr>
        <p:xfrm>
          <a:off x="357188" y="3714752"/>
          <a:ext cx="3500436" cy="2595565"/>
        </p:xfrm>
        <a:graphic>
          <a:graphicData uri="http://schemas.openxmlformats.org/drawingml/2006/table">
            <a:tbl>
              <a:tblPr firstRow="1" bandRow="1">
                <a:tableStyleId>{5C22544A-7EE6-4342-B048-85BDC9FD1C3A}</a:tableStyleId>
              </a:tblPr>
              <a:tblGrid>
                <a:gridCol w="1192521"/>
                <a:gridCol w="1192521"/>
                <a:gridCol w="1115394"/>
              </a:tblGrid>
              <a:tr h="370795">
                <a:tc>
                  <a:txBody>
                    <a:bodyPr/>
                    <a:lstStyle/>
                    <a:p>
                      <a:pPr algn="ctr"/>
                      <a:endParaRPr lang="el-GR" sz="1800" dirty="0"/>
                    </a:p>
                  </a:txBody>
                  <a:tcPr marL="91439" marR="91439" marT="45714" marB="45714"/>
                </a:tc>
                <a:tc>
                  <a:txBody>
                    <a:bodyPr/>
                    <a:lstStyle/>
                    <a:p>
                      <a:pPr algn="ctr"/>
                      <a:r>
                        <a:rPr lang="en-US" sz="1800" dirty="0" smtClean="0"/>
                        <a:t>0</a:t>
                      </a:r>
                      <a:endParaRPr lang="el-GR" sz="1800" dirty="0"/>
                    </a:p>
                  </a:txBody>
                  <a:tcPr marL="91439" marR="91439" marT="45714" marB="45714"/>
                </a:tc>
                <a:tc>
                  <a:txBody>
                    <a:bodyPr/>
                    <a:lstStyle/>
                    <a:p>
                      <a:pPr algn="ctr"/>
                      <a:r>
                        <a:rPr lang="en-US" sz="1800" dirty="0" smtClean="0"/>
                        <a:t>1</a:t>
                      </a:r>
                      <a:endParaRPr lang="el-GR" sz="1800" dirty="0"/>
                    </a:p>
                  </a:txBody>
                  <a:tcPr marL="91439" marR="91439" marT="45714" marB="45714"/>
                </a:tc>
              </a:tr>
              <a:tr h="370795">
                <a:tc>
                  <a:txBody>
                    <a:bodyPr/>
                    <a:lstStyle/>
                    <a:p>
                      <a:pPr algn="ctr"/>
                      <a:r>
                        <a:rPr lang="en-US" sz="1800" dirty="0" smtClean="0"/>
                        <a:t>q</a:t>
                      </a:r>
                      <a:r>
                        <a:rPr lang="en-US" sz="1800" baseline="-25000" dirty="0" smtClean="0"/>
                        <a:t>0</a:t>
                      </a:r>
                      <a:endParaRPr lang="el-GR" sz="1800" baseline="-25000" dirty="0"/>
                    </a:p>
                  </a:txBody>
                  <a:tcPr marL="91439" marR="91439" marT="45714" marB="45714"/>
                </a:tc>
                <a:tc>
                  <a:txBody>
                    <a:bodyPr/>
                    <a:lstStyle/>
                    <a:p>
                      <a:pPr algn="ctr"/>
                      <a:r>
                        <a:rPr lang="en-US" sz="1800" dirty="0" smtClean="0"/>
                        <a:t>{q</a:t>
                      </a:r>
                      <a:r>
                        <a:rPr lang="en-US" sz="1800" baseline="-25000" dirty="0" smtClean="0"/>
                        <a:t>1</a:t>
                      </a:r>
                      <a:r>
                        <a:rPr lang="en-US" sz="1800" dirty="0" smtClean="0"/>
                        <a:t>}</a:t>
                      </a:r>
                      <a:endParaRPr lang="el-GR" sz="1800" dirty="0"/>
                    </a:p>
                  </a:txBody>
                  <a:tcPr marL="91439" marR="91439" marT="45714" marB="45714"/>
                </a:tc>
                <a:tc>
                  <a:txBody>
                    <a:bodyPr/>
                    <a:lstStyle/>
                    <a:p>
                      <a:pPr algn="ct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a:p>
                  </a:txBody>
                  <a:tcPr marL="91439" marR="91439" marT="45714" marB="45714"/>
                </a:tc>
              </a:tr>
              <a:tr h="370795">
                <a:tc>
                  <a:txBody>
                    <a:bodyPr/>
                    <a:lstStyle/>
                    <a:p>
                      <a:pPr algn="ctr"/>
                      <a:r>
                        <a:rPr lang="en-US" sz="1800" dirty="0" smtClean="0"/>
                        <a:t>{q</a:t>
                      </a:r>
                      <a:r>
                        <a:rPr lang="en-US" sz="1800" baseline="-25000" dirty="0" smtClean="0"/>
                        <a:t>1</a:t>
                      </a:r>
                      <a:r>
                        <a:rPr lang="en-US" sz="1800" dirty="0" smtClean="0"/>
                        <a:t>}</a:t>
                      </a:r>
                      <a:endParaRPr lang="el-GR" sz="1800" dirty="0"/>
                    </a:p>
                  </a:txBody>
                  <a:tcPr marL="91439" marR="91439" marT="45714" marB="45714"/>
                </a:tc>
                <a:tc>
                  <a:txBody>
                    <a:bodyPr/>
                    <a:lstStyle/>
                    <a:p>
                      <a:pPr algn="ctr"/>
                      <a:r>
                        <a:rPr lang="en-US" sz="1800" dirty="0" smtClean="0"/>
                        <a:t>{q</a:t>
                      </a:r>
                      <a:r>
                        <a:rPr lang="en-US" sz="1800" baseline="-25000" dirty="0" smtClean="0"/>
                        <a:t>0</a:t>
                      </a:r>
                      <a:r>
                        <a:rPr lang="en-US" sz="1800" dirty="0" smtClean="0"/>
                        <a:t>, q</a:t>
                      </a:r>
                      <a:r>
                        <a:rPr lang="en-US" sz="1800" baseline="-25000" dirty="0" smtClean="0"/>
                        <a:t>2</a:t>
                      </a:r>
                      <a:r>
                        <a:rPr lang="en-US" sz="1800" dirty="0" smtClean="0"/>
                        <a:t>}</a:t>
                      </a:r>
                      <a:endParaRPr lang="el-GR" sz="1800" dirty="0"/>
                    </a:p>
                  </a:txBody>
                  <a:tcPr marL="91439" marR="91439" marT="45714" marB="45714"/>
                </a:tc>
                <a:tc>
                  <a:txBody>
                    <a:bodyPr/>
                    <a:lstStyle/>
                    <a:p>
                      <a:pPr algn="ctr"/>
                      <a:endParaRPr lang="el-GR" sz="1800" dirty="0"/>
                    </a:p>
                  </a:txBody>
                  <a:tcPr marL="91439" marR="91439" marT="45714" marB="45714"/>
                </a:tc>
              </a:tr>
              <a:tr h="370795">
                <a:tc>
                  <a:txBody>
                    <a:bodyPr/>
                    <a:lstStyle/>
                    <a:p>
                      <a:pPr algn="ct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a:p>
                  </a:txBody>
                  <a:tcPr marL="91439" marR="91439" marT="45714" marB="45714"/>
                </a:tc>
                <a:tc>
                  <a:txBody>
                    <a:bodyPr/>
                    <a:lstStyle/>
                    <a:p>
                      <a:pPr algn="ctr"/>
                      <a:r>
                        <a:rPr lang="en-US" sz="1800" dirty="0" smtClean="0"/>
                        <a:t>{q</a:t>
                      </a:r>
                      <a:r>
                        <a:rPr lang="en-US" sz="1800" baseline="-25000" dirty="0" smtClean="0"/>
                        <a:t>0</a:t>
                      </a:r>
                      <a:r>
                        <a:rPr lang="en-US" sz="1800" dirty="0" smtClean="0"/>
                        <a:t>, q</a:t>
                      </a:r>
                      <a:r>
                        <a:rPr lang="en-US" sz="1800" baseline="-25000" dirty="0" smtClean="0"/>
                        <a:t>1</a:t>
                      </a:r>
                      <a:r>
                        <a:rPr lang="en-US" sz="1800" dirty="0" smtClean="0"/>
                        <a:t>, q</a:t>
                      </a:r>
                      <a:r>
                        <a:rPr lang="en-US" sz="1800" baseline="-25000" dirty="0" smtClean="0"/>
                        <a:t>2</a:t>
                      </a:r>
                      <a:r>
                        <a:rPr lang="en-US" sz="1800" dirty="0" smtClean="0"/>
                        <a:t>}</a:t>
                      </a:r>
                      <a:endParaRPr lang="el-GR" sz="1800" dirty="0"/>
                    </a:p>
                  </a:txBody>
                  <a:tcPr marL="91439" marR="91439" marT="45714" marB="45714"/>
                </a:tc>
                <a:tc>
                  <a:txBody>
                    <a:bodyPr/>
                    <a:lstStyle/>
                    <a:p>
                      <a:pPr algn="ct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a:p>
                  </a:txBody>
                  <a:tcPr marL="91439" marR="91439" marT="45714" marB="45714"/>
                </a:tc>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2</a:t>
                      </a:r>
                      <a:r>
                        <a:rPr lang="en-US" sz="1800" dirty="0" smtClean="0"/>
                        <a:t>}</a:t>
                      </a: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1</a:t>
                      </a:r>
                      <a:r>
                        <a:rPr lang="en-US" sz="1800" dirty="0" smtClean="0"/>
                        <a:t>}</a:t>
                      </a: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smtClean="0"/>
                    </a:p>
                  </a:txBody>
                  <a:tcPr marL="91439" marR="91439" marT="45714" marB="45714"/>
                </a:tc>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l-GR" sz="1800" dirty="0" smtClean="0"/>
                    </a:p>
                  </a:txBody>
                  <a:tcPr marL="91439" marR="91439" marT="45714" marB="45714"/>
                </a:tc>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1</a:t>
                      </a:r>
                      <a:r>
                        <a:rPr lang="en-US" sz="1800" dirty="0" smtClean="0"/>
                        <a:t>, q</a:t>
                      </a:r>
                      <a:r>
                        <a:rPr lang="en-US" sz="1800" baseline="-25000" dirty="0" smtClean="0"/>
                        <a:t>2</a:t>
                      </a:r>
                      <a:r>
                        <a:rPr lang="en-US" sz="1800" dirty="0" smtClean="0"/>
                        <a:t>}</a:t>
                      </a: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1</a:t>
                      </a:r>
                      <a:r>
                        <a:rPr lang="en-US" sz="1800" dirty="0" smtClean="0"/>
                        <a:t>, q</a:t>
                      </a:r>
                      <a:r>
                        <a:rPr lang="en-US" sz="1800" baseline="-25000" dirty="0" smtClean="0"/>
                        <a:t>2</a:t>
                      </a:r>
                      <a:r>
                        <a:rPr lang="en-US" sz="1800" dirty="0" smtClean="0"/>
                        <a:t>}</a:t>
                      </a:r>
                      <a:endParaRPr lang="el-GR" sz="1800" dirty="0" smtClean="0"/>
                    </a:p>
                  </a:txBody>
                  <a:tcPr marL="91439" marR="91439" marT="45714" marB="4571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{q</a:t>
                      </a:r>
                      <a:r>
                        <a:rPr lang="en-US" sz="1800" baseline="-25000" dirty="0" smtClean="0"/>
                        <a:t>0</a:t>
                      </a:r>
                      <a:r>
                        <a:rPr lang="en-US" sz="1800" dirty="0" smtClean="0"/>
                        <a:t>, q</a:t>
                      </a:r>
                      <a:r>
                        <a:rPr lang="en-US" sz="1800" baseline="-25000" dirty="0" smtClean="0"/>
                        <a:t>1</a:t>
                      </a:r>
                      <a:r>
                        <a:rPr lang="en-US" sz="1800" dirty="0" smtClean="0"/>
                        <a:t>}</a:t>
                      </a:r>
                      <a:endParaRPr lang="el-GR" sz="1800" dirty="0" smtClean="0"/>
                    </a:p>
                  </a:txBody>
                  <a:tcPr marL="91439" marR="91439" marT="45714" marB="45714"/>
                </a:tc>
              </a:tr>
            </a:tbl>
          </a:graphicData>
        </a:graphic>
      </p:graphicFrame>
      <p:grpSp>
        <p:nvGrpSpPr>
          <p:cNvPr id="3113" name="Group 100"/>
          <p:cNvGrpSpPr>
            <a:grpSpLocks/>
          </p:cNvGrpSpPr>
          <p:nvPr/>
        </p:nvGrpSpPr>
        <p:grpSpPr bwMode="auto">
          <a:xfrm>
            <a:off x="3857625" y="1441450"/>
            <a:ext cx="4786313" cy="5143500"/>
            <a:chOff x="1571604" y="1142984"/>
            <a:chExt cx="4786346" cy="5273716"/>
          </a:xfrm>
        </p:grpSpPr>
        <p:cxnSp>
          <p:nvCxnSpPr>
            <p:cNvPr id="4" name="Curved Connector 3"/>
            <p:cNvCxnSpPr>
              <a:stCxn id="6" idx="7"/>
              <a:endCxn id="6" idx="1"/>
            </p:cNvCxnSpPr>
            <p:nvPr/>
          </p:nvCxnSpPr>
          <p:spPr bwMode="auto">
            <a:xfrm rot="16200000" flipV="1">
              <a:off x="4250529" y="4121951"/>
              <a:ext cx="1587" cy="555629"/>
            </a:xfrm>
            <a:prstGeom prst="curvedConnector3">
              <a:avLst>
                <a:gd name="adj1" fmla="val 21525252"/>
              </a:avLst>
            </a:prstGeom>
            <a:ln>
              <a:tailEnd type="arrow"/>
            </a:ln>
          </p:spPr>
          <p:style>
            <a:lnRef idx="1">
              <a:schemeClr val="accent1"/>
            </a:lnRef>
            <a:fillRef idx="0">
              <a:schemeClr val="accent1"/>
            </a:fillRef>
            <a:effectRef idx="0">
              <a:schemeClr val="accent1"/>
            </a:effectRef>
            <a:fontRef idx="minor">
              <a:schemeClr val="tx1"/>
            </a:fontRef>
          </p:style>
        </p:cxnSp>
        <p:grpSp>
          <p:nvGrpSpPr>
            <p:cNvPr id="3117" name="Group 4"/>
            <p:cNvGrpSpPr>
              <a:grpSpLocks/>
            </p:cNvGrpSpPr>
            <p:nvPr/>
          </p:nvGrpSpPr>
          <p:grpSpPr bwMode="auto">
            <a:xfrm>
              <a:off x="3857620" y="4286256"/>
              <a:ext cx="785821" cy="773122"/>
              <a:chOff x="6643702" y="3214686"/>
              <a:chExt cx="785821" cy="773122"/>
            </a:xfrm>
          </p:grpSpPr>
          <p:sp>
            <p:nvSpPr>
              <p:cNvPr id="6" name="Oval 9"/>
              <p:cNvSpPr/>
              <p:nvPr/>
            </p:nvSpPr>
            <p:spPr bwMode="auto">
              <a:xfrm>
                <a:off x="6643702" y="3214688"/>
                <a:ext cx="785818" cy="7731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01</a:t>
                </a:r>
                <a:endParaRPr lang="el-GR" kern="1200" dirty="0">
                  <a:solidFill>
                    <a:prstClr val="black">
                      <a:lumMod val="75000"/>
                      <a:lumOff val="25000"/>
                    </a:prstClr>
                  </a:solidFill>
                </a:endParaRPr>
              </a:p>
            </p:txBody>
          </p:sp>
          <p:sp>
            <p:nvSpPr>
              <p:cNvPr id="7" name="Oval 5"/>
              <p:cNvSpPr/>
              <p:nvPr/>
            </p:nvSpPr>
            <p:spPr bwMode="auto">
              <a:xfrm>
                <a:off x="6715140" y="3286127"/>
                <a:ext cx="642941" cy="64294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endParaRPr lang="el-GR" kern="1200" dirty="0">
                  <a:solidFill>
                    <a:prstClr val="black">
                      <a:lumMod val="75000"/>
                      <a:lumOff val="25000"/>
                    </a:prstClr>
                  </a:solidFill>
                </a:endParaRPr>
              </a:p>
            </p:txBody>
          </p:sp>
        </p:grpSp>
        <p:sp>
          <p:nvSpPr>
            <p:cNvPr id="8" name="Oval 9"/>
            <p:cNvSpPr/>
            <p:nvPr/>
          </p:nvSpPr>
          <p:spPr bwMode="auto">
            <a:xfrm>
              <a:off x="5572132" y="2857497"/>
              <a:ext cx="785818" cy="7731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02</a:t>
              </a:r>
              <a:endParaRPr lang="el-GR" kern="1200" dirty="0">
                <a:solidFill>
                  <a:prstClr val="black">
                    <a:lumMod val="75000"/>
                    <a:lumOff val="25000"/>
                  </a:prstClr>
                </a:solidFill>
              </a:endParaRPr>
            </a:p>
          </p:txBody>
        </p:sp>
        <p:cxnSp>
          <p:nvCxnSpPr>
            <p:cNvPr id="9" name="Straight Arrow Connector 8"/>
            <p:cNvCxnSpPr>
              <a:stCxn id="8" idx="4"/>
              <a:endCxn id="6" idx="6"/>
            </p:cNvCxnSpPr>
            <p:nvPr/>
          </p:nvCxnSpPr>
          <p:spPr>
            <a:xfrm rot="5400000">
              <a:off x="4783933" y="3490122"/>
              <a:ext cx="1041408" cy="13223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Oval 9"/>
            <p:cNvSpPr/>
            <p:nvPr/>
          </p:nvSpPr>
          <p:spPr bwMode="auto">
            <a:xfrm>
              <a:off x="2285984" y="2857497"/>
              <a:ext cx="785818" cy="7731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0</a:t>
              </a:r>
              <a:endParaRPr lang="el-GR" kern="1200" dirty="0">
                <a:solidFill>
                  <a:prstClr val="black">
                    <a:lumMod val="75000"/>
                    <a:lumOff val="25000"/>
                  </a:prstClr>
                </a:solidFill>
              </a:endParaRPr>
            </a:p>
          </p:txBody>
        </p:sp>
        <p:cxnSp>
          <p:nvCxnSpPr>
            <p:cNvPr id="12" name="Straight Arrow Connector 11"/>
            <p:cNvCxnSpPr>
              <a:stCxn id="11" idx="6"/>
              <a:endCxn id="18" idx="2"/>
            </p:cNvCxnSpPr>
            <p:nvPr/>
          </p:nvCxnSpPr>
          <p:spPr bwMode="auto">
            <a:xfrm>
              <a:off x="3071802" y="3244850"/>
              <a:ext cx="78581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3122" name="Group 16"/>
            <p:cNvGrpSpPr>
              <a:grpSpLocks/>
            </p:cNvGrpSpPr>
            <p:nvPr/>
          </p:nvGrpSpPr>
          <p:grpSpPr bwMode="auto">
            <a:xfrm>
              <a:off x="3857620" y="2857496"/>
              <a:ext cx="785821" cy="773122"/>
              <a:chOff x="6643702" y="3214686"/>
              <a:chExt cx="785821" cy="773122"/>
            </a:xfrm>
          </p:grpSpPr>
          <p:sp>
            <p:nvSpPr>
              <p:cNvPr id="18" name="Oval 9"/>
              <p:cNvSpPr/>
              <p:nvPr/>
            </p:nvSpPr>
            <p:spPr bwMode="auto">
              <a:xfrm>
                <a:off x="6643702" y="3214687"/>
                <a:ext cx="785818" cy="77311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1</a:t>
                </a:r>
                <a:endParaRPr lang="el-GR" kern="1200" dirty="0">
                  <a:solidFill>
                    <a:prstClr val="black">
                      <a:lumMod val="75000"/>
                      <a:lumOff val="25000"/>
                    </a:prstClr>
                  </a:solidFill>
                </a:endParaRPr>
              </a:p>
            </p:txBody>
          </p:sp>
          <p:sp>
            <p:nvSpPr>
              <p:cNvPr id="19" name="Oval 5"/>
              <p:cNvSpPr/>
              <p:nvPr/>
            </p:nvSpPr>
            <p:spPr bwMode="auto">
              <a:xfrm>
                <a:off x="6715140" y="3286126"/>
                <a:ext cx="642941" cy="64294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endParaRPr lang="el-GR" kern="1200" dirty="0">
                  <a:solidFill>
                    <a:prstClr val="black">
                      <a:lumMod val="75000"/>
                      <a:lumOff val="25000"/>
                    </a:prstClr>
                  </a:solidFill>
                </a:endParaRPr>
              </a:p>
            </p:txBody>
          </p:sp>
        </p:grpSp>
        <p:grpSp>
          <p:nvGrpSpPr>
            <p:cNvPr id="3123" name="Group 19"/>
            <p:cNvGrpSpPr>
              <a:grpSpLocks/>
            </p:cNvGrpSpPr>
            <p:nvPr/>
          </p:nvGrpSpPr>
          <p:grpSpPr bwMode="auto">
            <a:xfrm>
              <a:off x="3929058" y="5643578"/>
              <a:ext cx="785821" cy="773122"/>
              <a:chOff x="6796102" y="5510226"/>
              <a:chExt cx="785821" cy="773122"/>
            </a:xfrm>
          </p:grpSpPr>
          <p:sp>
            <p:nvSpPr>
              <p:cNvPr id="21" name="Oval 9"/>
              <p:cNvSpPr/>
              <p:nvPr/>
            </p:nvSpPr>
            <p:spPr bwMode="auto">
              <a:xfrm>
                <a:off x="6796102" y="5510230"/>
                <a:ext cx="785817" cy="7731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012</a:t>
                </a:r>
                <a:endParaRPr lang="el-GR" kern="1200" dirty="0">
                  <a:solidFill>
                    <a:prstClr val="black">
                      <a:lumMod val="75000"/>
                      <a:lumOff val="25000"/>
                    </a:prstClr>
                  </a:solidFill>
                </a:endParaRPr>
              </a:p>
            </p:txBody>
          </p:sp>
          <p:sp>
            <p:nvSpPr>
              <p:cNvPr id="22" name="Oval 5"/>
              <p:cNvSpPr/>
              <p:nvPr/>
            </p:nvSpPr>
            <p:spPr bwMode="auto">
              <a:xfrm>
                <a:off x="6867539" y="5581668"/>
                <a:ext cx="642942" cy="6429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endParaRPr lang="el-GR" kern="1200" dirty="0">
                  <a:solidFill>
                    <a:prstClr val="black">
                      <a:lumMod val="75000"/>
                      <a:lumOff val="25000"/>
                    </a:prstClr>
                  </a:solidFill>
                </a:endParaRPr>
              </a:p>
            </p:txBody>
          </p:sp>
        </p:grpSp>
        <p:grpSp>
          <p:nvGrpSpPr>
            <p:cNvPr id="3124" name="Group 22"/>
            <p:cNvGrpSpPr>
              <a:grpSpLocks/>
            </p:cNvGrpSpPr>
            <p:nvPr/>
          </p:nvGrpSpPr>
          <p:grpSpPr bwMode="auto">
            <a:xfrm>
              <a:off x="3857620" y="1643050"/>
              <a:ext cx="785821" cy="773122"/>
              <a:chOff x="6643702" y="3071810"/>
              <a:chExt cx="785821" cy="773122"/>
            </a:xfrm>
          </p:grpSpPr>
          <p:sp>
            <p:nvSpPr>
              <p:cNvPr id="24" name="Oval 9"/>
              <p:cNvSpPr/>
              <p:nvPr/>
            </p:nvSpPr>
            <p:spPr bwMode="auto">
              <a:xfrm>
                <a:off x="6643702" y="3071811"/>
                <a:ext cx="785818" cy="7731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0">
                  <a:defRPr/>
                </a:pPr>
                <a:endParaRPr lang="el-GR" kern="1200" dirty="0">
                  <a:solidFill>
                    <a:prstClr val="black">
                      <a:lumMod val="75000"/>
                      <a:lumOff val="25000"/>
                    </a:prstClr>
                  </a:solidFill>
                </a:endParaRPr>
              </a:p>
            </p:txBody>
          </p:sp>
          <p:graphicFrame>
            <p:nvGraphicFramePr>
              <p:cNvPr id="3078" name="Object 2"/>
              <p:cNvGraphicFramePr>
                <a:graphicFrameLocks noChangeAspect="1"/>
              </p:cNvGraphicFramePr>
              <p:nvPr/>
            </p:nvGraphicFramePr>
            <p:xfrm>
              <a:off x="6929454" y="3357564"/>
              <a:ext cx="238125" cy="285750"/>
            </p:xfrm>
            <a:graphic>
              <a:graphicData uri="http://schemas.openxmlformats.org/presentationml/2006/ole">
                <mc:AlternateContent xmlns:mc="http://schemas.openxmlformats.org/markup-compatibility/2006">
                  <mc:Choice xmlns:v="urn:schemas-microsoft-com:vml" Requires="v">
                    <p:oleObj spid="_x0000_s3074" name="Equation" r:id="rId3" imgW="126720" imgH="177480" progId="Equation.3">
                      <p:embed/>
                    </p:oleObj>
                  </mc:Choice>
                  <mc:Fallback>
                    <p:oleObj name="Equation" r:id="rId3"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9454" y="3357564"/>
                            <a:ext cx="2381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26" name="Straight Arrow Connector 25"/>
            <p:cNvCxnSpPr>
              <a:stCxn id="11" idx="5"/>
              <a:endCxn id="6" idx="2"/>
            </p:cNvCxnSpPr>
            <p:nvPr/>
          </p:nvCxnSpPr>
          <p:spPr>
            <a:xfrm rot="16200000" flipH="1">
              <a:off x="2830499" y="3644905"/>
              <a:ext cx="1154122" cy="9001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8" idx="0"/>
              <a:endCxn id="24" idx="4"/>
            </p:cNvCxnSpPr>
            <p:nvPr/>
          </p:nvCxnSpPr>
          <p:spPr>
            <a:xfrm rot="5400000" flipH="1" flipV="1">
              <a:off x="4030659" y="2636834"/>
              <a:ext cx="43974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Curved Connector 30"/>
            <p:cNvCxnSpPr>
              <a:stCxn id="24" idx="7"/>
              <a:endCxn id="24" idx="1"/>
            </p:cNvCxnSpPr>
            <p:nvPr/>
          </p:nvCxnSpPr>
          <p:spPr bwMode="auto">
            <a:xfrm rot="16200000" flipV="1">
              <a:off x="4250529" y="1478743"/>
              <a:ext cx="1588" cy="555629"/>
            </a:xfrm>
            <a:prstGeom prst="curvedConnector3">
              <a:avLst>
                <a:gd name="adj1" fmla="val 2152525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Curved Connector 31"/>
            <p:cNvCxnSpPr>
              <a:stCxn id="21" idx="7"/>
              <a:endCxn id="21" idx="1"/>
            </p:cNvCxnSpPr>
            <p:nvPr/>
          </p:nvCxnSpPr>
          <p:spPr bwMode="auto">
            <a:xfrm rot="16200000" flipV="1">
              <a:off x="4321967" y="5479274"/>
              <a:ext cx="1588" cy="555629"/>
            </a:xfrm>
            <a:prstGeom prst="curvedConnector3">
              <a:avLst>
                <a:gd name="adj1" fmla="val 2152525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Curved Connector 56"/>
            <p:cNvCxnSpPr>
              <a:stCxn id="18" idx="7"/>
              <a:endCxn id="8" idx="1"/>
            </p:cNvCxnSpPr>
            <p:nvPr/>
          </p:nvCxnSpPr>
          <p:spPr>
            <a:xfrm rot="5400000" flipH="1" flipV="1">
              <a:off x="5107785" y="2391563"/>
              <a:ext cx="1587" cy="1158883"/>
            </a:xfrm>
            <a:prstGeom prst="curvedConnector3">
              <a:avLst>
                <a:gd name="adj1" fmla="val 2152525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Curved Connector 57"/>
            <p:cNvCxnSpPr>
              <a:stCxn id="8" idx="3"/>
              <a:endCxn id="18" idx="5"/>
            </p:cNvCxnSpPr>
            <p:nvPr/>
          </p:nvCxnSpPr>
          <p:spPr>
            <a:xfrm rot="5400000">
              <a:off x="5107785" y="2937667"/>
              <a:ext cx="1587" cy="1158883"/>
            </a:xfrm>
            <a:prstGeom prst="curvedConnector3">
              <a:avLst>
                <a:gd name="adj1" fmla="val 2152525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Curved Connector 66"/>
            <p:cNvCxnSpPr/>
            <p:nvPr/>
          </p:nvCxnSpPr>
          <p:spPr>
            <a:xfrm>
              <a:off x="4572000" y="4929201"/>
              <a:ext cx="71438" cy="1357323"/>
            </a:xfrm>
            <a:prstGeom prst="curvedConnector3">
              <a:avLst>
                <a:gd name="adj1" fmla="val 419998"/>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Curved Connector 73"/>
            <p:cNvCxnSpPr/>
            <p:nvPr/>
          </p:nvCxnSpPr>
          <p:spPr>
            <a:xfrm rot="10800000">
              <a:off x="3929058" y="4929201"/>
              <a:ext cx="71437" cy="1357323"/>
            </a:xfrm>
            <a:prstGeom prst="curvedConnector3">
              <a:avLst>
                <a:gd name="adj1" fmla="val 419998"/>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endCxn id="11" idx="2"/>
            </p:cNvCxnSpPr>
            <p:nvPr/>
          </p:nvCxnSpPr>
          <p:spPr bwMode="auto">
            <a:xfrm>
              <a:off x="1571604" y="3214688"/>
              <a:ext cx="714380" cy="301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34" name="Rectangle 86"/>
            <p:cNvSpPr>
              <a:spLocks noChangeArrowheads="1"/>
            </p:cNvSpPr>
            <p:nvPr/>
          </p:nvSpPr>
          <p:spPr bwMode="auto">
            <a:xfrm>
              <a:off x="3258963" y="2941076"/>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0</a:t>
              </a:r>
              <a:endParaRPr lang="el-GR" kern="1200">
                <a:solidFill>
                  <a:prstClr val="black"/>
                </a:solidFill>
                <a:latin typeface="Arial" charset="0"/>
                <a:ea typeface="+mn-ea"/>
                <a:cs typeface="+mn-cs"/>
              </a:endParaRPr>
            </a:p>
          </p:txBody>
        </p:sp>
        <p:sp>
          <p:nvSpPr>
            <p:cNvPr id="3135" name="Rectangle 87"/>
            <p:cNvSpPr>
              <a:spLocks noChangeArrowheads="1"/>
            </p:cNvSpPr>
            <p:nvPr/>
          </p:nvSpPr>
          <p:spPr bwMode="auto">
            <a:xfrm>
              <a:off x="3143242" y="3916924"/>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1</a:t>
              </a:r>
              <a:endParaRPr lang="el-GR" kern="1200">
                <a:solidFill>
                  <a:prstClr val="black"/>
                </a:solidFill>
                <a:latin typeface="Arial" charset="0"/>
                <a:ea typeface="+mn-ea"/>
                <a:cs typeface="+mn-cs"/>
              </a:endParaRPr>
            </a:p>
          </p:txBody>
        </p:sp>
        <p:sp>
          <p:nvSpPr>
            <p:cNvPr id="3136" name="Rectangle 88"/>
            <p:cNvSpPr>
              <a:spLocks noChangeArrowheads="1"/>
            </p:cNvSpPr>
            <p:nvPr/>
          </p:nvSpPr>
          <p:spPr bwMode="auto">
            <a:xfrm>
              <a:off x="4973473" y="2357429"/>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0</a:t>
              </a:r>
              <a:endParaRPr lang="el-GR" kern="1200">
                <a:solidFill>
                  <a:prstClr val="black"/>
                </a:solidFill>
                <a:latin typeface="Arial" charset="0"/>
                <a:ea typeface="+mn-ea"/>
                <a:cs typeface="+mn-cs"/>
              </a:endParaRPr>
            </a:p>
          </p:txBody>
        </p:sp>
        <p:sp>
          <p:nvSpPr>
            <p:cNvPr id="3137" name="Rectangle 89"/>
            <p:cNvSpPr>
              <a:spLocks noChangeArrowheads="1"/>
            </p:cNvSpPr>
            <p:nvPr/>
          </p:nvSpPr>
          <p:spPr bwMode="auto">
            <a:xfrm>
              <a:off x="4000498" y="2500306"/>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1</a:t>
              </a:r>
              <a:endParaRPr lang="el-GR" kern="1200">
                <a:solidFill>
                  <a:prstClr val="black"/>
                </a:solidFill>
                <a:latin typeface="Arial" charset="0"/>
                <a:ea typeface="+mn-ea"/>
                <a:cs typeface="+mn-cs"/>
              </a:endParaRPr>
            </a:p>
          </p:txBody>
        </p:sp>
        <p:sp>
          <p:nvSpPr>
            <p:cNvPr id="3138" name="Rectangle 90"/>
            <p:cNvSpPr>
              <a:spLocks noChangeArrowheads="1"/>
            </p:cNvSpPr>
            <p:nvPr/>
          </p:nvSpPr>
          <p:spPr bwMode="auto">
            <a:xfrm>
              <a:off x="4973473" y="3571876"/>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0</a:t>
              </a:r>
              <a:endParaRPr lang="el-GR" kern="1200">
                <a:solidFill>
                  <a:prstClr val="black"/>
                </a:solidFill>
                <a:latin typeface="Arial" charset="0"/>
                <a:ea typeface="+mn-ea"/>
                <a:cs typeface="+mn-cs"/>
              </a:endParaRPr>
            </a:p>
          </p:txBody>
        </p:sp>
        <p:sp>
          <p:nvSpPr>
            <p:cNvPr id="3139" name="Rectangle 91"/>
            <p:cNvSpPr>
              <a:spLocks noChangeArrowheads="1"/>
            </p:cNvSpPr>
            <p:nvPr/>
          </p:nvSpPr>
          <p:spPr bwMode="auto">
            <a:xfrm>
              <a:off x="4071934" y="3786190"/>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1</a:t>
              </a:r>
              <a:endParaRPr lang="el-GR" kern="1200">
                <a:solidFill>
                  <a:prstClr val="black"/>
                </a:solidFill>
                <a:latin typeface="Arial" charset="0"/>
                <a:ea typeface="+mn-ea"/>
                <a:cs typeface="+mn-cs"/>
              </a:endParaRPr>
            </a:p>
          </p:txBody>
        </p:sp>
        <p:sp>
          <p:nvSpPr>
            <p:cNvPr id="3140" name="Rectangle 92"/>
            <p:cNvSpPr>
              <a:spLocks noChangeArrowheads="1"/>
            </p:cNvSpPr>
            <p:nvPr/>
          </p:nvSpPr>
          <p:spPr bwMode="auto">
            <a:xfrm>
              <a:off x="5214942" y="4071942"/>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1</a:t>
              </a:r>
              <a:endParaRPr lang="el-GR" kern="1200">
                <a:solidFill>
                  <a:prstClr val="black"/>
                </a:solidFill>
                <a:latin typeface="Arial" charset="0"/>
                <a:ea typeface="+mn-ea"/>
                <a:cs typeface="+mn-cs"/>
              </a:endParaRPr>
            </a:p>
          </p:txBody>
        </p:sp>
        <p:sp>
          <p:nvSpPr>
            <p:cNvPr id="3141" name="Rectangle 96"/>
            <p:cNvSpPr>
              <a:spLocks noChangeArrowheads="1"/>
            </p:cNvSpPr>
            <p:nvPr/>
          </p:nvSpPr>
          <p:spPr bwMode="auto">
            <a:xfrm>
              <a:off x="4187656" y="5143512"/>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0</a:t>
              </a:r>
              <a:endParaRPr lang="el-GR" kern="1200">
                <a:solidFill>
                  <a:prstClr val="black"/>
                </a:solidFill>
                <a:latin typeface="Arial" charset="0"/>
                <a:ea typeface="+mn-ea"/>
                <a:cs typeface="+mn-cs"/>
              </a:endParaRPr>
            </a:p>
          </p:txBody>
        </p:sp>
        <p:sp>
          <p:nvSpPr>
            <p:cNvPr id="3142" name="Rectangle 97"/>
            <p:cNvSpPr>
              <a:spLocks noChangeArrowheads="1"/>
            </p:cNvSpPr>
            <p:nvPr/>
          </p:nvSpPr>
          <p:spPr bwMode="auto">
            <a:xfrm>
              <a:off x="4000494" y="1142984"/>
              <a:ext cx="505271"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0,1</a:t>
              </a:r>
              <a:endParaRPr lang="el-GR" kern="1200">
                <a:solidFill>
                  <a:prstClr val="black"/>
                </a:solidFill>
                <a:latin typeface="Arial" charset="0"/>
                <a:ea typeface="+mn-ea"/>
                <a:cs typeface="+mn-cs"/>
              </a:endParaRPr>
            </a:p>
          </p:txBody>
        </p:sp>
        <p:sp>
          <p:nvSpPr>
            <p:cNvPr id="3143" name="Rectangle 98"/>
            <p:cNvSpPr>
              <a:spLocks noChangeArrowheads="1"/>
            </p:cNvSpPr>
            <p:nvPr/>
          </p:nvSpPr>
          <p:spPr bwMode="auto">
            <a:xfrm>
              <a:off x="4786314" y="5286388"/>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0</a:t>
              </a:r>
              <a:endParaRPr lang="el-GR" kern="1200">
                <a:solidFill>
                  <a:prstClr val="black"/>
                </a:solidFill>
                <a:latin typeface="Arial" charset="0"/>
                <a:ea typeface="+mn-ea"/>
                <a:cs typeface="+mn-cs"/>
              </a:endParaRPr>
            </a:p>
          </p:txBody>
        </p:sp>
        <p:sp>
          <p:nvSpPr>
            <p:cNvPr id="3144" name="Rectangle 99"/>
            <p:cNvSpPr>
              <a:spLocks noChangeArrowheads="1"/>
            </p:cNvSpPr>
            <p:nvPr/>
          </p:nvSpPr>
          <p:spPr bwMode="auto">
            <a:xfrm>
              <a:off x="3473275" y="5357826"/>
              <a:ext cx="312908" cy="378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rtl="0" fontAlgn="base">
                <a:spcBef>
                  <a:spcPct val="0"/>
                </a:spcBef>
                <a:spcAft>
                  <a:spcPct val="0"/>
                </a:spcAft>
              </a:pPr>
              <a:r>
                <a:rPr lang="en-US" kern="1200">
                  <a:solidFill>
                    <a:prstClr val="black"/>
                  </a:solidFill>
                  <a:latin typeface="Arial" charset="0"/>
                  <a:ea typeface="+mn-ea"/>
                  <a:cs typeface="+mn-cs"/>
                </a:rPr>
                <a:t>1</a:t>
              </a:r>
              <a:endParaRPr lang="el-GR" kern="1200">
                <a:solidFill>
                  <a:prstClr val="black"/>
                </a:solidFill>
                <a:latin typeface="Arial" charset="0"/>
                <a:ea typeface="+mn-ea"/>
                <a:cs typeface="+mn-cs"/>
              </a:endParaRPr>
            </a:p>
          </p:txBody>
        </p:sp>
      </p:grpSp>
      <p:graphicFrame>
        <p:nvGraphicFramePr>
          <p:cNvPr id="3074" name="Object 3"/>
          <p:cNvGraphicFramePr>
            <a:graphicFrameLocks noChangeAspect="1"/>
          </p:cNvGraphicFramePr>
          <p:nvPr/>
        </p:nvGraphicFramePr>
        <p:xfrm>
          <a:off x="857250" y="5643563"/>
          <a:ext cx="238125" cy="285750"/>
        </p:xfrm>
        <a:graphic>
          <a:graphicData uri="http://schemas.openxmlformats.org/presentationml/2006/ole">
            <mc:AlternateContent xmlns:mc="http://schemas.openxmlformats.org/markup-compatibility/2006">
              <mc:Choice xmlns:v="urn:schemas-microsoft-com:vml" Requires="v">
                <p:oleObj spid="_x0000_s3075" name="Equation" r:id="rId5" imgW="126720" imgH="177480" progId="Equation.3">
                  <p:embed/>
                </p:oleObj>
              </mc:Choice>
              <mc:Fallback>
                <p:oleObj name="Equation" r:id="rId5"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5643563"/>
                        <a:ext cx="2381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5" name="Object 4"/>
          <p:cNvGraphicFramePr>
            <a:graphicFrameLocks noChangeAspect="1"/>
          </p:cNvGraphicFramePr>
          <p:nvPr/>
        </p:nvGraphicFramePr>
        <p:xfrm>
          <a:off x="3167065" y="4500563"/>
          <a:ext cx="238125" cy="285750"/>
        </p:xfrm>
        <a:graphic>
          <a:graphicData uri="http://schemas.openxmlformats.org/presentationml/2006/ole">
            <mc:AlternateContent xmlns:mc="http://schemas.openxmlformats.org/markup-compatibility/2006">
              <mc:Choice xmlns:v="urn:schemas-microsoft-com:vml" Requires="v">
                <p:oleObj spid="_x0000_s3076" name="Equation" r:id="rId6" imgW="126720" imgH="177480" progId="Equation.3">
                  <p:embed/>
                </p:oleObj>
              </mc:Choice>
              <mc:Fallback>
                <p:oleObj name="Equation" r:id="rId6"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7065" y="4500563"/>
                        <a:ext cx="2381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6" name="Object 5"/>
          <p:cNvGraphicFramePr>
            <a:graphicFrameLocks noChangeAspect="1"/>
          </p:cNvGraphicFramePr>
          <p:nvPr/>
        </p:nvGraphicFramePr>
        <p:xfrm>
          <a:off x="3167065" y="5643563"/>
          <a:ext cx="238125" cy="285750"/>
        </p:xfrm>
        <a:graphic>
          <a:graphicData uri="http://schemas.openxmlformats.org/presentationml/2006/ole">
            <mc:AlternateContent xmlns:mc="http://schemas.openxmlformats.org/markup-compatibility/2006">
              <mc:Choice xmlns:v="urn:schemas-microsoft-com:vml" Requires="v">
                <p:oleObj spid="_x0000_s3077" name="Equation" r:id="rId7" imgW="126720" imgH="177480" progId="Equation.3">
                  <p:embed/>
                </p:oleObj>
              </mc:Choice>
              <mc:Fallback>
                <p:oleObj name="Equation" r:id="rId7"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7065" y="5643563"/>
                        <a:ext cx="2381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7" name="Object 6"/>
          <p:cNvGraphicFramePr>
            <a:graphicFrameLocks noChangeAspect="1"/>
          </p:cNvGraphicFramePr>
          <p:nvPr/>
        </p:nvGraphicFramePr>
        <p:xfrm>
          <a:off x="2000250" y="5643563"/>
          <a:ext cx="238125" cy="285750"/>
        </p:xfrm>
        <a:graphic>
          <a:graphicData uri="http://schemas.openxmlformats.org/presentationml/2006/ole">
            <mc:AlternateContent xmlns:mc="http://schemas.openxmlformats.org/markup-compatibility/2006">
              <mc:Choice xmlns:v="urn:schemas-microsoft-com:vml" Requires="v">
                <p:oleObj spid="_x0000_s3078" name="Equation" r:id="rId8" imgW="126720" imgH="177480" progId="Equation.3">
                  <p:embed/>
                </p:oleObj>
              </mc:Choice>
              <mc:Fallback>
                <p:oleObj name="Equation" r:id="rId8" imgW="12672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0" y="5643563"/>
                        <a:ext cx="2381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14" name="Title 1"/>
          <p:cNvSpPr>
            <a:spLocks noGrp="1"/>
          </p:cNvSpPr>
          <p:nvPr>
            <p:ph type="title"/>
          </p:nvPr>
        </p:nvSpPr>
        <p:spPr/>
        <p:txBody>
          <a:bodyPr/>
          <a:lstStyle/>
          <a:p>
            <a:r>
              <a:rPr lang="en-US" smtClean="0"/>
              <a:t>NFA – DFA equivalence (example)</a:t>
            </a:r>
            <a:endParaRPr lang="el-GR" smtClean="0"/>
          </a:p>
        </p:txBody>
      </p:sp>
      <p:sp>
        <p:nvSpPr>
          <p:cNvPr id="3115" name="Content Placeholder 2"/>
          <p:cNvSpPr>
            <a:spLocks noGrp="1"/>
          </p:cNvSpPr>
          <p:nvPr>
            <p:ph idx="1"/>
          </p:nvPr>
        </p:nvSpPr>
        <p:spPr>
          <a:xfrm>
            <a:off x="457200" y="1600202"/>
            <a:ext cx="8229600" cy="1185863"/>
          </a:xfrm>
        </p:spPr>
        <p:txBody>
          <a:bodyPr/>
          <a:lstStyle/>
          <a:p>
            <a:pPr>
              <a:buFont typeface="Arial" charset="0"/>
              <a:buNone/>
            </a:pPr>
            <a:r>
              <a:rPr lang="en-US" smtClean="0"/>
              <a:t>So the DFA is:</a:t>
            </a:r>
          </a:p>
          <a:p>
            <a:pPr>
              <a:buFont typeface="Arial" charset="0"/>
              <a:buNone/>
            </a:pPr>
            <a:endParaRPr lang="en-US" smtClean="0"/>
          </a:p>
        </p:txBody>
      </p:sp>
    </p:spTree>
    <p:extLst>
      <p:ext uri="{BB962C8B-B14F-4D97-AF65-F5344CB8AC3E}">
        <p14:creationId xmlns:p14="http://schemas.microsoft.com/office/powerpoint/2010/main" val="159553414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mtClean="0"/>
              <a:t>NFA</a:t>
            </a:r>
            <a:r>
              <a:rPr lang="el-GR" baseline="-25000" smtClean="0"/>
              <a:t>ε</a:t>
            </a:r>
            <a:r>
              <a:rPr lang="en-US" smtClean="0"/>
              <a:t> – NFA equivalence</a:t>
            </a:r>
            <a:endParaRPr lang="el-GR" smtClean="0"/>
          </a:p>
        </p:txBody>
      </p:sp>
      <p:sp>
        <p:nvSpPr>
          <p:cNvPr id="13315" name="Content Placeholder 2"/>
          <p:cNvSpPr>
            <a:spLocks noGrp="1"/>
          </p:cNvSpPr>
          <p:nvPr>
            <p:ph idx="1"/>
          </p:nvPr>
        </p:nvSpPr>
        <p:spPr>
          <a:xfrm>
            <a:off x="457201" y="1600200"/>
            <a:ext cx="8329613" cy="2757488"/>
          </a:xfrm>
        </p:spPr>
        <p:txBody>
          <a:bodyPr/>
          <a:lstStyle/>
          <a:p>
            <a:r>
              <a:rPr lang="en-US" smtClean="0"/>
              <a:t>An NFA</a:t>
            </a:r>
            <a:r>
              <a:rPr lang="el-GR" sz="2800"/>
              <a:t>ε</a:t>
            </a:r>
            <a:r>
              <a:rPr lang="en-US" smtClean="0"/>
              <a:t> is an NFA in which I can have </a:t>
            </a:r>
            <a:r>
              <a:rPr lang="el-GR" smtClean="0"/>
              <a:t>ε</a:t>
            </a:r>
            <a:r>
              <a:rPr lang="en-US" smtClean="0"/>
              <a:t>-moves.</a:t>
            </a:r>
          </a:p>
          <a:p>
            <a:r>
              <a:rPr lang="en-US" smtClean="0"/>
              <a:t>I want to get rid of </a:t>
            </a:r>
            <a:r>
              <a:rPr lang="el-GR" smtClean="0"/>
              <a:t>ε-</a:t>
            </a:r>
            <a:r>
              <a:rPr lang="en-US" smtClean="0"/>
              <a:t>moves.</a:t>
            </a:r>
          </a:p>
        </p:txBody>
      </p:sp>
    </p:spTree>
    <p:extLst>
      <p:ext uri="{BB962C8B-B14F-4D97-AF65-F5344CB8AC3E}">
        <p14:creationId xmlns:p14="http://schemas.microsoft.com/office/powerpoint/2010/main" val="3428143726"/>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mtClean="0"/>
              <a:t>NFA</a:t>
            </a:r>
            <a:r>
              <a:rPr lang="el-GR" baseline="-25000" smtClean="0"/>
              <a:t>ε</a:t>
            </a:r>
            <a:r>
              <a:rPr lang="en-US" smtClean="0"/>
              <a:t> – NFA equivalence</a:t>
            </a:r>
            <a:endParaRPr lang="el-GR" smtClean="0"/>
          </a:p>
        </p:txBody>
      </p:sp>
      <p:sp>
        <p:nvSpPr>
          <p:cNvPr id="14339" name="Content Placeholder 2"/>
          <p:cNvSpPr>
            <a:spLocks noGrp="1"/>
          </p:cNvSpPr>
          <p:nvPr>
            <p:ph idx="1"/>
          </p:nvPr>
        </p:nvSpPr>
        <p:spPr/>
        <p:txBody>
          <a:bodyPr/>
          <a:lstStyle/>
          <a:p>
            <a:r>
              <a:rPr lang="en-US" dirty="0" smtClean="0"/>
              <a:t>Suppose that I have an </a:t>
            </a:r>
            <a:r>
              <a:rPr lang="el-GR" dirty="0" smtClean="0"/>
              <a:t>ε-</a:t>
            </a:r>
            <a:r>
              <a:rPr lang="en-US" dirty="0" smtClean="0"/>
              <a:t>move like in the figure. Since an </a:t>
            </a:r>
            <a:r>
              <a:rPr lang="el-GR" dirty="0" smtClean="0"/>
              <a:t>ε-</a:t>
            </a:r>
            <a:r>
              <a:rPr lang="en-US" dirty="0" smtClean="0"/>
              <a:t>move is like teleporting from q</a:t>
            </a:r>
            <a:r>
              <a:rPr lang="en-US" baseline="-25000" dirty="0" smtClean="0"/>
              <a:t>1</a:t>
            </a:r>
            <a:r>
              <a:rPr lang="en-US" dirty="0" smtClean="0"/>
              <a:t> to q</a:t>
            </a:r>
            <a:r>
              <a:rPr lang="en-US" baseline="-25000" dirty="0" smtClean="0"/>
              <a:t>2</a:t>
            </a:r>
            <a:r>
              <a:rPr lang="en-US" dirty="0" smtClean="0"/>
              <a:t> I can remove the arrow with the </a:t>
            </a:r>
            <a:r>
              <a:rPr lang="el-GR" dirty="0" smtClean="0"/>
              <a:t>ε </a:t>
            </a:r>
            <a:r>
              <a:rPr lang="en-US" dirty="0" smtClean="0"/>
              <a:t>and add several arrows from q</a:t>
            </a:r>
            <a:r>
              <a:rPr lang="en-US" baseline="-25000" dirty="0" smtClean="0"/>
              <a:t>1</a:t>
            </a:r>
            <a:r>
              <a:rPr lang="en-US" dirty="0" smtClean="0"/>
              <a:t> to every neighbor of q</a:t>
            </a:r>
            <a:r>
              <a:rPr lang="en-US" baseline="-25000" dirty="0" smtClean="0"/>
              <a:t>2</a:t>
            </a:r>
            <a:r>
              <a:rPr lang="en-US" dirty="0" smtClean="0"/>
              <a:t>.</a:t>
            </a:r>
          </a:p>
          <a:p>
            <a:pPr>
              <a:buFont typeface="Arial" charset="0"/>
              <a:buNone/>
            </a:pPr>
            <a:endParaRPr lang="el-GR" dirty="0" smtClean="0"/>
          </a:p>
        </p:txBody>
      </p:sp>
      <p:cxnSp>
        <p:nvCxnSpPr>
          <p:cNvPr id="4" name="Straight Arrow Connector 3"/>
          <p:cNvCxnSpPr>
            <a:stCxn id="6" idx="6"/>
            <a:endCxn id="12" idx="2"/>
          </p:cNvCxnSpPr>
          <p:nvPr/>
        </p:nvCxnSpPr>
        <p:spPr>
          <a:xfrm>
            <a:off x="2571750" y="5357813"/>
            <a:ext cx="5715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Oval 9"/>
          <p:cNvSpPr/>
          <p:nvPr/>
        </p:nvSpPr>
        <p:spPr bwMode="auto">
          <a:xfrm>
            <a:off x="785813" y="5072063"/>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1</a:t>
            </a:r>
            <a:endParaRPr lang="el-GR" sz="1900" dirty="0">
              <a:solidFill>
                <a:prstClr val="black">
                  <a:lumMod val="75000"/>
                  <a:lumOff val="25000"/>
                </a:prstClr>
              </a:solidFill>
            </a:endParaRPr>
          </a:p>
        </p:txBody>
      </p:sp>
      <p:sp>
        <p:nvSpPr>
          <p:cNvPr id="6" name="Oval 5"/>
          <p:cNvSpPr/>
          <p:nvPr/>
        </p:nvSpPr>
        <p:spPr bwMode="auto">
          <a:xfrm>
            <a:off x="2000250" y="5072063"/>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2</a:t>
            </a:r>
            <a:endParaRPr lang="el-GR" kern="1200" dirty="0">
              <a:solidFill>
                <a:prstClr val="black">
                  <a:lumMod val="75000"/>
                  <a:lumOff val="25000"/>
                </a:prstClr>
              </a:solidFill>
            </a:endParaRPr>
          </a:p>
        </p:txBody>
      </p:sp>
      <p:cxnSp>
        <p:nvCxnSpPr>
          <p:cNvPr id="7" name="Straight Arrow Connector 6"/>
          <p:cNvCxnSpPr>
            <a:stCxn id="5" idx="6"/>
            <a:endCxn id="6" idx="2"/>
          </p:cNvCxnSpPr>
          <p:nvPr/>
        </p:nvCxnSpPr>
        <p:spPr bwMode="auto">
          <a:xfrm>
            <a:off x="1357315" y="5357815"/>
            <a:ext cx="642937"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344" name="TextBox 8"/>
          <p:cNvSpPr txBox="1">
            <a:spLocks noChangeArrowheads="1"/>
          </p:cNvSpPr>
          <p:nvPr/>
        </p:nvSpPr>
        <p:spPr bwMode="auto">
          <a:xfrm>
            <a:off x="2643189" y="5786439"/>
            <a:ext cx="295245" cy="35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700">
                <a:solidFill>
                  <a:prstClr val="black"/>
                </a:solidFill>
                <a:latin typeface="Calibri" pitchFamily="34" charset="0"/>
              </a:rPr>
              <a:t>1</a:t>
            </a:r>
            <a:endParaRPr lang="el-GR" sz="1700">
              <a:solidFill>
                <a:prstClr val="black"/>
              </a:solidFill>
              <a:latin typeface="Calibri" pitchFamily="34" charset="0"/>
            </a:endParaRPr>
          </a:p>
        </p:txBody>
      </p:sp>
      <p:sp>
        <p:nvSpPr>
          <p:cNvPr id="14345" name="TextBox 9"/>
          <p:cNvSpPr txBox="1">
            <a:spLocks noChangeArrowheads="1"/>
          </p:cNvSpPr>
          <p:nvPr/>
        </p:nvSpPr>
        <p:spPr bwMode="auto">
          <a:xfrm>
            <a:off x="1500188" y="5072064"/>
            <a:ext cx="284024" cy="35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l-GR" sz="1700">
                <a:solidFill>
                  <a:prstClr val="black"/>
                </a:solidFill>
                <a:latin typeface="Calibri" pitchFamily="34" charset="0"/>
              </a:rPr>
              <a:t>ε</a:t>
            </a:r>
          </a:p>
        </p:txBody>
      </p:sp>
      <p:cxnSp>
        <p:nvCxnSpPr>
          <p:cNvPr id="10" name="Curved Connector 12"/>
          <p:cNvCxnSpPr>
            <a:stCxn id="6" idx="4"/>
            <a:endCxn id="14" idx="2"/>
          </p:cNvCxnSpPr>
          <p:nvPr/>
        </p:nvCxnSpPr>
        <p:spPr bwMode="auto">
          <a:xfrm rot="16200000" flipH="1">
            <a:off x="2571750" y="5357815"/>
            <a:ext cx="285750" cy="85725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4347" name="TextBox 21"/>
          <p:cNvSpPr txBox="1">
            <a:spLocks noChangeArrowheads="1"/>
          </p:cNvSpPr>
          <p:nvPr/>
        </p:nvSpPr>
        <p:spPr bwMode="auto">
          <a:xfrm>
            <a:off x="2643189" y="4429125"/>
            <a:ext cx="295245" cy="35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700">
                <a:solidFill>
                  <a:prstClr val="black"/>
                </a:solidFill>
                <a:latin typeface="Calibri" pitchFamily="34" charset="0"/>
              </a:rPr>
              <a:t>0</a:t>
            </a:r>
            <a:endParaRPr lang="el-GR" sz="1700">
              <a:solidFill>
                <a:prstClr val="black"/>
              </a:solidFill>
              <a:latin typeface="Calibri" pitchFamily="34" charset="0"/>
            </a:endParaRPr>
          </a:p>
        </p:txBody>
      </p:sp>
      <p:sp>
        <p:nvSpPr>
          <p:cNvPr id="12" name="Oval 6"/>
          <p:cNvSpPr/>
          <p:nvPr/>
        </p:nvSpPr>
        <p:spPr bwMode="auto">
          <a:xfrm>
            <a:off x="3143250" y="5072063"/>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4</a:t>
            </a:r>
            <a:endParaRPr lang="el-GR" kern="1200" dirty="0">
              <a:solidFill>
                <a:prstClr val="black">
                  <a:lumMod val="75000"/>
                  <a:lumOff val="25000"/>
                </a:prstClr>
              </a:solidFill>
            </a:endParaRPr>
          </a:p>
        </p:txBody>
      </p:sp>
      <p:sp>
        <p:nvSpPr>
          <p:cNvPr id="14349" name="TextBox 21"/>
          <p:cNvSpPr txBox="1">
            <a:spLocks noChangeArrowheads="1"/>
          </p:cNvSpPr>
          <p:nvPr/>
        </p:nvSpPr>
        <p:spPr bwMode="auto">
          <a:xfrm>
            <a:off x="2643189" y="5072064"/>
            <a:ext cx="295245" cy="353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700">
                <a:solidFill>
                  <a:prstClr val="black"/>
                </a:solidFill>
                <a:latin typeface="Calibri" pitchFamily="34" charset="0"/>
              </a:rPr>
              <a:t>0</a:t>
            </a:r>
            <a:endParaRPr lang="el-GR" sz="1700">
              <a:solidFill>
                <a:prstClr val="black"/>
              </a:solidFill>
              <a:latin typeface="Calibri" pitchFamily="34" charset="0"/>
            </a:endParaRPr>
          </a:p>
        </p:txBody>
      </p:sp>
      <p:sp>
        <p:nvSpPr>
          <p:cNvPr id="14" name="Oval 6"/>
          <p:cNvSpPr/>
          <p:nvPr/>
        </p:nvSpPr>
        <p:spPr bwMode="auto">
          <a:xfrm>
            <a:off x="3143250" y="5643563"/>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5</a:t>
            </a:r>
            <a:endParaRPr lang="el-GR" kern="1200" dirty="0">
              <a:solidFill>
                <a:prstClr val="black">
                  <a:lumMod val="75000"/>
                  <a:lumOff val="25000"/>
                </a:prstClr>
              </a:solidFill>
            </a:endParaRPr>
          </a:p>
        </p:txBody>
      </p:sp>
      <p:sp>
        <p:nvSpPr>
          <p:cNvPr id="15" name="Oval 6"/>
          <p:cNvSpPr/>
          <p:nvPr/>
        </p:nvSpPr>
        <p:spPr bwMode="auto">
          <a:xfrm>
            <a:off x="3143250" y="4357688"/>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3</a:t>
            </a:r>
            <a:endParaRPr lang="el-GR" kern="1200" dirty="0">
              <a:solidFill>
                <a:prstClr val="black">
                  <a:lumMod val="75000"/>
                  <a:lumOff val="25000"/>
                </a:prstClr>
              </a:solidFill>
            </a:endParaRPr>
          </a:p>
        </p:txBody>
      </p:sp>
      <p:cxnSp>
        <p:nvCxnSpPr>
          <p:cNvPr id="16" name="Curved Connector 12"/>
          <p:cNvCxnSpPr>
            <a:stCxn id="6" idx="0"/>
            <a:endCxn id="15" idx="2"/>
          </p:cNvCxnSpPr>
          <p:nvPr/>
        </p:nvCxnSpPr>
        <p:spPr bwMode="auto">
          <a:xfrm rot="5400000" flipH="1" flipV="1">
            <a:off x="2500314" y="4429128"/>
            <a:ext cx="428625" cy="85725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8" idx="6"/>
            <a:endCxn id="22" idx="2"/>
          </p:cNvCxnSpPr>
          <p:nvPr/>
        </p:nvCxnSpPr>
        <p:spPr>
          <a:xfrm>
            <a:off x="5786438" y="5214938"/>
            <a:ext cx="85725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Oval 9"/>
          <p:cNvSpPr/>
          <p:nvPr/>
        </p:nvSpPr>
        <p:spPr bwMode="auto">
          <a:xfrm>
            <a:off x="5214938" y="4929188"/>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1</a:t>
            </a:r>
            <a:endParaRPr lang="el-GR" sz="1900" dirty="0">
              <a:solidFill>
                <a:prstClr val="black">
                  <a:lumMod val="75000"/>
                  <a:lumOff val="25000"/>
                </a:prstClr>
              </a:solidFill>
            </a:endParaRPr>
          </a:p>
        </p:txBody>
      </p:sp>
      <p:sp>
        <p:nvSpPr>
          <p:cNvPr id="14355" name="TextBox 8"/>
          <p:cNvSpPr txBox="1">
            <a:spLocks noChangeArrowheads="1"/>
          </p:cNvSpPr>
          <p:nvPr/>
        </p:nvSpPr>
        <p:spPr bwMode="auto">
          <a:xfrm>
            <a:off x="6215064" y="5773739"/>
            <a:ext cx="308069" cy="384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a:solidFill>
                  <a:prstClr val="black"/>
                </a:solidFill>
                <a:latin typeface="Calibri" pitchFamily="34" charset="0"/>
              </a:rPr>
              <a:t>1</a:t>
            </a:r>
            <a:endParaRPr lang="el-GR" sz="1900">
              <a:solidFill>
                <a:prstClr val="black"/>
              </a:solidFill>
              <a:latin typeface="Calibri" pitchFamily="34" charset="0"/>
            </a:endParaRPr>
          </a:p>
        </p:txBody>
      </p:sp>
      <p:cxnSp>
        <p:nvCxnSpPr>
          <p:cNvPr id="20" name="Curved Connector 12"/>
          <p:cNvCxnSpPr>
            <a:stCxn id="18" idx="4"/>
            <a:endCxn id="24" idx="2"/>
          </p:cNvCxnSpPr>
          <p:nvPr/>
        </p:nvCxnSpPr>
        <p:spPr bwMode="auto">
          <a:xfrm rot="16200000" flipH="1">
            <a:off x="5929313" y="5072063"/>
            <a:ext cx="285750" cy="11430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4357" name="TextBox 21"/>
          <p:cNvSpPr txBox="1">
            <a:spLocks noChangeArrowheads="1"/>
          </p:cNvSpPr>
          <p:nvPr/>
        </p:nvSpPr>
        <p:spPr bwMode="auto">
          <a:xfrm>
            <a:off x="6199189" y="4273550"/>
            <a:ext cx="308069" cy="384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a:solidFill>
                  <a:prstClr val="black"/>
                </a:solidFill>
                <a:latin typeface="Calibri" pitchFamily="34" charset="0"/>
              </a:rPr>
              <a:t>0</a:t>
            </a:r>
            <a:endParaRPr lang="el-GR" sz="1900">
              <a:solidFill>
                <a:prstClr val="black"/>
              </a:solidFill>
              <a:latin typeface="Calibri" pitchFamily="34" charset="0"/>
            </a:endParaRPr>
          </a:p>
        </p:txBody>
      </p:sp>
      <p:sp>
        <p:nvSpPr>
          <p:cNvPr id="22" name="Oval 6"/>
          <p:cNvSpPr/>
          <p:nvPr/>
        </p:nvSpPr>
        <p:spPr bwMode="auto">
          <a:xfrm>
            <a:off x="6643688" y="4929188"/>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4</a:t>
            </a:r>
            <a:endParaRPr lang="el-GR" sz="1900" dirty="0">
              <a:solidFill>
                <a:prstClr val="black">
                  <a:lumMod val="75000"/>
                  <a:lumOff val="25000"/>
                </a:prstClr>
              </a:solidFill>
            </a:endParaRPr>
          </a:p>
        </p:txBody>
      </p:sp>
      <p:sp>
        <p:nvSpPr>
          <p:cNvPr id="14359" name="TextBox 21"/>
          <p:cNvSpPr txBox="1">
            <a:spLocks noChangeArrowheads="1"/>
          </p:cNvSpPr>
          <p:nvPr/>
        </p:nvSpPr>
        <p:spPr bwMode="auto">
          <a:xfrm>
            <a:off x="6199189" y="4916489"/>
            <a:ext cx="308069" cy="384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a:solidFill>
                  <a:prstClr val="black"/>
                </a:solidFill>
                <a:latin typeface="Calibri" pitchFamily="34" charset="0"/>
              </a:rPr>
              <a:t>0</a:t>
            </a:r>
            <a:endParaRPr lang="el-GR" sz="1900">
              <a:solidFill>
                <a:prstClr val="black"/>
              </a:solidFill>
              <a:latin typeface="Calibri" pitchFamily="34" charset="0"/>
            </a:endParaRPr>
          </a:p>
        </p:txBody>
      </p:sp>
      <p:sp>
        <p:nvSpPr>
          <p:cNvPr id="24" name="Oval 6"/>
          <p:cNvSpPr/>
          <p:nvPr/>
        </p:nvSpPr>
        <p:spPr bwMode="auto">
          <a:xfrm>
            <a:off x="6643688" y="5500688"/>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a:solidFill>
                  <a:prstClr val="black">
                    <a:lumMod val="75000"/>
                    <a:lumOff val="25000"/>
                  </a:prstClr>
                </a:solidFill>
              </a:rPr>
              <a:t>q</a:t>
            </a:r>
            <a:r>
              <a:rPr lang="en-US" sz="1900" baseline="-25000">
                <a:solidFill>
                  <a:prstClr val="black">
                    <a:lumMod val="75000"/>
                    <a:lumOff val="25000"/>
                  </a:prstClr>
                </a:solidFill>
              </a:rPr>
              <a:t>5</a:t>
            </a:r>
            <a:endParaRPr lang="el-GR" sz="1900" dirty="0">
              <a:solidFill>
                <a:prstClr val="black">
                  <a:lumMod val="75000"/>
                  <a:lumOff val="25000"/>
                </a:prstClr>
              </a:solidFill>
            </a:endParaRPr>
          </a:p>
        </p:txBody>
      </p:sp>
      <p:sp>
        <p:nvSpPr>
          <p:cNvPr id="25" name="Oval 6"/>
          <p:cNvSpPr/>
          <p:nvPr/>
        </p:nvSpPr>
        <p:spPr bwMode="auto">
          <a:xfrm>
            <a:off x="6643688" y="4214813"/>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3</a:t>
            </a:r>
            <a:endParaRPr lang="el-GR" sz="1900" dirty="0">
              <a:solidFill>
                <a:prstClr val="black">
                  <a:lumMod val="75000"/>
                  <a:lumOff val="25000"/>
                </a:prstClr>
              </a:solidFill>
            </a:endParaRPr>
          </a:p>
        </p:txBody>
      </p:sp>
      <p:cxnSp>
        <p:nvCxnSpPr>
          <p:cNvPr id="26" name="Curved Connector 12"/>
          <p:cNvCxnSpPr>
            <a:stCxn id="18" idx="0"/>
            <a:endCxn id="25" idx="2"/>
          </p:cNvCxnSpPr>
          <p:nvPr/>
        </p:nvCxnSpPr>
        <p:spPr bwMode="auto">
          <a:xfrm rot="5400000" flipH="1" flipV="1">
            <a:off x="5857875" y="4143376"/>
            <a:ext cx="428625" cy="11430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8" idx="2"/>
            <a:endCxn id="22" idx="6"/>
          </p:cNvCxnSpPr>
          <p:nvPr/>
        </p:nvCxnSpPr>
        <p:spPr>
          <a:xfrm rot="10800000">
            <a:off x="7215188" y="5214940"/>
            <a:ext cx="1000125"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Oval 5"/>
          <p:cNvSpPr/>
          <p:nvPr/>
        </p:nvSpPr>
        <p:spPr bwMode="auto">
          <a:xfrm>
            <a:off x="8215313" y="4929188"/>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sz="1900" dirty="0">
                <a:solidFill>
                  <a:prstClr val="black">
                    <a:lumMod val="75000"/>
                    <a:lumOff val="25000"/>
                  </a:prstClr>
                </a:solidFill>
              </a:rPr>
              <a:t>q</a:t>
            </a:r>
            <a:r>
              <a:rPr lang="en-US" sz="1900" baseline="-25000" dirty="0">
                <a:solidFill>
                  <a:prstClr val="black">
                    <a:lumMod val="75000"/>
                    <a:lumOff val="25000"/>
                  </a:prstClr>
                </a:solidFill>
              </a:rPr>
              <a:t>2</a:t>
            </a:r>
            <a:endParaRPr lang="el-GR" sz="1900" dirty="0">
              <a:solidFill>
                <a:prstClr val="black">
                  <a:lumMod val="75000"/>
                  <a:lumOff val="25000"/>
                </a:prstClr>
              </a:solidFill>
            </a:endParaRPr>
          </a:p>
        </p:txBody>
      </p:sp>
      <p:sp>
        <p:nvSpPr>
          <p:cNvPr id="14365" name="TextBox 8"/>
          <p:cNvSpPr txBox="1">
            <a:spLocks noChangeArrowheads="1"/>
          </p:cNvSpPr>
          <p:nvPr/>
        </p:nvSpPr>
        <p:spPr bwMode="auto">
          <a:xfrm>
            <a:off x="7643815" y="5773739"/>
            <a:ext cx="301625" cy="384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a:solidFill>
                  <a:prstClr val="black"/>
                </a:solidFill>
                <a:latin typeface="Calibri" pitchFamily="34" charset="0"/>
              </a:rPr>
              <a:t>1</a:t>
            </a:r>
            <a:endParaRPr lang="el-GR" sz="1900">
              <a:solidFill>
                <a:prstClr val="black"/>
              </a:solidFill>
              <a:latin typeface="Calibri" pitchFamily="34" charset="0"/>
            </a:endParaRPr>
          </a:p>
        </p:txBody>
      </p:sp>
      <p:cxnSp>
        <p:nvCxnSpPr>
          <p:cNvPr id="30" name="Curved Connector 12"/>
          <p:cNvCxnSpPr>
            <a:stCxn id="28" idx="4"/>
          </p:cNvCxnSpPr>
          <p:nvPr/>
        </p:nvCxnSpPr>
        <p:spPr bwMode="auto">
          <a:xfrm rot="5400000">
            <a:off x="7715251" y="5000627"/>
            <a:ext cx="285750" cy="12858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4367" name="TextBox 21"/>
          <p:cNvSpPr txBox="1">
            <a:spLocks noChangeArrowheads="1"/>
          </p:cNvSpPr>
          <p:nvPr/>
        </p:nvSpPr>
        <p:spPr bwMode="auto">
          <a:xfrm>
            <a:off x="7643814" y="4286250"/>
            <a:ext cx="308069" cy="384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a:solidFill>
                  <a:prstClr val="black"/>
                </a:solidFill>
                <a:latin typeface="Calibri" pitchFamily="34" charset="0"/>
              </a:rPr>
              <a:t>0</a:t>
            </a:r>
            <a:endParaRPr lang="el-GR" sz="1900">
              <a:solidFill>
                <a:prstClr val="black"/>
              </a:solidFill>
              <a:latin typeface="Calibri" pitchFamily="34" charset="0"/>
            </a:endParaRPr>
          </a:p>
        </p:txBody>
      </p:sp>
      <p:sp>
        <p:nvSpPr>
          <p:cNvPr id="14368" name="TextBox 21"/>
          <p:cNvSpPr txBox="1">
            <a:spLocks noChangeArrowheads="1"/>
          </p:cNvSpPr>
          <p:nvPr/>
        </p:nvSpPr>
        <p:spPr bwMode="auto">
          <a:xfrm>
            <a:off x="7627939" y="4929189"/>
            <a:ext cx="308069" cy="384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sz="1900">
                <a:solidFill>
                  <a:prstClr val="black"/>
                </a:solidFill>
                <a:latin typeface="Calibri" pitchFamily="34" charset="0"/>
              </a:rPr>
              <a:t>0</a:t>
            </a:r>
            <a:endParaRPr lang="el-GR" sz="1900">
              <a:solidFill>
                <a:prstClr val="black"/>
              </a:solidFill>
              <a:latin typeface="Calibri" pitchFamily="34" charset="0"/>
            </a:endParaRPr>
          </a:p>
        </p:txBody>
      </p:sp>
      <p:cxnSp>
        <p:nvCxnSpPr>
          <p:cNvPr id="33" name="Curved Connector 12"/>
          <p:cNvCxnSpPr>
            <a:stCxn id="28" idx="0"/>
            <a:endCxn id="25" idx="6"/>
          </p:cNvCxnSpPr>
          <p:nvPr/>
        </p:nvCxnSpPr>
        <p:spPr bwMode="auto">
          <a:xfrm rot="16200000" flipV="1">
            <a:off x="7643815" y="4071940"/>
            <a:ext cx="428625" cy="12858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52191"/>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NFA</a:t>
            </a:r>
            <a:r>
              <a:rPr lang="el-GR" baseline="-25000" smtClean="0"/>
              <a:t>ε</a:t>
            </a:r>
            <a:r>
              <a:rPr lang="en-US" smtClean="0"/>
              <a:t> – NFA equivalence</a:t>
            </a:r>
            <a:endParaRPr lang="el-GR" smtClean="0"/>
          </a:p>
        </p:txBody>
      </p:sp>
      <p:sp>
        <p:nvSpPr>
          <p:cNvPr id="15363" name="Content Placeholder 2"/>
          <p:cNvSpPr>
            <a:spLocks noGrp="1"/>
          </p:cNvSpPr>
          <p:nvPr>
            <p:ph idx="1"/>
          </p:nvPr>
        </p:nvSpPr>
        <p:spPr/>
        <p:txBody>
          <a:bodyPr/>
          <a:lstStyle/>
          <a:p>
            <a:r>
              <a:rPr lang="en-US" smtClean="0"/>
              <a:t>If from q</a:t>
            </a:r>
            <a:r>
              <a:rPr lang="en-US" baseline="-25000" smtClean="0"/>
              <a:t>1 </a:t>
            </a:r>
            <a:r>
              <a:rPr lang="en-US" smtClean="0"/>
              <a:t>an </a:t>
            </a:r>
            <a:r>
              <a:rPr lang="el-GR" smtClean="0"/>
              <a:t>ε</a:t>
            </a:r>
            <a:r>
              <a:rPr lang="en-US" smtClean="0"/>
              <a:t>-move takes me to q2 which is accept state then, when I remove the </a:t>
            </a:r>
            <a:r>
              <a:rPr lang="el-GR" smtClean="0"/>
              <a:t>ε-</a:t>
            </a:r>
            <a:r>
              <a:rPr lang="en-US" smtClean="0"/>
              <a:t>move I should convert q1 to accept state.</a:t>
            </a:r>
            <a:r>
              <a:rPr lang="en-US" baseline="-25000" smtClean="0"/>
              <a:t> </a:t>
            </a:r>
            <a:r>
              <a:rPr lang="en-US" smtClean="0"/>
              <a:t> </a:t>
            </a:r>
          </a:p>
          <a:p>
            <a:pPr>
              <a:buFont typeface="Arial" charset="0"/>
              <a:buNone/>
            </a:pPr>
            <a:endParaRPr lang="el-GR" smtClean="0"/>
          </a:p>
        </p:txBody>
      </p:sp>
      <p:cxnSp>
        <p:nvCxnSpPr>
          <p:cNvPr id="4" name="Straight Arrow Connector 3"/>
          <p:cNvCxnSpPr>
            <a:stCxn id="6" idx="6"/>
            <a:endCxn id="11" idx="2"/>
          </p:cNvCxnSpPr>
          <p:nvPr/>
        </p:nvCxnSpPr>
        <p:spPr>
          <a:xfrm>
            <a:off x="2571750" y="4429125"/>
            <a:ext cx="5715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Oval 9"/>
          <p:cNvSpPr/>
          <p:nvPr/>
        </p:nvSpPr>
        <p:spPr bwMode="auto">
          <a:xfrm>
            <a:off x="785813" y="4143375"/>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1</a:t>
            </a:r>
            <a:endParaRPr lang="el-GR" kern="1200" dirty="0">
              <a:solidFill>
                <a:prstClr val="black">
                  <a:lumMod val="75000"/>
                  <a:lumOff val="25000"/>
                </a:prstClr>
              </a:solidFill>
            </a:endParaRPr>
          </a:p>
        </p:txBody>
      </p:sp>
      <p:sp>
        <p:nvSpPr>
          <p:cNvPr id="6" name="Oval 5"/>
          <p:cNvSpPr/>
          <p:nvPr/>
        </p:nvSpPr>
        <p:spPr bwMode="auto">
          <a:xfrm>
            <a:off x="2000250" y="4143375"/>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2</a:t>
            </a:r>
            <a:endParaRPr lang="el-GR" kern="1200" dirty="0">
              <a:solidFill>
                <a:prstClr val="black">
                  <a:lumMod val="75000"/>
                  <a:lumOff val="25000"/>
                </a:prstClr>
              </a:solidFill>
            </a:endParaRPr>
          </a:p>
        </p:txBody>
      </p:sp>
      <p:cxnSp>
        <p:nvCxnSpPr>
          <p:cNvPr id="7" name="Straight Arrow Connector 6"/>
          <p:cNvCxnSpPr>
            <a:stCxn id="5" idx="6"/>
            <a:endCxn id="6" idx="2"/>
          </p:cNvCxnSpPr>
          <p:nvPr/>
        </p:nvCxnSpPr>
        <p:spPr bwMode="auto">
          <a:xfrm>
            <a:off x="1357315" y="4429125"/>
            <a:ext cx="64293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368" name="TextBox 9"/>
          <p:cNvSpPr txBox="1">
            <a:spLocks noChangeArrowheads="1"/>
          </p:cNvSpPr>
          <p:nvPr/>
        </p:nvSpPr>
        <p:spPr bwMode="auto">
          <a:xfrm>
            <a:off x="1500188" y="4143375"/>
            <a:ext cx="290436" cy="36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l-GR" kern="1200">
                <a:solidFill>
                  <a:prstClr val="black"/>
                </a:solidFill>
                <a:latin typeface="Calibri" pitchFamily="34" charset="0"/>
                <a:ea typeface="+mn-ea"/>
                <a:cs typeface="+mn-cs"/>
              </a:rPr>
              <a:t>ε</a:t>
            </a:r>
          </a:p>
        </p:txBody>
      </p:sp>
      <p:sp>
        <p:nvSpPr>
          <p:cNvPr id="11" name="Oval 6"/>
          <p:cNvSpPr/>
          <p:nvPr/>
        </p:nvSpPr>
        <p:spPr bwMode="auto">
          <a:xfrm>
            <a:off x="3143250" y="4143375"/>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4</a:t>
            </a:r>
            <a:endParaRPr lang="el-GR" kern="1200" dirty="0">
              <a:solidFill>
                <a:prstClr val="black">
                  <a:lumMod val="75000"/>
                  <a:lumOff val="25000"/>
                </a:prstClr>
              </a:solidFill>
            </a:endParaRPr>
          </a:p>
        </p:txBody>
      </p:sp>
      <p:sp>
        <p:nvSpPr>
          <p:cNvPr id="15370" name="TextBox 21"/>
          <p:cNvSpPr txBox="1">
            <a:spLocks noChangeArrowheads="1"/>
          </p:cNvSpPr>
          <p:nvPr/>
        </p:nvSpPr>
        <p:spPr bwMode="auto">
          <a:xfrm>
            <a:off x="2643189" y="4143375"/>
            <a:ext cx="301657" cy="36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kern="1200">
                <a:solidFill>
                  <a:prstClr val="black"/>
                </a:solidFill>
                <a:latin typeface="Calibri" pitchFamily="34" charset="0"/>
                <a:ea typeface="+mn-ea"/>
                <a:cs typeface="+mn-cs"/>
              </a:rPr>
              <a:t>0</a:t>
            </a:r>
            <a:endParaRPr lang="el-GR" kern="1200">
              <a:solidFill>
                <a:prstClr val="black"/>
              </a:solidFill>
              <a:latin typeface="Calibri" pitchFamily="34" charset="0"/>
              <a:ea typeface="+mn-ea"/>
              <a:cs typeface="+mn-cs"/>
            </a:endParaRPr>
          </a:p>
        </p:txBody>
      </p:sp>
      <p:sp>
        <p:nvSpPr>
          <p:cNvPr id="15" name="Oval 9"/>
          <p:cNvSpPr/>
          <p:nvPr/>
        </p:nvSpPr>
        <p:spPr bwMode="auto">
          <a:xfrm>
            <a:off x="5214938" y="4000500"/>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1</a:t>
            </a:r>
            <a:endParaRPr lang="el-GR" kern="1200" dirty="0">
              <a:solidFill>
                <a:prstClr val="black">
                  <a:lumMod val="75000"/>
                  <a:lumOff val="25000"/>
                </a:prstClr>
              </a:solidFill>
            </a:endParaRPr>
          </a:p>
        </p:txBody>
      </p:sp>
      <p:sp>
        <p:nvSpPr>
          <p:cNvPr id="15372" name="TextBox 8"/>
          <p:cNvSpPr txBox="1">
            <a:spLocks noChangeArrowheads="1"/>
          </p:cNvSpPr>
          <p:nvPr/>
        </p:nvSpPr>
        <p:spPr bwMode="auto">
          <a:xfrm>
            <a:off x="6715126" y="4845050"/>
            <a:ext cx="301657" cy="36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kern="1200">
                <a:solidFill>
                  <a:prstClr val="black"/>
                </a:solidFill>
                <a:latin typeface="Calibri" pitchFamily="34" charset="0"/>
                <a:ea typeface="+mn-ea"/>
                <a:cs typeface="+mn-cs"/>
              </a:rPr>
              <a:t>0</a:t>
            </a:r>
            <a:endParaRPr lang="el-GR" kern="1200">
              <a:solidFill>
                <a:prstClr val="black"/>
              </a:solidFill>
              <a:latin typeface="Calibri" pitchFamily="34" charset="0"/>
              <a:ea typeface="+mn-ea"/>
              <a:cs typeface="+mn-cs"/>
            </a:endParaRPr>
          </a:p>
        </p:txBody>
      </p:sp>
      <p:cxnSp>
        <p:nvCxnSpPr>
          <p:cNvPr id="17" name="Curved Connector 12"/>
          <p:cNvCxnSpPr>
            <a:stCxn id="15" idx="4"/>
            <a:endCxn id="22" idx="4"/>
          </p:cNvCxnSpPr>
          <p:nvPr/>
        </p:nvCxnSpPr>
        <p:spPr bwMode="auto">
          <a:xfrm rot="16200000" flipH="1">
            <a:off x="7000082" y="3072608"/>
            <a:ext cx="1588" cy="3000375"/>
          </a:xfrm>
          <a:prstGeom prst="curvedConnector3">
            <a:avLst>
              <a:gd name="adj1" fmla="val 14395466"/>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Oval 6"/>
          <p:cNvSpPr/>
          <p:nvPr/>
        </p:nvSpPr>
        <p:spPr bwMode="auto">
          <a:xfrm>
            <a:off x="6643688" y="4000500"/>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2</a:t>
            </a:r>
            <a:endParaRPr lang="el-GR" kern="1200" dirty="0">
              <a:solidFill>
                <a:prstClr val="black">
                  <a:lumMod val="75000"/>
                  <a:lumOff val="25000"/>
                </a:prstClr>
              </a:solidFill>
            </a:endParaRPr>
          </a:p>
        </p:txBody>
      </p:sp>
      <p:cxnSp>
        <p:nvCxnSpPr>
          <p:cNvPr id="21" name="Straight Arrow Connector 20"/>
          <p:cNvCxnSpPr>
            <a:stCxn id="18" idx="6"/>
            <a:endCxn id="22" idx="2"/>
          </p:cNvCxnSpPr>
          <p:nvPr/>
        </p:nvCxnSpPr>
        <p:spPr>
          <a:xfrm>
            <a:off x="7215188" y="4286250"/>
            <a:ext cx="10001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Oval 5"/>
          <p:cNvSpPr/>
          <p:nvPr/>
        </p:nvSpPr>
        <p:spPr bwMode="auto">
          <a:xfrm>
            <a:off x="8215313" y="4000500"/>
            <a:ext cx="571500" cy="571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r>
              <a:rPr lang="en-US" kern="1200" dirty="0">
                <a:solidFill>
                  <a:prstClr val="black">
                    <a:lumMod val="75000"/>
                    <a:lumOff val="25000"/>
                  </a:prstClr>
                </a:solidFill>
              </a:rPr>
              <a:t>q</a:t>
            </a:r>
            <a:r>
              <a:rPr lang="en-US" kern="1200" baseline="-25000" dirty="0">
                <a:solidFill>
                  <a:prstClr val="black">
                    <a:lumMod val="75000"/>
                    <a:lumOff val="25000"/>
                  </a:prstClr>
                </a:solidFill>
              </a:rPr>
              <a:t>4</a:t>
            </a:r>
            <a:endParaRPr lang="el-GR" kern="1200" dirty="0">
              <a:solidFill>
                <a:prstClr val="black">
                  <a:lumMod val="75000"/>
                  <a:lumOff val="25000"/>
                </a:prstClr>
              </a:solidFill>
            </a:endParaRPr>
          </a:p>
        </p:txBody>
      </p:sp>
      <p:sp>
        <p:nvSpPr>
          <p:cNvPr id="15377" name="TextBox 21"/>
          <p:cNvSpPr txBox="1">
            <a:spLocks noChangeArrowheads="1"/>
          </p:cNvSpPr>
          <p:nvPr/>
        </p:nvSpPr>
        <p:spPr bwMode="auto">
          <a:xfrm>
            <a:off x="7627939" y="4000500"/>
            <a:ext cx="301657" cy="36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2" rIns="91426" bIns="45712">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l" rtl="0" eaLnBrk="1" fontAlgn="base" hangingPunct="1">
              <a:spcBef>
                <a:spcPct val="0"/>
              </a:spcBef>
              <a:spcAft>
                <a:spcPct val="0"/>
              </a:spcAft>
            </a:pPr>
            <a:r>
              <a:rPr lang="en-US" kern="1200">
                <a:solidFill>
                  <a:prstClr val="black"/>
                </a:solidFill>
                <a:latin typeface="Calibri" pitchFamily="34" charset="0"/>
                <a:ea typeface="+mn-ea"/>
                <a:cs typeface="+mn-cs"/>
              </a:rPr>
              <a:t>0</a:t>
            </a:r>
            <a:endParaRPr lang="el-GR" kern="1200">
              <a:solidFill>
                <a:prstClr val="black"/>
              </a:solidFill>
              <a:latin typeface="Calibri" pitchFamily="34" charset="0"/>
              <a:ea typeface="+mn-ea"/>
              <a:cs typeface="+mn-cs"/>
            </a:endParaRPr>
          </a:p>
        </p:txBody>
      </p:sp>
      <p:sp>
        <p:nvSpPr>
          <p:cNvPr id="26" name="Oval 25"/>
          <p:cNvSpPr/>
          <p:nvPr/>
        </p:nvSpPr>
        <p:spPr bwMode="auto">
          <a:xfrm>
            <a:off x="2071688" y="4202115"/>
            <a:ext cx="428625" cy="4286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endParaRPr lang="el-GR" kern="1200" dirty="0">
              <a:solidFill>
                <a:prstClr val="black">
                  <a:lumMod val="75000"/>
                  <a:lumOff val="25000"/>
                </a:prstClr>
              </a:solidFill>
            </a:endParaRPr>
          </a:p>
        </p:txBody>
      </p:sp>
      <p:sp>
        <p:nvSpPr>
          <p:cNvPr id="32" name="Oval 31"/>
          <p:cNvSpPr/>
          <p:nvPr/>
        </p:nvSpPr>
        <p:spPr bwMode="auto">
          <a:xfrm>
            <a:off x="6715125" y="4059240"/>
            <a:ext cx="428625" cy="4286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endParaRPr lang="el-GR" kern="1200" dirty="0">
              <a:solidFill>
                <a:prstClr val="black">
                  <a:lumMod val="75000"/>
                  <a:lumOff val="25000"/>
                </a:prstClr>
              </a:solidFill>
            </a:endParaRPr>
          </a:p>
        </p:txBody>
      </p:sp>
      <p:sp>
        <p:nvSpPr>
          <p:cNvPr id="33" name="Oval 32"/>
          <p:cNvSpPr/>
          <p:nvPr/>
        </p:nvSpPr>
        <p:spPr bwMode="auto">
          <a:xfrm>
            <a:off x="5286375" y="4059240"/>
            <a:ext cx="428625" cy="4286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91426" tIns="45712" rIns="91426" bIns="45712" anchor="ctr"/>
          <a:lstStyle/>
          <a:p>
            <a:pPr algn="ctr" rtl="0">
              <a:defRPr/>
            </a:pPr>
            <a:endParaRPr lang="el-GR" kern="1200" dirty="0">
              <a:solidFill>
                <a:prstClr val="black">
                  <a:lumMod val="75000"/>
                  <a:lumOff val="25000"/>
                </a:prstClr>
              </a:solidFill>
            </a:endParaRPr>
          </a:p>
        </p:txBody>
      </p:sp>
    </p:spTree>
    <p:extLst>
      <p:ext uri="{BB962C8B-B14F-4D97-AF65-F5344CB8AC3E}">
        <p14:creationId xmlns:p14="http://schemas.microsoft.com/office/powerpoint/2010/main" val="279002065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Automata-theory-Conversion-of-nfa-to-nfa-1-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704837103"/>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Automata-theory-Conversion-of-nfa-to-nfa-2-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4022856751"/>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Automata-theory-Conversion-of-nfa-to-nfa-3-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2306282246"/>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504" y="2355057"/>
            <a:ext cx="7050993" cy="214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384869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Pumping-lemma-3-2048.jpg"/>
          <p:cNvPicPr>
            <a:picLocks noChangeAspect="1"/>
          </p:cNvPicPr>
          <p:nvPr/>
        </p:nvPicPr>
        <p:blipFill>
          <a:blip r:embed="rId2"/>
          <a:stretch>
            <a:fillRect/>
          </a:stretch>
        </p:blipFill>
        <p:spPr>
          <a:xfrm>
            <a:off x="0" y="12700"/>
            <a:ext cx="9144000" cy="6858000"/>
          </a:xfrm>
          <a:prstGeom prst="rect">
            <a:avLst/>
          </a:prstGeom>
        </p:spPr>
      </p:pic>
    </p:spTree>
    <p:extLst>
      <p:ext uri="{BB962C8B-B14F-4D97-AF65-F5344CB8AC3E}">
        <p14:creationId xmlns:p14="http://schemas.microsoft.com/office/powerpoint/2010/main" val="3923538461"/>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Pumping-lemma-4-2048.jpg"/>
          <p:cNvPicPr>
            <a:picLocks noChangeAspect="1"/>
          </p:cNvPicPr>
          <p:nvPr/>
        </p:nvPicPr>
        <p:blipFill>
          <a:blip r:embed="rId2"/>
          <a:stretch>
            <a:fillRect/>
          </a:stretch>
        </p:blipFill>
        <p:spPr>
          <a:xfrm>
            <a:off x="0" y="-152400"/>
            <a:ext cx="9144000" cy="6858000"/>
          </a:xfrm>
          <a:prstGeom prst="rect">
            <a:avLst/>
          </a:prstGeom>
        </p:spPr>
      </p:pic>
    </p:spTree>
    <p:extLst>
      <p:ext uri="{BB962C8B-B14F-4D97-AF65-F5344CB8AC3E}">
        <p14:creationId xmlns:p14="http://schemas.microsoft.com/office/powerpoint/2010/main" val="228577753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Pumping-lemma-5-204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610256217"/>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Pumping-lemma-6-2048.jpg"/>
          <p:cNvPicPr>
            <a:picLocks noChangeAspect="1"/>
          </p:cNvPicPr>
          <p:nvPr/>
        </p:nvPicPr>
        <p:blipFill>
          <a:blip r:embed="rId2"/>
          <a:stretch>
            <a:fillRect/>
          </a:stretch>
        </p:blipFill>
        <p:spPr>
          <a:xfrm>
            <a:off x="-11969" y="0"/>
            <a:ext cx="9144000" cy="6858000"/>
          </a:xfrm>
          <a:prstGeom prst="rect">
            <a:avLst/>
          </a:prstGeom>
        </p:spPr>
      </p:pic>
    </p:spTree>
    <p:extLst>
      <p:ext uri="{BB962C8B-B14F-4D97-AF65-F5344CB8AC3E}">
        <p14:creationId xmlns:p14="http://schemas.microsoft.com/office/powerpoint/2010/main" val="123397577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Pumping-lemma-7-2048.jpg"/>
          <p:cNvPicPr>
            <a:picLocks noChangeAspect="1"/>
          </p:cNvPicPr>
          <p:nvPr/>
        </p:nvPicPr>
        <p:blipFill>
          <a:blip r:embed="rId2"/>
          <a:stretch>
            <a:fillRect/>
          </a:stretch>
        </p:blipFill>
        <p:spPr>
          <a:xfrm>
            <a:off x="0" y="-114300"/>
            <a:ext cx="9144000" cy="6858000"/>
          </a:xfrm>
          <a:prstGeom prst="rect">
            <a:avLst/>
          </a:prstGeom>
        </p:spPr>
      </p:pic>
    </p:spTree>
    <p:extLst>
      <p:ext uri="{BB962C8B-B14F-4D97-AF65-F5344CB8AC3E}">
        <p14:creationId xmlns:p14="http://schemas.microsoft.com/office/powerpoint/2010/main" val="25114231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Pumping-lemma-8-2048.jpg"/>
          <p:cNvPicPr>
            <a:picLocks noChangeAspect="1"/>
          </p:cNvPicPr>
          <p:nvPr/>
        </p:nvPicPr>
        <p:blipFill>
          <a:blip r:embed="rId2"/>
          <a:stretch>
            <a:fillRect/>
          </a:stretch>
        </p:blipFill>
        <p:spPr>
          <a:xfrm>
            <a:off x="-11969" y="-76200"/>
            <a:ext cx="9144000" cy="6858000"/>
          </a:xfrm>
          <a:prstGeom prst="rect">
            <a:avLst/>
          </a:prstGeom>
        </p:spPr>
      </p:pic>
    </p:spTree>
    <p:extLst>
      <p:ext uri="{BB962C8B-B14F-4D97-AF65-F5344CB8AC3E}">
        <p14:creationId xmlns:p14="http://schemas.microsoft.com/office/powerpoint/2010/main" val="35624171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Pumping-lemma-9-2048.jpg"/>
          <p:cNvPicPr>
            <a:picLocks noChangeAspect="1"/>
          </p:cNvPicPr>
          <p:nvPr/>
        </p:nvPicPr>
        <p:blipFill>
          <a:blip r:embed="rId2"/>
          <a:stretch>
            <a:fillRect/>
          </a:stretch>
        </p:blipFill>
        <p:spPr>
          <a:xfrm>
            <a:off x="-95749" y="114300"/>
            <a:ext cx="9144000" cy="6858000"/>
          </a:xfrm>
          <a:prstGeom prst="rect">
            <a:avLst/>
          </a:prstGeom>
        </p:spPr>
      </p:pic>
    </p:spTree>
    <p:extLst>
      <p:ext uri="{BB962C8B-B14F-4D97-AF65-F5344CB8AC3E}">
        <p14:creationId xmlns:p14="http://schemas.microsoft.com/office/powerpoint/2010/main" val="1160135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Pumping-lemma-10-2048.jpg"/>
          <p:cNvPicPr>
            <a:picLocks noChangeAspect="1"/>
          </p:cNvPicPr>
          <p:nvPr/>
        </p:nvPicPr>
        <p:blipFill>
          <a:blip r:embed="rId2"/>
          <a:stretch>
            <a:fillRect/>
          </a:stretch>
        </p:blipFill>
        <p:spPr>
          <a:xfrm>
            <a:off x="11969" y="0"/>
            <a:ext cx="9144000" cy="6858000"/>
          </a:xfrm>
          <a:prstGeom prst="rect">
            <a:avLst/>
          </a:prstGeom>
        </p:spPr>
      </p:pic>
    </p:spTree>
    <p:extLst>
      <p:ext uri="{BB962C8B-B14F-4D97-AF65-F5344CB8AC3E}">
        <p14:creationId xmlns:p14="http://schemas.microsoft.com/office/powerpoint/2010/main" val="300697547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457200"/>
            <a:ext cx="7924800" cy="5509200"/>
          </a:xfrm>
          <a:prstGeom prst="rect">
            <a:avLst/>
          </a:prstGeom>
        </p:spPr>
        <p:txBody>
          <a:bodyPr wrap="square">
            <a:spAutoFit/>
          </a:bodyPr>
          <a:lstStyle/>
          <a:p>
            <a:r>
              <a:rPr lang="en-US" sz="3200" b="1" dirty="0"/>
              <a:t>Conversion from NFA to DFA</a:t>
            </a:r>
          </a:p>
          <a:p>
            <a:r>
              <a:rPr lang="en-US" sz="3200" dirty="0" smtClean="0"/>
              <a:t>*</a:t>
            </a:r>
            <a:r>
              <a:rPr lang="en-US" sz="3200" b="1" dirty="0" smtClean="0"/>
              <a:t>In </a:t>
            </a:r>
            <a:r>
              <a:rPr lang="en-US" sz="3200" b="1" dirty="0"/>
              <a:t>NFA</a:t>
            </a:r>
            <a:r>
              <a:rPr lang="en-US" sz="3200" dirty="0"/>
              <a:t>, when a specific input is given to the current state, the machine goes to multiple states. </a:t>
            </a:r>
            <a:endParaRPr lang="en-US" sz="3200" dirty="0" smtClean="0"/>
          </a:p>
          <a:p>
            <a:r>
              <a:rPr lang="en-US" sz="3200" dirty="0"/>
              <a:t>*</a:t>
            </a:r>
            <a:r>
              <a:rPr lang="en-US" sz="3200" dirty="0" smtClean="0"/>
              <a:t>It </a:t>
            </a:r>
            <a:r>
              <a:rPr lang="en-US" sz="3200" dirty="0"/>
              <a:t>can have zero, one or more than one move on a given input symbol. </a:t>
            </a:r>
            <a:endParaRPr lang="en-US" sz="3200" dirty="0" smtClean="0"/>
          </a:p>
          <a:p>
            <a:r>
              <a:rPr lang="en-US" sz="3200" b="1" dirty="0" smtClean="0"/>
              <a:t>On </a:t>
            </a:r>
            <a:r>
              <a:rPr lang="en-US" sz="3200" b="1" dirty="0"/>
              <a:t>the other hand, in DFA</a:t>
            </a:r>
            <a:r>
              <a:rPr lang="en-US" sz="3200" dirty="0"/>
              <a:t>, when a specific input is given to the current state, the machine goes to only one state</a:t>
            </a:r>
            <a:r>
              <a:rPr lang="en-US" sz="3200" dirty="0" smtClean="0"/>
              <a:t>.</a:t>
            </a:r>
          </a:p>
          <a:p>
            <a:r>
              <a:rPr lang="en-US" sz="3200" dirty="0"/>
              <a:t>*</a:t>
            </a:r>
            <a:r>
              <a:rPr lang="en-US" sz="3200" dirty="0" smtClean="0"/>
              <a:t> </a:t>
            </a:r>
            <a:r>
              <a:rPr lang="en-US" sz="3200" dirty="0"/>
              <a:t>DFA has only one move on a given input symbol.</a:t>
            </a:r>
          </a:p>
        </p:txBody>
      </p:sp>
    </p:spTree>
    <p:extLst>
      <p:ext uri="{BB962C8B-B14F-4D97-AF65-F5344CB8AC3E}">
        <p14:creationId xmlns:p14="http://schemas.microsoft.com/office/powerpoint/2010/main" val="375537682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pPr algn="l"/>
            <a:r>
              <a:rPr lang="en-US" dirty="0" smtClean="0"/>
              <a:t/>
            </a:r>
            <a:br>
              <a:rPr lang="en-US" dirty="0" smtClean="0"/>
            </a:br>
            <a:r>
              <a:rPr lang="en-US" dirty="0"/>
              <a:t/>
            </a:r>
            <a:br>
              <a:rPr lang="en-US" dirty="0"/>
            </a:br>
            <a:r>
              <a:rPr lang="en-US" dirty="0" smtClean="0"/>
              <a:t>Let</a:t>
            </a:r>
            <a:r>
              <a:rPr lang="en-US" dirty="0"/>
              <a:t>, M = (Q, ∑, δ, q0, F) is an NFA which accepts the language L(M). There should be equivalent DFA denoted by M' = (Q', ∑', q0', δ', F') such that L(M) = L(M').</a:t>
            </a:r>
          </a:p>
        </p:txBody>
      </p:sp>
    </p:spTree>
    <p:extLst>
      <p:ext uri="{BB962C8B-B14F-4D97-AF65-F5344CB8AC3E}">
        <p14:creationId xmlns:p14="http://schemas.microsoft.com/office/powerpoint/2010/main" val="9474171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Steps </a:t>
            </a:r>
            <a:r>
              <a:rPr lang="en-US" dirty="0"/>
              <a:t>for converting NFA to DFA:</a:t>
            </a:r>
            <a:br>
              <a:rPr lang="en-US" dirty="0"/>
            </a:br>
            <a:r>
              <a:rPr lang="en-US" b="1" dirty="0"/>
              <a:t>Step 1:</a:t>
            </a:r>
            <a:r>
              <a:rPr lang="en-US" dirty="0"/>
              <a:t> Initially Q' = ϕ</a:t>
            </a:r>
            <a:br>
              <a:rPr lang="en-US" dirty="0"/>
            </a:br>
            <a:r>
              <a:rPr lang="en-US" b="1" dirty="0"/>
              <a:t>Step 2:</a:t>
            </a:r>
            <a:r>
              <a:rPr lang="en-US" dirty="0"/>
              <a:t> Add q0 of NFA to Q'. Then find the transitions from this start state</a:t>
            </a:r>
            <a:r>
              <a:rPr lang="en-US" dirty="0" smtClean="0"/>
              <a:t>.</a:t>
            </a:r>
            <a:br>
              <a:rPr lang="en-US" dirty="0" smtClean="0"/>
            </a:br>
            <a:r>
              <a:rPr lang="en-US" b="1" dirty="0"/>
              <a:t>Step 3:</a:t>
            </a:r>
            <a:r>
              <a:rPr lang="en-US" dirty="0"/>
              <a:t> In Q', find the possible set of states for each input symbol. If this set of states is not in Q', then add it to Q'.</a:t>
            </a:r>
            <a:br>
              <a:rPr lang="en-US" dirty="0"/>
            </a:br>
            <a:r>
              <a:rPr lang="en-US" b="1" dirty="0"/>
              <a:t>Step 4:</a:t>
            </a:r>
            <a:r>
              <a:rPr lang="en-US" dirty="0"/>
              <a:t> In DFA, the final state will be all the states which contain F(final states of NFA)</a:t>
            </a:r>
            <a:br>
              <a:rPr lang="en-US" dirty="0"/>
            </a:br>
            <a:r>
              <a:rPr lang="en-US" dirty="0"/>
              <a:t/>
            </a:r>
            <a:br>
              <a:rPr lang="en-US" dirty="0"/>
            </a:br>
            <a:endParaRPr lang="en-US" dirty="0"/>
          </a:p>
        </p:txBody>
      </p:sp>
    </p:spTree>
    <p:extLst>
      <p:ext uri="{BB962C8B-B14F-4D97-AF65-F5344CB8AC3E}">
        <p14:creationId xmlns:p14="http://schemas.microsoft.com/office/powerpoint/2010/main" val="193269532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Example </a:t>
            </a:r>
            <a:r>
              <a:rPr lang="en-US" dirty="0"/>
              <a:t>1:</a:t>
            </a:r>
            <a:br>
              <a:rPr lang="en-US" dirty="0"/>
            </a:br>
            <a:r>
              <a:rPr lang="en-US" dirty="0"/>
              <a:t>Convert the given NFA to DFA.</a:t>
            </a:r>
            <a:br>
              <a:rPr lang="en-US" dirty="0"/>
            </a:b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7997687"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195661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fontScale="90000"/>
          </a:bodyPr>
          <a:lstStyle/>
          <a:p>
            <a:pPr algn="l"/>
            <a:r>
              <a:rPr lang="en-US" b="1" dirty="0" smtClean="0"/>
              <a:t/>
            </a:r>
            <a:br>
              <a:rPr lang="en-US" b="1" dirty="0" smtClean="0"/>
            </a:br>
            <a:r>
              <a:rPr lang="en-US" sz="4000" b="1" dirty="0" smtClean="0"/>
              <a:t>Solution</a:t>
            </a:r>
            <a:r>
              <a:rPr lang="en-US" sz="4000" b="1" dirty="0"/>
              <a:t>:</a:t>
            </a:r>
            <a:r>
              <a:rPr lang="en-US" sz="4000" dirty="0"/>
              <a:t> For the given transition diagram we will first construct the transition table</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853" y="1905000"/>
            <a:ext cx="8606641" cy="3962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61463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5943600"/>
          </a:xfrm>
        </p:spPr>
        <p:txBody>
          <a:bodyPr>
            <a:normAutofit/>
          </a:bodyPr>
          <a:lstStyle/>
          <a:p>
            <a:r>
              <a:rPr lang="en-US" dirty="0"/>
              <a:t>Now we will obtain δ' transition for state q0</a:t>
            </a:r>
            <a:r>
              <a:rPr lang="en-US" dirty="0" smtClean="0"/>
              <a:t>.</a:t>
            </a:r>
          </a:p>
          <a:p>
            <a:pPr marL="0" indent="0">
              <a:buNone/>
            </a:pPr>
            <a:r>
              <a:rPr lang="el-GR" dirty="0" smtClean="0"/>
              <a:t>δ</a:t>
            </a:r>
            <a:r>
              <a:rPr lang="el-GR" dirty="0"/>
              <a:t>'([</a:t>
            </a:r>
            <a:r>
              <a:rPr lang="en-US" dirty="0"/>
              <a:t>q0], 0) = [q0]  </a:t>
            </a:r>
          </a:p>
          <a:p>
            <a:pPr marL="0" indent="0">
              <a:buNone/>
            </a:pPr>
            <a:r>
              <a:rPr lang="el-GR" dirty="0" smtClean="0"/>
              <a:t>δ</a:t>
            </a:r>
            <a:r>
              <a:rPr lang="el-GR" dirty="0"/>
              <a:t>'([</a:t>
            </a:r>
            <a:r>
              <a:rPr lang="en-US" dirty="0"/>
              <a:t>q0], 1) = [q1]  </a:t>
            </a:r>
          </a:p>
          <a:p>
            <a:r>
              <a:rPr lang="en-US" dirty="0"/>
              <a:t>The δ' transition for state q1 is obtained as</a:t>
            </a:r>
            <a:r>
              <a:rPr lang="en-US" dirty="0" smtClean="0"/>
              <a:t>:</a:t>
            </a:r>
          </a:p>
          <a:p>
            <a:pPr marL="0" indent="0">
              <a:buNone/>
            </a:pPr>
            <a:r>
              <a:rPr lang="en-US" dirty="0" smtClean="0"/>
              <a:t>δ</a:t>
            </a:r>
            <a:r>
              <a:rPr lang="en-US" dirty="0"/>
              <a:t>'([q1], 0) = [q1, q2]       (</a:t>
            </a:r>
            <a:r>
              <a:rPr lang="en-US" b="1" dirty="0"/>
              <a:t>new</a:t>
            </a:r>
            <a:r>
              <a:rPr lang="en-US" dirty="0"/>
              <a:t> state generated) </a:t>
            </a:r>
            <a:endParaRPr lang="en-US" dirty="0" smtClean="0"/>
          </a:p>
          <a:p>
            <a:pPr marL="0" indent="0">
              <a:buNone/>
            </a:pPr>
            <a:r>
              <a:rPr lang="en-US" dirty="0"/>
              <a:t> </a:t>
            </a:r>
            <a:r>
              <a:rPr lang="en-US" dirty="0" smtClean="0"/>
              <a:t>δ</a:t>
            </a:r>
            <a:r>
              <a:rPr lang="en-US" dirty="0"/>
              <a:t>'([q1], 1) = [q1]  </a:t>
            </a:r>
          </a:p>
          <a:p>
            <a:r>
              <a:rPr lang="en-US" dirty="0"/>
              <a:t>The δ' transition for state q2 is obtained as</a:t>
            </a:r>
            <a:r>
              <a:rPr lang="en-US" dirty="0" smtClean="0"/>
              <a:t>:</a:t>
            </a:r>
          </a:p>
          <a:p>
            <a:pPr marL="0" indent="0">
              <a:buNone/>
            </a:pPr>
            <a:r>
              <a:rPr lang="el-GR" dirty="0"/>
              <a:t>δ'([</a:t>
            </a:r>
            <a:r>
              <a:rPr lang="en-US" dirty="0"/>
              <a:t>q2], 0) = [q2]  </a:t>
            </a:r>
          </a:p>
          <a:p>
            <a:pPr marL="0" indent="0">
              <a:buNone/>
            </a:pPr>
            <a:r>
              <a:rPr lang="el-GR" dirty="0"/>
              <a:t>δ'([</a:t>
            </a:r>
            <a:r>
              <a:rPr lang="en-US" dirty="0"/>
              <a:t>q2], 1) = [q1, q2]  </a:t>
            </a:r>
            <a:endParaRPr lang="en-US" dirty="0" smtClean="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4309169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normAutofit lnSpcReduction="10000"/>
          </a:bodyPr>
          <a:lstStyle/>
          <a:p>
            <a:pPr marL="0" indent="0">
              <a:buNone/>
            </a:pPr>
            <a:r>
              <a:rPr lang="en-US" dirty="0" smtClean="0"/>
              <a:t>Now we will obtain δ' transition on [q1, q2].</a:t>
            </a:r>
          </a:p>
          <a:p>
            <a:r>
              <a:rPr lang="el-GR" dirty="0" smtClean="0"/>
              <a:t>δ'([</a:t>
            </a:r>
            <a:r>
              <a:rPr lang="en-US" dirty="0" smtClean="0"/>
              <a:t>q1, q2], 0) = </a:t>
            </a:r>
            <a:r>
              <a:rPr lang="el-GR" dirty="0" smtClean="0"/>
              <a:t>δ(</a:t>
            </a:r>
            <a:r>
              <a:rPr lang="en-US" dirty="0" smtClean="0"/>
              <a:t>q1, 0) ∪ </a:t>
            </a:r>
            <a:r>
              <a:rPr lang="el-GR" dirty="0" smtClean="0"/>
              <a:t>δ(</a:t>
            </a:r>
            <a:r>
              <a:rPr lang="en-US" dirty="0" smtClean="0"/>
              <a:t>q2, 0)  </a:t>
            </a:r>
          </a:p>
          <a:p>
            <a:r>
              <a:rPr lang="en-US" dirty="0" smtClean="0"/>
              <a:t>                      = {q1, q2} ∪ {q2}  </a:t>
            </a:r>
          </a:p>
          <a:p>
            <a:r>
              <a:rPr lang="en-US" dirty="0" smtClean="0"/>
              <a:t>                      = [q1, q2]  </a:t>
            </a:r>
          </a:p>
          <a:p>
            <a:r>
              <a:rPr lang="el-GR" dirty="0" smtClean="0"/>
              <a:t>δ'([</a:t>
            </a:r>
            <a:r>
              <a:rPr lang="en-US" dirty="0" smtClean="0"/>
              <a:t>q1, q2], 1) = </a:t>
            </a:r>
            <a:r>
              <a:rPr lang="el-GR" dirty="0" smtClean="0"/>
              <a:t>δ(</a:t>
            </a:r>
            <a:r>
              <a:rPr lang="en-US" dirty="0" smtClean="0"/>
              <a:t>q1, 1) ∪ </a:t>
            </a:r>
            <a:r>
              <a:rPr lang="el-GR" dirty="0" smtClean="0"/>
              <a:t>δ(</a:t>
            </a:r>
            <a:r>
              <a:rPr lang="en-US" dirty="0" smtClean="0"/>
              <a:t>q2, 1)  </a:t>
            </a:r>
          </a:p>
          <a:p>
            <a:r>
              <a:rPr lang="en-US" dirty="0" smtClean="0"/>
              <a:t>                      = {q1} ∪ {q1, q2}  </a:t>
            </a:r>
          </a:p>
          <a:p>
            <a:r>
              <a:rPr lang="en-US" dirty="0" smtClean="0"/>
              <a:t>                      = {q1, q2}  </a:t>
            </a:r>
          </a:p>
          <a:p>
            <a:r>
              <a:rPr lang="en-US" dirty="0" smtClean="0"/>
              <a:t>                      = [q1, q2]  </a:t>
            </a:r>
          </a:p>
          <a:p>
            <a:endParaRPr lang="en-US" dirty="0"/>
          </a:p>
        </p:txBody>
      </p:sp>
    </p:spTree>
    <p:extLst>
      <p:ext uri="{BB962C8B-B14F-4D97-AF65-F5344CB8AC3E}">
        <p14:creationId xmlns:p14="http://schemas.microsoft.com/office/powerpoint/2010/main" val="99201244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smtClean="0"/>
              <a:t>The </a:t>
            </a:r>
            <a:r>
              <a:rPr lang="en-US" sz="3200" dirty="0"/>
              <a:t>state [q1, q2] is the final state as well because it contains a final state q2. The transition table for the constructed DFA will be:</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362200"/>
            <a:ext cx="7894638"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631484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707695"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850187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smtClean="0"/>
              <a:t>Example </a:t>
            </a:r>
            <a:r>
              <a:rPr lang="en-US" dirty="0"/>
              <a:t>2:</a:t>
            </a:r>
            <a:br>
              <a:rPr lang="en-US" dirty="0"/>
            </a:br>
            <a:r>
              <a:rPr lang="en-US" dirty="0"/>
              <a:t>Convert the given NFA to DFA.</a:t>
            </a:r>
            <a:br>
              <a:rPr lang="en-US" dirty="0"/>
            </a:br>
            <a:endParaRPr lang="en-US"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133600"/>
            <a:ext cx="8009843" cy="275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356036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8382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837720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81000"/>
            <a:ext cx="8686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494634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195" y="1066800"/>
            <a:ext cx="7543273"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801663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954" y="914401"/>
            <a:ext cx="6798846"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929122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b="1" dirty="0" smtClean="0"/>
              <a:t>EXAMPLE 3: </a:t>
            </a:r>
            <a:r>
              <a:rPr lang="en-US" sz="3200" dirty="0"/>
              <a:t>Draw an NFA that accepts all the strings ending with “1” over Σ {0,1} and convert this NFA to its corresponding DFA.</a:t>
            </a:r>
            <a:endParaRPr lang="en-US" sz="3200" b="1" dirty="0"/>
          </a:p>
        </p:txBody>
      </p:sp>
      <p:sp>
        <p:nvSpPr>
          <p:cNvPr id="3" name="Content Placeholder 2"/>
          <p:cNvSpPr>
            <a:spLocks noGrp="1"/>
          </p:cNvSpPr>
          <p:nvPr>
            <p:ph idx="1"/>
          </p:nvPr>
        </p:nvSpPr>
        <p:spPr>
          <a:xfrm>
            <a:off x="304800" y="2057400"/>
            <a:ext cx="8229600" cy="4525963"/>
          </a:xfrm>
        </p:spPr>
        <p:txBody>
          <a:bodyPr/>
          <a:lstStyle/>
          <a:p>
            <a:pPr marL="0" indent="0">
              <a:buNone/>
            </a:pPr>
            <a:r>
              <a:rPr lang="en-US" b="1" u="sng" dirty="0" smtClean="0"/>
              <a:t>SOL: </a:t>
            </a:r>
          </a:p>
          <a:p>
            <a:pPr marL="0" indent="0">
              <a:buNone/>
            </a:pPr>
            <a:r>
              <a:rPr lang="en-US" b="1" u="sng" dirty="0" smtClean="0"/>
              <a:t>Step </a:t>
            </a:r>
            <a:r>
              <a:rPr lang="en-US" b="1" u="sng" dirty="0"/>
              <a:t>01: Draw NFA Graph</a:t>
            </a:r>
            <a:endParaRPr lang="en-US" u="sng" dirty="0"/>
          </a:p>
          <a:p>
            <a:pPr marL="0" indent="0">
              <a:buNone/>
            </a:pPr>
            <a:r>
              <a:rPr lang="en-US" dirty="0"/>
              <a:t>The following is the NFA graph for conversion into DFA.</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114800"/>
            <a:ext cx="5181600" cy="2274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888794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06562"/>
          </a:xfrm>
        </p:spPr>
        <p:txBody>
          <a:bodyPr>
            <a:noAutofit/>
          </a:bodyPr>
          <a:lstStyle/>
          <a:p>
            <a:r>
              <a:rPr lang="en-US" sz="3600" b="1" u="sng" dirty="0"/>
              <a:t>Step 02: Draw the NFA transition Table.</a:t>
            </a:r>
            <a:r>
              <a:rPr lang="en-US" sz="3600" u="sng" dirty="0"/>
              <a:t/>
            </a:r>
            <a:br>
              <a:rPr lang="en-US" sz="3600" u="sng" dirty="0"/>
            </a:br>
            <a:r>
              <a:rPr lang="en-US" sz="3600" dirty="0"/>
              <a:t>The NFA transition table of the above NFA is given below</a:t>
            </a:r>
            <a:br>
              <a:rPr lang="en-US" sz="3600" dirty="0"/>
            </a:br>
            <a:endParaRPr lang="en-US" sz="36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2057400"/>
            <a:ext cx="5715000" cy="27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09600" y="5181600"/>
            <a:ext cx="7924800" cy="954107"/>
          </a:xfrm>
          <a:prstGeom prst="rect">
            <a:avLst/>
          </a:prstGeom>
        </p:spPr>
        <p:txBody>
          <a:bodyPr wrap="square">
            <a:spAutoFit/>
          </a:bodyPr>
          <a:lstStyle/>
          <a:p>
            <a:r>
              <a:rPr lang="en-US" sz="2800" b="1" dirty="0"/>
              <a:t>Don’t confuse:</a:t>
            </a:r>
            <a:r>
              <a:rPr lang="en-US" sz="2800" dirty="0"/>
              <a:t> dash (“-“) symbol represents the empty symbol (ϕ). </a:t>
            </a:r>
          </a:p>
        </p:txBody>
      </p:sp>
    </p:spTree>
    <p:extLst>
      <p:ext uri="{BB962C8B-B14F-4D97-AF65-F5344CB8AC3E}">
        <p14:creationId xmlns:p14="http://schemas.microsoft.com/office/powerpoint/2010/main" val="126151480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Step 03: Conversion of NFA to DFA Transition Table</a:t>
            </a:r>
            <a:r>
              <a:rPr lang="en-US" u="sng" dirty="0"/>
              <a:t/>
            </a:r>
            <a:br>
              <a:rPr lang="en-US" u="sng" dirty="0"/>
            </a:br>
            <a:endParaRPr 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640" y="1447800"/>
            <a:ext cx="8936651" cy="2510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0" y="4419600"/>
            <a:ext cx="4463017" cy="584775"/>
          </a:xfrm>
          <a:prstGeom prst="rect">
            <a:avLst/>
          </a:prstGeom>
        </p:spPr>
        <p:txBody>
          <a:bodyPr wrap="none">
            <a:spAutoFit/>
          </a:bodyPr>
          <a:lstStyle/>
          <a:p>
            <a:r>
              <a:rPr lang="en-US" sz="3200" i="1" dirty="0"/>
              <a:t>DFA Transition Table Start</a:t>
            </a:r>
            <a:endParaRPr lang="en-US" sz="3200" dirty="0"/>
          </a:p>
        </p:txBody>
      </p:sp>
    </p:spTree>
    <p:extLst>
      <p:ext uri="{BB962C8B-B14F-4D97-AF65-F5344CB8AC3E}">
        <p14:creationId xmlns:p14="http://schemas.microsoft.com/office/powerpoint/2010/main" val="426801293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a:t>Transition calculations for state “q0q1”</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u="sng" dirty="0"/>
              <a:t>For input “0”</a:t>
            </a:r>
            <a:endParaRPr lang="en-US" dirty="0"/>
          </a:p>
          <a:p>
            <a:pPr marL="0" indent="0">
              <a:buNone/>
            </a:pPr>
            <a:r>
              <a:rPr lang="el-GR" dirty="0"/>
              <a:t>δ([</a:t>
            </a:r>
            <a:r>
              <a:rPr lang="en-US" dirty="0"/>
              <a:t>q0q1], 0) = </a:t>
            </a:r>
            <a:r>
              <a:rPr lang="el-GR" dirty="0"/>
              <a:t>δ(</a:t>
            </a:r>
            <a:r>
              <a:rPr lang="en-US" dirty="0"/>
              <a:t>q0, 0) ∪ </a:t>
            </a:r>
            <a:r>
              <a:rPr lang="el-GR" dirty="0"/>
              <a:t>δ(</a:t>
            </a:r>
            <a:r>
              <a:rPr lang="en-US" dirty="0"/>
              <a:t>q1, 0)  </a:t>
            </a:r>
          </a:p>
          <a:p>
            <a:pPr marL="0" indent="0">
              <a:buNone/>
            </a:pPr>
            <a:r>
              <a:rPr lang="en-US" dirty="0"/>
              <a:t>                      = {q0} ∪ {</a:t>
            </a:r>
            <a:r>
              <a:rPr lang="el-GR" dirty="0"/>
              <a:t>ϕ}  </a:t>
            </a:r>
          </a:p>
          <a:p>
            <a:pPr marL="0" indent="0">
              <a:buNone/>
            </a:pPr>
            <a:r>
              <a:rPr lang="el-GR" dirty="0"/>
              <a:t>                  </a:t>
            </a:r>
            <a:r>
              <a:rPr lang="en-US" dirty="0" smtClean="0"/>
              <a:t> </a:t>
            </a:r>
            <a:r>
              <a:rPr lang="el-GR" dirty="0"/>
              <a:t>   = {</a:t>
            </a:r>
            <a:r>
              <a:rPr lang="en-US" b="1" dirty="0"/>
              <a:t>q0</a:t>
            </a:r>
            <a:r>
              <a:rPr lang="en-US" dirty="0"/>
              <a:t>}</a:t>
            </a:r>
          </a:p>
          <a:p>
            <a:pPr marL="0" indent="0">
              <a:buNone/>
            </a:pPr>
            <a:r>
              <a:rPr lang="en-US" u="sng" dirty="0"/>
              <a:t>For input “1”</a:t>
            </a:r>
            <a:endParaRPr lang="en-US" dirty="0"/>
          </a:p>
          <a:p>
            <a:pPr marL="0" indent="0">
              <a:buNone/>
            </a:pPr>
            <a:r>
              <a:rPr lang="el-GR" dirty="0"/>
              <a:t>δ([</a:t>
            </a:r>
            <a:r>
              <a:rPr lang="en-US" dirty="0"/>
              <a:t>q0q1], 1) = </a:t>
            </a:r>
            <a:r>
              <a:rPr lang="el-GR" dirty="0"/>
              <a:t>δ(</a:t>
            </a:r>
            <a:r>
              <a:rPr lang="en-US" dirty="0"/>
              <a:t>q0, 1) ∪ </a:t>
            </a:r>
            <a:r>
              <a:rPr lang="el-GR" dirty="0"/>
              <a:t>δ(</a:t>
            </a:r>
            <a:r>
              <a:rPr lang="en-US" dirty="0"/>
              <a:t>q1, 1)  </a:t>
            </a:r>
          </a:p>
          <a:p>
            <a:pPr marL="0" indent="0">
              <a:buNone/>
            </a:pPr>
            <a:r>
              <a:rPr lang="en-US" dirty="0"/>
              <a:t>                      = {q0q1} ∪ {</a:t>
            </a:r>
            <a:r>
              <a:rPr lang="el-GR" dirty="0"/>
              <a:t>ϕ}  </a:t>
            </a:r>
          </a:p>
          <a:p>
            <a:pPr marL="0" indent="0">
              <a:buNone/>
            </a:pPr>
            <a:r>
              <a:rPr lang="el-GR" dirty="0"/>
              <a:t>                      = {</a:t>
            </a:r>
            <a:r>
              <a:rPr lang="en-US" b="1" dirty="0"/>
              <a:t>q0q1</a:t>
            </a:r>
            <a:r>
              <a:rPr lang="en-US" dirty="0"/>
              <a:t>}</a:t>
            </a:r>
          </a:p>
          <a:p>
            <a:endParaRPr lang="en-US" dirty="0"/>
          </a:p>
        </p:txBody>
      </p:sp>
    </p:spTree>
    <p:extLst>
      <p:ext uri="{BB962C8B-B14F-4D97-AF65-F5344CB8AC3E}">
        <p14:creationId xmlns:p14="http://schemas.microsoft.com/office/powerpoint/2010/main" val="108105000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609600"/>
            <a:ext cx="6432430" cy="2710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532066" y="3403661"/>
            <a:ext cx="2714782" cy="461665"/>
          </a:xfrm>
          <a:prstGeom prst="rect">
            <a:avLst/>
          </a:prstGeom>
        </p:spPr>
        <p:txBody>
          <a:bodyPr wrap="none">
            <a:spAutoFit/>
          </a:bodyPr>
          <a:lstStyle/>
          <a:p>
            <a:r>
              <a:rPr lang="en-US" sz="2400" i="1" dirty="0"/>
              <a:t>DFA Transition Table</a:t>
            </a:r>
            <a:endParaRPr lang="en-US" sz="2400" dirty="0"/>
          </a:p>
        </p:txBody>
      </p:sp>
      <p:sp>
        <p:nvSpPr>
          <p:cNvPr id="5" name="Rectangle 4"/>
          <p:cNvSpPr/>
          <p:nvPr/>
        </p:nvSpPr>
        <p:spPr>
          <a:xfrm>
            <a:off x="457200" y="4038600"/>
            <a:ext cx="8305800" cy="1815882"/>
          </a:xfrm>
          <a:prstGeom prst="rect">
            <a:avLst/>
          </a:prstGeom>
        </p:spPr>
        <p:txBody>
          <a:bodyPr wrap="square">
            <a:spAutoFit/>
          </a:bodyPr>
          <a:lstStyle/>
          <a:p>
            <a:r>
              <a:rPr lang="en-US" sz="2800" dirty="0"/>
              <a:t>State “</a:t>
            </a:r>
            <a:r>
              <a:rPr lang="en-US" sz="2800" b="1" dirty="0"/>
              <a:t>q1</a:t>
            </a:r>
            <a:r>
              <a:rPr lang="en-US" sz="2800" dirty="0"/>
              <a:t>” was the final state in the NFA Table. That’s why all those states will be the final states where “q1” is present in the DFA state column. Simply mark with “*” to represent the final state.</a:t>
            </a:r>
          </a:p>
        </p:txBody>
      </p:sp>
    </p:spTree>
    <p:extLst>
      <p:ext uri="{BB962C8B-B14F-4D97-AF65-F5344CB8AC3E}">
        <p14:creationId xmlns:p14="http://schemas.microsoft.com/office/powerpoint/2010/main" val="375896289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143000"/>
            <a:ext cx="7217471"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745099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Step 4: Draw DFA</a:t>
            </a:r>
            <a:r>
              <a:rPr lang="en-US" u="sng" dirty="0"/>
              <a:t/>
            </a:r>
            <a:br>
              <a:rPr lang="en-US" u="sng" dirty="0"/>
            </a:br>
            <a:endParaRPr lang="en-US"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1219200"/>
            <a:ext cx="6343650" cy="4048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54255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533400" y="114805"/>
            <a:ext cx="8610600" cy="723395"/>
          </a:xfrm>
        </p:spPr>
        <p:txBody>
          <a:bodyPr>
            <a:normAutofit fontScale="90000"/>
          </a:bodyPr>
          <a:lstStyle/>
          <a:p>
            <a:pPr algn="l"/>
            <a:r>
              <a:rPr lang="en-US" dirty="0" smtClean="0"/>
              <a:t>What is an </a:t>
            </a:r>
            <a:r>
              <a:rPr lang="en-US" b="1" dirty="0"/>
              <a:t>Epsilon NFA  (∈-</a:t>
            </a:r>
            <a:r>
              <a:rPr lang="en-US" b="1" dirty="0" smtClean="0"/>
              <a:t>NFA) </a:t>
            </a:r>
            <a:r>
              <a:rPr lang="en-US" dirty="0" smtClean="0"/>
              <a:t>NFA</a:t>
            </a:r>
            <a:r>
              <a:rPr lang="el-GR" baseline="-25000" dirty="0" smtClean="0"/>
              <a:t>ε</a:t>
            </a:r>
            <a:endParaRPr lang="el-GR" dirty="0" smtClean="0"/>
          </a:p>
        </p:txBody>
      </p:sp>
      <p:sp>
        <p:nvSpPr>
          <p:cNvPr id="7171" name="Content Placeholder 2"/>
          <p:cNvSpPr>
            <a:spLocks noGrp="1"/>
          </p:cNvSpPr>
          <p:nvPr>
            <p:ph idx="1"/>
          </p:nvPr>
        </p:nvSpPr>
        <p:spPr>
          <a:xfrm>
            <a:off x="533400" y="838200"/>
            <a:ext cx="8229600" cy="5308601"/>
          </a:xfrm>
        </p:spPr>
        <p:txBody>
          <a:bodyPr>
            <a:normAutofit fontScale="92500" lnSpcReduction="10000"/>
          </a:bodyPr>
          <a:lstStyle/>
          <a:p>
            <a:pPr eaLnBrk="1" hangingPunct="1"/>
            <a:r>
              <a:rPr lang="en-US" dirty="0" smtClean="0"/>
              <a:t>An NFA</a:t>
            </a:r>
            <a:r>
              <a:rPr lang="el-GR" baseline="-25000" dirty="0" smtClean="0"/>
              <a:t>ε</a:t>
            </a:r>
            <a:r>
              <a:rPr lang="en-US" dirty="0" smtClean="0"/>
              <a:t> is an NFA that might have </a:t>
            </a:r>
            <a:r>
              <a:rPr lang="el-GR" dirty="0" smtClean="0"/>
              <a:t>ε</a:t>
            </a:r>
            <a:r>
              <a:rPr lang="en-US" dirty="0" smtClean="0"/>
              <a:t>-moves. In an </a:t>
            </a:r>
            <a:r>
              <a:rPr lang="el-GR" dirty="0" smtClean="0"/>
              <a:t>ε-</a:t>
            </a:r>
            <a:r>
              <a:rPr lang="en-US" dirty="0" smtClean="0"/>
              <a:t>move we can transport from one state to the other without having any symbols.</a:t>
            </a:r>
          </a:p>
          <a:p>
            <a:pPr eaLnBrk="1" hangingPunct="1"/>
            <a:endParaRPr lang="en-US" dirty="0" smtClean="0"/>
          </a:p>
          <a:p>
            <a:pPr eaLnBrk="1" hangingPunct="1">
              <a:buFont typeface="Arial" charset="0"/>
              <a:buNone/>
            </a:pPr>
            <a:endParaRPr lang="el-GR" dirty="0" smtClean="0"/>
          </a:p>
          <a:p>
            <a:pPr eaLnBrk="1" hangingPunct="1"/>
            <a:endParaRPr lang="en-US" dirty="0" smtClean="0"/>
          </a:p>
          <a:p>
            <a:pPr eaLnBrk="1" hangingPunct="1"/>
            <a:endParaRPr lang="en-US" dirty="0" smtClean="0"/>
          </a:p>
          <a:p>
            <a:pPr eaLnBrk="1" hangingPunct="1"/>
            <a:r>
              <a:rPr lang="en-US" dirty="0" smtClean="0"/>
              <a:t>An NFA is by definition an NFA</a:t>
            </a:r>
            <a:r>
              <a:rPr lang="el-GR" baseline="-25000" dirty="0" smtClean="0"/>
              <a:t>ε</a:t>
            </a:r>
            <a:r>
              <a:rPr lang="en-US" dirty="0" smtClean="0"/>
              <a:t> (but with no </a:t>
            </a:r>
            <a:r>
              <a:rPr lang="el-GR" dirty="0" smtClean="0"/>
              <a:t>ε-</a:t>
            </a:r>
            <a:r>
              <a:rPr lang="en-US" dirty="0" smtClean="0"/>
              <a:t>moves)</a:t>
            </a:r>
            <a:r>
              <a:rPr lang="el-GR" dirty="0" smtClean="0"/>
              <a:t>.</a:t>
            </a:r>
            <a:endParaRPr lang="en-US" dirty="0" smtClean="0"/>
          </a:p>
          <a:p>
            <a:r>
              <a:rPr lang="en-US" dirty="0"/>
              <a:t> Epsilon NFA (∈-NFA) is also called a null NFA or an NFA lambda.</a:t>
            </a:r>
            <a:endParaRPr lang="el-GR" dirty="0" smtClean="0"/>
          </a:p>
        </p:txBody>
      </p:sp>
      <p:sp>
        <p:nvSpPr>
          <p:cNvPr id="2" name="AutoShape 2" descr="Automata Conversion from NFA with null ..."/>
          <p:cNvSpPr>
            <a:spLocks noChangeAspect="1" noChangeArrowheads="1"/>
          </p:cNvSpPr>
          <p:nvPr/>
        </p:nvSpPr>
        <p:spPr bwMode="auto">
          <a:xfrm>
            <a:off x="73308" y="-72232"/>
            <a:ext cx="143623" cy="152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44175" tIns="22087" rIns="44175" bIns="22087" numCol="1" anchor="t" anchorCtr="0" compatLnSpc="1">
            <a:prstTxWarp prst="textNoShape">
              <a:avLst/>
            </a:prstTxWarp>
          </a:bodyPr>
          <a:lstStyle/>
          <a:p>
            <a:endParaRPr lang="en-US"/>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446" y="2209800"/>
            <a:ext cx="4728340"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5160954"/>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t>
            </a:r>
            <a:r>
              <a:rPr lang="en-US" b="1" dirty="0" smtClean="0"/>
              <a:t>Epsilon </a:t>
            </a:r>
            <a:r>
              <a:rPr lang="en-US" b="1" dirty="0"/>
              <a:t>(ε) - closure</a:t>
            </a:r>
            <a:r>
              <a:rPr lang="en-US" dirty="0"/>
              <a:t/>
            </a:r>
            <a:br>
              <a:rPr lang="en-US" dirty="0"/>
            </a:br>
            <a:r>
              <a:rPr lang="en-US" dirty="0"/>
              <a:t>Epsilon closure for a given state X is a set of states which can be reached from the states X with only (null) or E moves including the state X itself.</a:t>
            </a:r>
            <a:br>
              <a:rPr lang="en-US" dirty="0"/>
            </a:br>
            <a:r>
              <a:rPr lang="en-US" dirty="0"/>
              <a:t>In other words, £-closure for a state can be obtained by union operation of the £-closure of the states which can be reached from X with a single E move in a recursive manner.</a:t>
            </a:r>
            <a:br>
              <a:rPr lang="en-US" dirty="0"/>
            </a:br>
            <a:endParaRPr lang="en-US" dirty="0"/>
          </a:p>
        </p:txBody>
      </p:sp>
    </p:spTree>
    <p:extLst>
      <p:ext uri="{BB962C8B-B14F-4D97-AF65-F5344CB8AC3E}">
        <p14:creationId xmlns:p14="http://schemas.microsoft.com/office/powerpoint/2010/main" val="3966620569"/>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dirty="0" smtClean="0"/>
              <a:t/>
            </a:r>
            <a:br>
              <a:rPr lang="en-US" sz="2800" dirty="0" smtClean="0"/>
            </a:br>
            <a:r>
              <a:rPr lang="en-US" sz="2800" dirty="0"/>
              <a:t/>
            </a:r>
            <a:br>
              <a:rPr lang="en-US" sz="2800" dirty="0"/>
            </a:br>
            <a:r>
              <a:rPr lang="en-US" sz="2400" dirty="0" smtClean="0"/>
              <a:t>Example</a:t>
            </a:r>
            <a:r>
              <a:rPr lang="en-US" sz="2800" dirty="0"/>
              <a:t/>
            </a:r>
            <a:br>
              <a:rPr lang="en-US" sz="2800" dirty="0"/>
            </a:br>
            <a:r>
              <a:rPr lang="en-US" sz="2800" dirty="0"/>
              <a:t>Consider the following figure of NFA with ε move −</a:t>
            </a:r>
            <a:br>
              <a:rPr lang="en-US" sz="2800" dirty="0"/>
            </a:br>
            <a:r>
              <a:rPr lang="en-US" sz="2800" dirty="0" smtClean="0"/>
              <a:t/>
            </a:r>
            <a:br>
              <a:rPr lang="en-US" sz="2800" dirty="0" smtClean="0"/>
            </a:br>
            <a:endParaRPr lang="en-US" sz="2800" dirty="0"/>
          </a:p>
        </p:txBody>
      </p:sp>
      <p:pic>
        <p:nvPicPr>
          <p:cNvPr id="1026" name="Picture 2" descr="https://www.tutorialspoint.com/assets/questions/media/53111/epsilon_transi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02080"/>
            <a:ext cx="7924800" cy="256032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691" y="3962401"/>
            <a:ext cx="794385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2447260"/>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764" y="2819400"/>
            <a:ext cx="7751618" cy="3200400"/>
          </a:xfrm>
        </p:spPr>
        <p:txBody>
          <a:bodyPr/>
          <a:lstStyle/>
          <a:p>
            <a:r>
              <a:rPr lang="en-US" dirty="0" smtClean="0"/>
              <a:t>For </a:t>
            </a:r>
            <a:r>
              <a:rPr lang="en-US" dirty="0"/>
              <a:t>the above example, ε closure are as follows −</a:t>
            </a:r>
          </a:p>
          <a:p>
            <a:r>
              <a:rPr lang="en-US" dirty="0"/>
              <a:t>E closure( A) : {A, B,C}</a:t>
            </a:r>
          </a:p>
          <a:p>
            <a:r>
              <a:rPr lang="en-US" dirty="0"/>
              <a:t>E closure( B) :{B,C}</a:t>
            </a:r>
          </a:p>
          <a:p>
            <a:r>
              <a:rPr lang="en-US" dirty="0"/>
              <a:t>E closure( C) : {C}</a:t>
            </a:r>
          </a:p>
          <a:p>
            <a:endParaRPr lang="en-US" dirty="0"/>
          </a:p>
        </p:txBody>
      </p:sp>
      <p:pic>
        <p:nvPicPr>
          <p:cNvPr id="4" name="Picture 2" descr="https://www.tutorialspoint.com/assets/questions/media/53111/epsilon_transi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
            <a:ext cx="7924800" cy="2560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434014"/>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792162"/>
          </a:xfrm>
        </p:spPr>
        <p:txBody>
          <a:bodyPr>
            <a:noAutofit/>
          </a:bodyPr>
          <a:lstStyle/>
          <a:p>
            <a:r>
              <a:rPr lang="it-IT" sz="3600" b="1" dirty="0"/>
              <a:t>Epsilon NFA To NFA Conversion Algorithm</a:t>
            </a:r>
            <a:r>
              <a:rPr lang="it-IT" sz="3600" dirty="0"/>
              <a:t/>
            </a:r>
            <a:br>
              <a:rPr lang="it-IT" sz="3600" dirty="0"/>
            </a:br>
            <a:endParaRPr lang="en-US" sz="3600" dirty="0"/>
          </a:p>
        </p:txBody>
      </p:sp>
      <p:sp>
        <p:nvSpPr>
          <p:cNvPr id="3" name="Content Placeholder 2"/>
          <p:cNvSpPr>
            <a:spLocks noGrp="1"/>
          </p:cNvSpPr>
          <p:nvPr>
            <p:ph idx="1"/>
          </p:nvPr>
        </p:nvSpPr>
        <p:spPr>
          <a:xfrm>
            <a:off x="457200" y="914400"/>
            <a:ext cx="8229600" cy="5211763"/>
          </a:xfrm>
        </p:spPr>
        <p:txBody>
          <a:bodyPr/>
          <a:lstStyle/>
          <a:p>
            <a:r>
              <a:rPr lang="en-US" dirty="0"/>
              <a:t>If the </a:t>
            </a:r>
            <a:r>
              <a:rPr lang="en-US" b="1" dirty="0"/>
              <a:t>epsilon exists</a:t>
            </a:r>
            <a:r>
              <a:rPr lang="en-US" dirty="0"/>
              <a:t> between any two states in an automata, then the removal of epsilon through some rules is called the elimination of </a:t>
            </a:r>
            <a:r>
              <a:rPr lang="en-US" b="1" dirty="0"/>
              <a:t>epsilon</a:t>
            </a:r>
            <a:r>
              <a:rPr lang="en-US" dirty="0"/>
              <a:t> from the </a:t>
            </a:r>
            <a:r>
              <a:rPr lang="en-US" dirty="0" smtClean="0"/>
              <a:t>epsilon-NFA.</a:t>
            </a:r>
          </a:p>
          <a:p>
            <a:r>
              <a:rPr lang="en-US" dirty="0"/>
              <a:t>Suppose there are two vertices / states, V1 and V2; the epsilon between them is below.</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267200"/>
            <a:ext cx="6094268"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4314873"/>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Autofit/>
          </a:bodyPr>
          <a:lstStyle/>
          <a:p>
            <a:pPr marL="0" indent="0">
              <a:buNone/>
            </a:pPr>
            <a:r>
              <a:rPr lang="en-US" sz="2400" dirty="0"/>
              <a:t>Look at the following steps for the elimination of epsilon from epsilon NFA</a:t>
            </a:r>
          </a:p>
          <a:p>
            <a:pPr fontAlgn="base">
              <a:lnSpc>
                <a:spcPct val="110000"/>
              </a:lnSpc>
            </a:pPr>
            <a:r>
              <a:rPr lang="en-US" sz="2800" dirty="0"/>
              <a:t>Step 1: First, find the epsilon location. Label the vertices as V1 (start of epsilon edge) and V2 (end of edge) where epsilon exists.</a:t>
            </a:r>
          </a:p>
          <a:p>
            <a:pPr fontAlgn="base">
              <a:lnSpc>
                <a:spcPct val="110000"/>
              </a:lnSpc>
            </a:pPr>
            <a:r>
              <a:rPr lang="en-US" sz="2800" dirty="0"/>
              <a:t>Step 2: Find all edges starting from V2. Simply, duplicate V2 edges to V1 with the same labels. Now, remove the epsilon</a:t>
            </a:r>
          </a:p>
          <a:p>
            <a:pPr fontAlgn="base">
              <a:lnSpc>
                <a:spcPct val="110000"/>
              </a:lnSpc>
            </a:pPr>
            <a:r>
              <a:rPr lang="en-US" sz="2800" dirty="0"/>
              <a:t>Step 3: If V1 is the initial state, make V2 initial. If V2 is the final state, make V1 final. Remove all unreachable states (if they exist).</a:t>
            </a:r>
          </a:p>
          <a:p>
            <a:pPr fontAlgn="base">
              <a:lnSpc>
                <a:spcPct val="110000"/>
              </a:lnSpc>
            </a:pPr>
            <a:r>
              <a:rPr lang="en-US" sz="2800" dirty="0"/>
              <a:t>Step 4: Check if there are any more epsilons. Repeat steps 1 to 3 until no epsilons remain</a:t>
            </a:r>
            <a:r>
              <a:rPr lang="en-US" sz="2400" dirty="0"/>
              <a:t>.</a:t>
            </a:r>
          </a:p>
          <a:p>
            <a:endParaRPr lang="en-US" sz="2400" dirty="0"/>
          </a:p>
        </p:txBody>
      </p:sp>
    </p:spTree>
    <p:extLst>
      <p:ext uri="{BB962C8B-B14F-4D97-AF65-F5344CB8AC3E}">
        <p14:creationId xmlns:p14="http://schemas.microsoft.com/office/powerpoint/2010/main" val="1594134053"/>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3600" b="1" dirty="0"/>
              <a:t>Example 01: Convert Epsilon NFA to NFA </a:t>
            </a:r>
            <a:r>
              <a:rPr lang="en-US" sz="3600" dirty="0"/>
              <a:t/>
            </a:r>
            <a:br>
              <a:rPr lang="en-US" sz="3600" dirty="0"/>
            </a:br>
            <a:endParaRPr lang="en-US" sz="36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838200"/>
            <a:ext cx="5770864" cy="2991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3400" y="4343400"/>
            <a:ext cx="8153400" cy="2062103"/>
          </a:xfrm>
          <a:prstGeom prst="rect">
            <a:avLst/>
          </a:prstGeom>
        </p:spPr>
        <p:txBody>
          <a:bodyPr wrap="square">
            <a:spAutoFit/>
          </a:bodyPr>
          <a:lstStyle/>
          <a:p>
            <a:r>
              <a:rPr lang="en-US" sz="3200" b="1" u="sng" dirty="0"/>
              <a:t>Step 01: Find Epsilon Location</a:t>
            </a:r>
            <a:endParaRPr lang="en-US" sz="3200" u="sng" dirty="0"/>
          </a:p>
          <a:p>
            <a:r>
              <a:rPr lang="en-US" sz="3200" dirty="0"/>
              <a:t>Epsilon exists between q0 and q2. So, q0  becomes V1 and q2 becomes V2.  Now apply the steps of epsilon removal.</a:t>
            </a:r>
          </a:p>
        </p:txBody>
      </p:sp>
    </p:spTree>
    <p:extLst>
      <p:ext uri="{BB962C8B-B14F-4D97-AF65-F5344CB8AC3E}">
        <p14:creationId xmlns:p14="http://schemas.microsoft.com/office/powerpoint/2010/main" val="610683332"/>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noAutofit/>
          </a:bodyPr>
          <a:lstStyle/>
          <a:p>
            <a:r>
              <a:rPr lang="en-US" sz="3600" b="1" u="sng" dirty="0"/>
              <a:t>Step 02:  Find starting edges from V2, duplicate it to V1, Remove Epsilon</a:t>
            </a:r>
            <a:r>
              <a:rPr lang="en-US" sz="3600" u="sng" dirty="0"/>
              <a:t/>
            </a:r>
            <a:br>
              <a:rPr lang="en-US" sz="3600" u="sng" dirty="0"/>
            </a:br>
            <a:endParaRPr lang="en-US" sz="3600" dirty="0"/>
          </a:p>
        </p:txBody>
      </p:sp>
      <p:sp>
        <p:nvSpPr>
          <p:cNvPr id="3" name="Content Placeholder 2"/>
          <p:cNvSpPr>
            <a:spLocks noGrp="1"/>
          </p:cNvSpPr>
          <p:nvPr>
            <p:ph idx="1"/>
          </p:nvPr>
        </p:nvSpPr>
        <p:spPr>
          <a:xfrm>
            <a:off x="457200" y="1219200"/>
            <a:ext cx="8229600" cy="4906963"/>
          </a:xfrm>
        </p:spPr>
        <p:txBody>
          <a:bodyPr/>
          <a:lstStyle/>
          <a:p>
            <a:pPr marL="0" indent="0">
              <a:buNone/>
            </a:pPr>
            <a:r>
              <a:rPr lang="en-US" dirty="0"/>
              <a:t>Two edges are starting from V2 (q2)</a:t>
            </a:r>
          </a:p>
          <a:p>
            <a:pPr fontAlgn="base"/>
            <a:r>
              <a:rPr lang="en-US" dirty="0"/>
              <a:t>First Edge: Goes to q3 for input “0”.</a:t>
            </a:r>
          </a:p>
          <a:p>
            <a:pPr fontAlgn="base"/>
            <a:r>
              <a:rPr lang="en-US" dirty="0"/>
              <a:t>Second Edge: Goes to q4 for input “1”.</a:t>
            </a:r>
          </a:p>
          <a:p>
            <a:pPr marL="0" indent="0">
              <a:buNone/>
            </a:pPr>
            <a:r>
              <a:rPr lang="en-US" dirty="0"/>
              <a:t>Simply, duplicate these edges (starting from V2) to V1 and remove the epsilon edge.</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962400"/>
            <a:ext cx="7156743" cy="2712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6868951"/>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u="sng" dirty="0"/>
              <a:t>Step 03: Check Initial, Final, and Unreachable State Conditions</a:t>
            </a:r>
            <a:r>
              <a:rPr lang="en-US" sz="3600" u="sng" dirty="0"/>
              <a:t/>
            </a:r>
            <a:br>
              <a:rPr lang="en-US" sz="3600" u="sng" dirty="0"/>
            </a:br>
            <a:endParaRPr lang="en-US" sz="3600" dirty="0"/>
          </a:p>
        </p:txBody>
      </p:sp>
      <p:sp>
        <p:nvSpPr>
          <p:cNvPr id="3" name="Content Placeholder 2"/>
          <p:cNvSpPr>
            <a:spLocks noGrp="1"/>
          </p:cNvSpPr>
          <p:nvPr>
            <p:ph idx="1"/>
          </p:nvPr>
        </p:nvSpPr>
        <p:spPr>
          <a:xfrm>
            <a:off x="457200" y="1143000"/>
            <a:ext cx="8229600" cy="4983163"/>
          </a:xfrm>
        </p:spPr>
        <p:txBody>
          <a:bodyPr/>
          <a:lstStyle/>
          <a:p>
            <a:r>
              <a:rPr lang="en-US" b="1" dirty="0"/>
              <a:t>Initial state condition:</a:t>
            </a:r>
            <a:r>
              <a:rPr lang="en-US" dirty="0"/>
              <a:t> As V1 (q0) is the initial state. So V2(q2) becomes initial as well.</a:t>
            </a:r>
          </a:p>
          <a:p>
            <a:endParaRPr lang="en-US" dirty="0" smtClean="0"/>
          </a:p>
          <a:p>
            <a:endParaRPr lang="en-US" dirty="0"/>
          </a:p>
          <a:p>
            <a:endParaRPr lang="en-US" dirty="0" smtClean="0"/>
          </a:p>
          <a:p>
            <a:endParaRPr lang="en-US" dirty="0"/>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655" y="2286000"/>
            <a:ext cx="7620000" cy="3359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9787119"/>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2100690"/>
            <a:ext cx="6239733"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3400" y="381000"/>
            <a:ext cx="8229600" cy="1754326"/>
          </a:xfrm>
          <a:prstGeom prst="rect">
            <a:avLst/>
          </a:prstGeom>
        </p:spPr>
        <p:txBody>
          <a:bodyPr wrap="square">
            <a:spAutoFit/>
          </a:bodyPr>
          <a:lstStyle/>
          <a:p>
            <a:r>
              <a:rPr lang="en-US" sz="3600" b="1" dirty="0"/>
              <a:t>Final state condition:</a:t>
            </a:r>
            <a:r>
              <a:rPr lang="en-US" sz="3600" dirty="0"/>
              <a:t> As V2 (q2) is a final state. So V1(q0) also becomes the final state.</a:t>
            </a:r>
          </a:p>
        </p:txBody>
      </p:sp>
      <p:sp>
        <p:nvSpPr>
          <p:cNvPr id="5" name="Rectangle 4"/>
          <p:cNvSpPr/>
          <p:nvPr/>
        </p:nvSpPr>
        <p:spPr>
          <a:xfrm>
            <a:off x="505690" y="4876800"/>
            <a:ext cx="7723909" cy="1569660"/>
          </a:xfrm>
          <a:prstGeom prst="rect">
            <a:avLst/>
          </a:prstGeom>
        </p:spPr>
        <p:txBody>
          <a:bodyPr wrap="square">
            <a:spAutoFit/>
          </a:bodyPr>
          <a:lstStyle/>
          <a:p>
            <a:pPr fontAlgn="base"/>
            <a:r>
              <a:rPr lang="en-US" sz="3200" b="1" dirty="0"/>
              <a:t>Unreachable state condition:</a:t>
            </a:r>
            <a:r>
              <a:rPr lang="en-US" sz="3200" dirty="0"/>
              <a:t> There is no unreachable state. So we cannot remove any state from the above NFA</a:t>
            </a:r>
          </a:p>
        </p:txBody>
      </p:sp>
    </p:spTree>
    <p:extLst>
      <p:ext uri="{BB962C8B-B14F-4D97-AF65-F5344CB8AC3E}">
        <p14:creationId xmlns:p14="http://schemas.microsoft.com/office/powerpoint/2010/main" val="3044695231"/>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Step 04: Check for any more Epsilon</a:t>
            </a:r>
            <a:r>
              <a:rPr lang="en-US" u="sng" dirty="0"/>
              <a:t/>
            </a:r>
            <a:br>
              <a:rPr lang="en-US" u="sng" dirty="0"/>
            </a:b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a:t>Only the single epsilon was given in the example, which had already been removed. So, the final NFA is given below</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895600"/>
            <a:ext cx="5555422" cy="3595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387056"/>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08038"/>
          </a:xfrm>
        </p:spPr>
        <p:txBody>
          <a:bodyPr>
            <a:noAutofit/>
          </a:bodyPr>
          <a:lstStyle/>
          <a:p>
            <a:r>
              <a:rPr lang="en-US" sz="3600" b="1" dirty="0"/>
              <a:t>Example 02: Convert Epsilon NFA to NFA</a:t>
            </a:r>
            <a:r>
              <a:rPr lang="en-US" sz="3600" dirty="0"/>
              <a:t/>
            </a:r>
            <a:br>
              <a:rPr lang="en-US" sz="3600" dirty="0"/>
            </a:br>
            <a:endParaRPr lang="en-US" sz="3600" dirty="0"/>
          </a:p>
        </p:txBody>
      </p:sp>
      <p:pic>
        <p:nvPicPr>
          <p:cNvPr id="7170" name="Picture 2" descr="Elimination Of Epsilon (ε) Examp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990600"/>
            <a:ext cx="8697418" cy="32003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81000" y="4267200"/>
            <a:ext cx="8305800" cy="2308324"/>
          </a:xfrm>
          <a:prstGeom prst="rect">
            <a:avLst/>
          </a:prstGeom>
        </p:spPr>
        <p:txBody>
          <a:bodyPr wrap="square">
            <a:spAutoFit/>
          </a:bodyPr>
          <a:lstStyle/>
          <a:p>
            <a:r>
              <a:rPr lang="en-US" sz="2400" b="1" u="sng" dirty="0"/>
              <a:t>Step 01: Find Epsilon Location</a:t>
            </a:r>
            <a:endParaRPr lang="en-US" sz="2400" u="sng" dirty="0"/>
          </a:p>
          <a:p>
            <a:r>
              <a:rPr lang="en-US" sz="2400" dirty="0"/>
              <a:t>In the above epsilon NFA,  there are two epsilons.</a:t>
            </a:r>
          </a:p>
          <a:p>
            <a:pPr fontAlgn="base"/>
            <a:r>
              <a:rPr lang="en-US" sz="2400" dirty="0"/>
              <a:t>First, Epsilon exists between q0 and q1.</a:t>
            </a:r>
          </a:p>
          <a:p>
            <a:pPr fontAlgn="base"/>
            <a:r>
              <a:rPr lang="en-US" sz="2400" dirty="0"/>
              <a:t>Second </a:t>
            </a:r>
            <a:r>
              <a:rPr lang="en-US" sz="2400" dirty="0" smtClean="0"/>
              <a:t>Epsilon </a:t>
            </a:r>
            <a:r>
              <a:rPr lang="en-US" sz="2400" dirty="0"/>
              <a:t>exists between q1 and q4.</a:t>
            </a:r>
          </a:p>
          <a:p>
            <a:r>
              <a:rPr lang="en-US" sz="2400" dirty="0"/>
              <a:t>First, we remove the second epsilon, because it is far away from the initial state.</a:t>
            </a:r>
          </a:p>
        </p:txBody>
      </p:sp>
    </p:spTree>
    <p:extLst>
      <p:ext uri="{BB962C8B-B14F-4D97-AF65-F5344CB8AC3E}">
        <p14:creationId xmlns:p14="http://schemas.microsoft.com/office/powerpoint/2010/main" val="3669468408"/>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u="sng" dirty="0"/>
              <a:t>Step 02:  Find starting edges from V2, duplicate it to V1, Remove Epsilon</a:t>
            </a:r>
            <a:r>
              <a:rPr lang="en-US" sz="3600" u="sng" dirty="0"/>
              <a:t/>
            </a:r>
            <a:br>
              <a:rPr lang="en-US" sz="3600" u="sng" dirty="0"/>
            </a:br>
            <a:endParaRPr lang="en-US" sz="3600" dirty="0"/>
          </a:p>
        </p:txBody>
      </p:sp>
      <p:sp>
        <p:nvSpPr>
          <p:cNvPr id="3" name="Content Placeholder 2"/>
          <p:cNvSpPr>
            <a:spLocks noGrp="1"/>
          </p:cNvSpPr>
          <p:nvPr>
            <p:ph idx="1"/>
          </p:nvPr>
        </p:nvSpPr>
        <p:spPr>
          <a:xfrm>
            <a:off x="457200" y="1143000"/>
            <a:ext cx="8229600" cy="4983163"/>
          </a:xfrm>
        </p:spPr>
        <p:txBody>
          <a:bodyPr/>
          <a:lstStyle/>
          <a:p>
            <a:r>
              <a:rPr lang="en-US" dirty="0"/>
              <a:t>Only single edges start from V2 (q4) and go to q5 for input “0”. Simply duplicate this edge V1 (q0) and remove the epsilon edge with its label. we get the following</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200400"/>
            <a:ext cx="8334330"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8460511"/>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u="sng" dirty="0"/>
              <a:t>Step 03: Check Initial, Final, and Unreachable State Conditions</a:t>
            </a:r>
            <a:r>
              <a:rPr lang="en-US" sz="3600" u="sng" dirty="0"/>
              <a:t/>
            </a:r>
            <a:br>
              <a:rPr lang="en-US" sz="3600" u="sng" dirty="0"/>
            </a:br>
            <a:endParaRPr lang="en-US" sz="3600" dirty="0"/>
          </a:p>
        </p:txBody>
      </p:sp>
      <p:sp>
        <p:nvSpPr>
          <p:cNvPr id="3" name="Content Placeholder 2"/>
          <p:cNvSpPr>
            <a:spLocks noGrp="1"/>
          </p:cNvSpPr>
          <p:nvPr>
            <p:ph idx="1"/>
          </p:nvPr>
        </p:nvSpPr>
        <p:spPr>
          <a:xfrm>
            <a:off x="457200" y="1219200"/>
            <a:ext cx="8229600" cy="4906963"/>
          </a:xfrm>
        </p:spPr>
        <p:txBody>
          <a:bodyPr>
            <a:normAutofit lnSpcReduction="10000"/>
          </a:bodyPr>
          <a:lstStyle/>
          <a:p>
            <a:pPr fontAlgn="base"/>
            <a:r>
              <a:rPr lang="en-US" b="1" dirty="0"/>
              <a:t>Initial state condition: </a:t>
            </a:r>
            <a:r>
              <a:rPr lang="en-US" dirty="0"/>
              <a:t>As V1 (q1) is not an initial state. So V2(q4) cannot be an initial state; NFA remains unchanged.</a:t>
            </a:r>
          </a:p>
          <a:p>
            <a:pPr fontAlgn="base"/>
            <a:r>
              <a:rPr lang="en-US" b="1" dirty="0"/>
              <a:t>Final state condition: </a:t>
            </a:r>
            <a:r>
              <a:rPr lang="en-US" dirty="0"/>
              <a:t>As V2 (q4) is not a final state. So V1(q1) cannot be a final state. NFA remains unchanged.</a:t>
            </a:r>
          </a:p>
          <a:p>
            <a:pPr fontAlgn="base"/>
            <a:r>
              <a:rPr lang="en-US" b="1" dirty="0"/>
              <a:t>Unreachable state condition: </a:t>
            </a:r>
            <a:r>
              <a:rPr lang="en-US" dirty="0"/>
              <a:t>A constructed NFA has one unreachable state, which is q4. Simply remove this state along with its outgoing edges.</a:t>
            </a:r>
          </a:p>
          <a:p>
            <a:endParaRPr lang="en-US" dirty="0"/>
          </a:p>
        </p:txBody>
      </p:sp>
    </p:spTree>
    <p:extLst>
      <p:ext uri="{BB962C8B-B14F-4D97-AF65-F5344CB8AC3E}">
        <p14:creationId xmlns:p14="http://schemas.microsoft.com/office/powerpoint/2010/main" val="26805266"/>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52400"/>
            <a:ext cx="8093842" cy="333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52400" y="3352800"/>
            <a:ext cx="8763000" cy="3108543"/>
          </a:xfrm>
          <a:prstGeom prst="rect">
            <a:avLst/>
          </a:prstGeom>
        </p:spPr>
        <p:txBody>
          <a:bodyPr wrap="square">
            <a:spAutoFit/>
          </a:bodyPr>
          <a:lstStyle/>
          <a:p>
            <a:r>
              <a:rPr lang="en-US" sz="2800" b="1" u="sng" dirty="0"/>
              <a:t>Step 04: Check for any more Epsilon</a:t>
            </a:r>
            <a:endParaRPr lang="en-US" sz="2800" u="sng" dirty="0"/>
          </a:p>
          <a:p>
            <a:r>
              <a:rPr lang="en-US" sz="2800" b="1" dirty="0"/>
              <a:t>Yes</a:t>
            </a:r>
            <a:r>
              <a:rPr lang="en-US" sz="2800" dirty="0"/>
              <a:t>, still there exists one more epsilon edge between “q0” and “q1”. So, </a:t>
            </a:r>
            <a:r>
              <a:rPr lang="en-US" sz="2800" b="1" dirty="0"/>
              <a:t>repeat the first 3 steps</a:t>
            </a:r>
            <a:r>
              <a:rPr lang="en-US" sz="2800" dirty="0"/>
              <a:t> to remove the remaining epsilons.</a:t>
            </a:r>
          </a:p>
          <a:p>
            <a:r>
              <a:rPr lang="en-US" sz="2800" b="1" u="sng" dirty="0"/>
              <a:t>Again, step 1: Find Epsilon Location</a:t>
            </a:r>
            <a:endParaRPr lang="en-US" sz="2800" u="sng" dirty="0"/>
          </a:p>
          <a:p>
            <a:r>
              <a:rPr lang="en-US" sz="2800" dirty="0"/>
              <a:t>Epsilon exists between q0 and q1. So, q0  becomes V1 and q1 becomes V2.  Now apply the steps of epsilon removal.</a:t>
            </a:r>
          </a:p>
        </p:txBody>
      </p:sp>
    </p:spTree>
    <p:extLst>
      <p:ext uri="{BB962C8B-B14F-4D97-AF65-F5344CB8AC3E}">
        <p14:creationId xmlns:p14="http://schemas.microsoft.com/office/powerpoint/2010/main" val="155881446"/>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3"/>
          </a:xfrm>
        </p:spPr>
        <p:txBody>
          <a:bodyPr/>
          <a:lstStyle/>
          <a:p>
            <a:r>
              <a:rPr lang="en-US" b="1" u="sng" dirty="0"/>
              <a:t>Again, step 02:  Find starting edges from V2, duplicate it to V1, and Remove Epsilon</a:t>
            </a:r>
            <a:endParaRPr lang="en-US" u="sng" dirty="0"/>
          </a:p>
          <a:p>
            <a:r>
              <a:rPr lang="en-US" dirty="0"/>
              <a:t>Only single edges start from V2 (q1) and go to q3 for input “0”. Simply, duplicate this edge with its label to V1 (q0) and remove the epsilon edge.</a:t>
            </a:r>
          </a:p>
          <a:p>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394363"/>
            <a:ext cx="7467600" cy="3080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2051078"/>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3"/>
          </a:xfrm>
        </p:spPr>
        <p:txBody>
          <a:bodyPr/>
          <a:lstStyle/>
          <a:p>
            <a:r>
              <a:rPr lang="en-US" sz="2800" b="1" u="sng" dirty="0"/>
              <a:t>Again, Step 03: Check Initial, Final, and Unreachable State Conditions</a:t>
            </a:r>
            <a:endParaRPr lang="en-US" sz="2800" u="sng" dirty="0"/>
          </a:p>
          <a:p>
            <a:pPr fontAlgn="base"/>
            <a:r>
              <a:rPr lang="en-US" sz="2800" b="1" dirty="0"/>
              <a:t>Initial state condition:</a:t>
            </a:r>
            <a:r>
              <a:rPr lang="en-US" sz="2800" dirty="0"/>
              <a:t> As V1 (q0) is an initial state. So V2(q1) becomes initial as well. As given below</a:t>
            </a:r>
          </a:p>
          <a:p>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780309"/>
            <a:ext cx="6934200" cy="2715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81000" y="4495800"/>
            <a:ext cx="8305800" cy="2246769"/>
          </a:xfrm>
          <a:prstGeom prst="rect">
            <a:avLst/>
          </a:prstGeom>
        </p:spPr>
        <p:txBody>
          <a:bodyPr wrap="square">
            <a:spAutoFit/>
          </a:bodyPr>
          <a:lstStyle/>
          <a:p>
            <a:pPr fontAlgn="base"/>
            <a:r>
              <a:rPr lang="en-US" sz="2800" b="1" dirty="0"/>
              <a:t>Final state condition: </a:t>
            </a:r>
            <a:r>
              <a:rPr lang="en-US" sz="2800" dirty="0"/>
              <a:t>As V2 (q1) is not a final state. So V1(q0) cannot be a final. NFA remains unchanged</a:t>
            </a:r>
          </a:p>
          <a:p>
            <a:pPr fontAlgn="base"/>
            <a:r>
              <a:rPr lang="en-US" sz="2800" b="1" dirty="0"/>
              <a:t>Unreachable state condition:</a:t>
            </a:r>
            <a:r>
              <a:rPr lang="en-US" sz="2800" dirty="0"/>
              <a:t> There is no unreachable state. So we cannot remove any state from the above NFA</a:t>
            </a:r>
          </a:p>
        </p:txBody>
      </p:sp>
    </p:spTree>
    <p:extLst>
      <p:ext uri="{BB962C8B-B14F-4D97-AF65-F5344CB8AC3E}">
        <p14:creationId xmlns:p14="http://schemas.microsoft.com/office/powerpoint/2010/main" val="1541738265"/>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r>
              <a:rPr lang="en-US" sz="2800" b="1" u="sng" dirty="0"/>
              <a:t>Again, step 04: Check for any more Epsilon</a:t>
            </a:r>
            <a:endParaRPr lang="en-US" sz="2800" u="sng" dirty="0"/>
          </a:p>
          <a:p>
            <a:r>
              <a:rPr lang="en-US" sz="2800" dirty="0"/>
              <a:t>As there were two epsilons given initially in the example, both are removed. No more epsilon exists.</a:t>
            </a:r>
          </a:p>
          <a:p>
            <a:r>
              <a:rPr lang="en-US" sz="2800" u="sng" dirty="0"/>
              <a:t>Final Result:</a:t>
            </a:r>
          </a:p>
          <a:p>
            <a:r>
              <a:rPr lang="en-US" sz="2800" dirty="0"/>
              <a:t>So the final NFA, after removing all epsilons from the given epsilon NFA, is given below</a:t>
            </a:r>
          </a:p>
          <a:p>
            <a:endParaRPr lang="en-US" sz="2800"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435927"/>
            <a:ext cx="7848600" cy="3238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5468278"/>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a:xfrm>
            <a:off x="381000" y="609600"/>
            <a:ext cx="8610600" cy="1143000"/>
          </a:xfrm>
        </p:spPr>
        <p:txBody>
          <a:bodyPr>
            <a:normAutofit fontScale="90000"/>
          </a:bodyPr>
          <a:lstStyle/>
          <a:p>
            <a:r>
              <a:rPr lang="en-US" altLang="en-US" dirty="0" smtClean="0"/>
              <a:t>Properties of Regular Languages</a:t>
            </a:r>
            <a:br>
              <a:rPr lang="en-US" altLang="en-US" dirty="0" smtClean="0"/>
            </a:br>
            <a:endParaRPr lang="en-US" altLang="en-US" dirty="0" smtClean="0"/>
          </a:p>
        </p:txBody>
      </p:sp>
      <p:sp>
        <p:nvSpPr>
          <p:cNvPr id="3076" name="Rectangle 3"/>
          <p:cNvSpPr>
            <a:spLocks noGrp="1" noChangeArrowheads="1"/>
          </p:cNvSpPr>
          <p:nvPr>
            <p:ph type="subTitle" idx="1"/>
          </p:nvPr>
        </p:nvSpPr>
        <p:spPr>
          <a:xfrm>
            <a:off x="1600200" y="2438400"/>
            <a:ext cx="6400800" cy="2590800"/>
          </a:xfrm>
        </p:spPr>
        <p:txBody>
          <a:bodyPr/>
          <a:lstStyle/>
          <a:p>
            <a:r>
              <a:rPr lang="en-US" altLang="en-US" dirty="0" smtClean="0">
                <a:solidFill>
                  <a:schemeClr val="tx1"/>
                </a:solidFill>
              </a:rPr>
              <a:t>General Discussion of “Properties”</a:t>
            </a:r>
          </a:p>
          <a:p>
            <a:r>
              <a:rPr lang="en-US" altLang="en-US" dirty="0" smtClean="0">
                <a:solidFill>
                  <a:schemeClr val="tx1"/>
                </a:solidFill>
              </a:rPr>
              <a:t>Closure properties</a:t>
            </a:r>
          </a:p>
          <a:p>
            <a:r>
              <a:rPr lang="en-US" altLang="en-US" dirty="0" smtClean="0">
                <a:solidFill>
                  <a:schemeClr val="tx1"/>
                </a:solidFill>
              </a:rPr>
              <a:t>Decision properties</a:t>
            </a:r>
          </a:p>
          <a:p>
            <a:r>
              <a:rPr lang="en-US" altLang="en-US" dirty="0" smtClean="0">
                <a:solidFill>
                  <a:schemeClr val="tx1"/>
                </a:solidFill>
              </a:rPr>
              <a:t>The Pumping Lemma</a:t>
            </a:r>
          </a:p>
        </p:txBody>
      </p:sp>
    </p:spTree>
    <p:extLst>
      <p:ext uri="{BB962C8B-B14F-4D97-AF65-F5344CB8AC3E}">
        <p14:creationId xmlns:p14="http://schemas.microsoft.com/office/powerpoint/2010/main" val="1645276793"/>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There </a:t>
            </a:r>
            <a:r>
              <a:rPr lang="en-US" dirty="0"/>
              <a:t>are different closure properties for regular languages. They are as follows </a:t>
            </a:r>
            <a:r>
              <a:rPr lang="en-US" dirty="0" smtClean="0"/>
              <a:t>−</a:t>
            </a:r>
            <a:br>
              <a:rPr lang="en-US" dirty="0" smtClean="0"/>
            </a:br>
            <a:r>
              <a:rPr lang="en-US" dirty="0"/>
              <a:t/>
            </a:r>
            <a:br>
              <a:rPr lang="en-US" dirty="0"/>
            </a:br>
            <a:r>
              <a:rPr lang="en-US" dirty="0"/>
              <a:t>Union</a:t>
            </a:r>
            <a:br>
              <a:rPr lang="en-US" dirty="0"/>
            </a:br>
            <a:r>
              <a:rPr lang="en-US" dirty="0"/>
              <a:t>Intersection</a:t>
            </a:r>
            <a:br>
              <a:rPr lang="en-US" dirty="0"/>
            </a:br>
            <a:r>
              <a:rPr lang="en-US" dirty="0"/>
              <a:t>concatenation</a:t>
            </a:r>
            <a:br>
              <a:rPr lang="en-US" dirty="0"/>
            </a:br>
            <a:r>
              <a:rPr lang="en-US" dirty="0" err="1"/>
              <a:t>Kleene</a:t>
            </a:r>
            <a:r>
              <a:rPr lang="en-US" dirty="0"/>
              <a:t> closure</a:t>
            </a:r>
            <a:br>
              <a:rPr lang="en-US" dirty="0"/>
            </a:br>
            <a:r>
              <a:rPr lang="en-US" dirty="0"/>
              <a:t>Complement</a:t>
            </a:r>
            <a:br>
              <a:rPr lang="en-US" dirty="0"/>
            </a:br>
            <a:endParaRPr lang="en-US" dirty="0"/>
          </a:p>
        </p:txBody>
      </p:sp>
    </p:spTree>
    <p:extLst>
      <p:ext uri="{BB962C8B-B14F-4D97-AF65-F5344CB8AC3E}">
        <p14:creationId xmlns:p14="http://schemas.microsoft.com/office/powerpoint/2010/main" val="3350175242"/>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a:t>	</a:t>
            </a:r>
            <a:r>
              <a:rPr lang="en-US" dirty="0" smtClean="0"/>
              <a:t>			Union</a:t>
            </a:r>
            <a:r>
              <a:rPr lang="en-US" dirty="0"/>
              <a:t/>
            </a:r>
            <a:br>
              <a:rPr lang="en-US" dirty="0"/>
            </a:br>
            <a:r>
              <a:rPr lang="en-US" dirty="0"/>
              <a:t>If L1 and If L2 are two regular languages, their union L1 U L2 will also be regular.</a:t>
            </a:r>
            <a:br>
              <a:rPr lang="en-US" dirty="0"/>
            </a:br>
            <a:endParaRPr lang="en-US" dirty="0"/>
          </a:p>
        </p:txBody>
      </p:sp>
      <p:sp>
        <p:nvSpPr>
          <p:cNvPr id="4" name="Rectangle 3"/>
          <p:cNvSpPr/>
          <p:nvPr/>
        </p:nvSpPr>
        <p:spPr>
          <a:xfrm>
            <a:off x="533400" y="2819400"/>
            <a:ext cx="7620000" cy="3416320"/>
          </a:xfrm>
          <a:prstGeom prst="rect">
            <a:avLst/>
          </a:prstGeom>
        </p:spPr>
        <p:txBody>
          <a:bodyPr wrap="square">
            <a:spAutoFit/>
          </a:bodyPr>
          <a:lstStyle/>
          <a:p>
            <a:pPr>
              <a:lnSpc>
                <a:spcPct val="150000"/>
              </a:lnSpc>
            </a:pPr>
            <a:r>
              <a:rPr lang="en-US" sz="3600" dirty="0"/>
              <a:t>Example</a:t>
            </a:r>
          </a:p>
          <a:p>
            <a:pPr>
              <a:lnSpc>
                <a:spcPct val="150000"/>
              </a:lnSpc>
            </a:pPr>
            <a:r>
              <a:rPr lang="en-US" sz="3600" dirty="0"/>
              <a:t>L1 = {</a:t>
            </a:r>
            <a:r>
              <a:rPr lang="en-US" sz="3600" dirty="0" smtClean="0"/>
              <a:t>aⁿ </a:t>
            </a:r>
            <a:r>
              <a:rPr lang="en-US" sz="3600" dirty="0"/>
              <a:t>n &gt; O} and L2 = {</a:t>
            </a:r>
            <a:r>
              <a:rPr lang="en-US" sz="3600" dirty="0" smtClean="0"/>
              <a:t>bⁿ </a:t>
            </a:r>
            <a:r>
              <a:rPr lang="en-US" sz="3600" dirty="0"/>
              <a:t>| n &gt; O}</a:t>
            </a:r>
          </a:p>
          <a:p>
            <a:pPr>
              <a:lnSpc>
                <a:spcPct val="150000"/>
              </a:lnSpc>
            </a:pPr>
            <a:r>
              <a:rPr lang="en-US" sz="3600" dirty="0"/>
              <a:t>L3 = L1 U L2 = {</a:t>
            </a:r>
            <a:r>
              <a:rPr lang="en-US" sz="3600" dirty="0" smtClean="0"/>
              <a:t>aⁿ </a:t>
            </a:r>
            <a:r>
              <a:rPr lang="en-US" sz="3600" dirty="0"/>
              <a:t>U </a:t>
            </a:r>
            <a:r>
              <a:rPr lang="en-US" sz="3600" dirty="0" smtClean="0"/>
              <a:t>bⁿ </a:t>
            </a:r>
            <a:r>
              <a:rPr lang="en-US" sz="3600" dirty="0"/>
              <a:t>| n &gt; O} is also regular.</a:t>
            </a:r>
          </a:p>
        </p:txBody>
      </p:sp>
    </p:spTree>
    <p:extLst>
      <p:ext uri="{BB962C8B-B14F-4D97-AF65-F5344CB8AC3E}">
        <p14:creationId xmlns:p14="http://schemas.microsoft.com/office/powerpoint/2010/main" val="2186387609"/>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4525963"/>
          </a:xfrm>
        </p:spPr>
        <p:txBody>
          <a:bodyPr/>
          <a:lstStyle/>
          <a:p>
            <a:pPr marL="0" indent="0">
              <a:buNone/>
            </a:pPr>
            <a:r>
              <a:rPr lang="en-US" dirty="0" smtClean="0"/>
              <a:t>			</a:t>
            </a:r>
            <a:r>
              <a:rPr lang="en-US" b="1" dirty="0" smtClean="0"/>
              <a:t>Intersection</a:t>
            </a:r>
            <a:endParaRPr lang="en-US" b="1" dirty="0"/>
          </a:p>
          <a:p>
            <a:r>
              <a:rPr lang="en-US" dirty="0"/>
              <a:t>If L1 and If L2 are two regular languages, their intersection L1 ∩ L2 will also be regular.</a:t>
            </a:r>
          </a:p>
          <a:p>
            <a:r>
              <a:rPr lang="en-US" dirty="0"/>
              <a:t>Example</a:t>
            </a:r>
          </a:p>
          <a:p>
            <a:r>
              <a:rPr lang="en-US" dirty="0"/>
              <a:t>L1= {</a:t>
            </a:r>
            <a:r>
              <a:rPr lang="en-US" dirty="0" smtClean="0"/>
              <a:t>a</a:t>
            </a:r>
            <a:r>
              <a:rPr lang="en-US" baseline="30000" dirty="0" smtClean="0"/>
              <a:t>m</a:t>
            </a:r>
            <a:r>
              <a:rPr lang="en-US" dirty="0" smtClean="0"/>
              <a:t> </a:t>
            </a:r>
            <a:r>
              <a:rPr lang="en-US" dirty="0" err="1"/>
              <a:t>b</a:t>
            </a:r>
            <a:r>
              <a:rPr lang="en-US" baseline="30000" dirty="0" err="1"/>
              <a:t>n</a:t>
            </a:r>
            <a:r>
              <a:rPr lang="en-US" dirty="0"/>
              <a:t> | n &gt; 0 and m &gt; O} and</a:t>
            </a:r>
          </a:p>
          <a:p>
            <a:r>
              <a:rPr lang="en-US" dirty="0"/>
              <a:t>L2= {a</a:t>
            </a:r>
            <a:r>
              <a:rPr lang="en-US" baseline="30000" dirty="0"/>
              <a:t>m</a:t>
            </a:r>
            <a:r>
              <a:rPr lang="en-US" dirty="0"/>
              <a:t> </a:t>
            </a:r>
            <a:r>
              <a:rPr lang="en-US" dirty="0" err="1"/>
              <a:t>b</a:t>
            </a:r>
            <a:r>
              <a:rPr lang="en-US" baseline="30000" dirty="0" err="1"/>
              <a:t>n</a:t>
            </a:r>
            <a:r>
              <a:rPr lang="en-US" dirty="0"/>
              <a:t> U </a:t>
            </a:r>
            <a:r>
              <a:rPr lang="en-US" dirty="0" err="1"/>
              <a:t>b</a:t>
            </a:r>
            <a:r>
              <a:rPr lang="en-US" baseline="30000" dirty="0" err="1"/>
              <a:t>n</a:t>
            </a:r>
            <a:r>
              <a:rPr lang="en-US" dirty="0"/>
              <a:t> a</a:t>
            </a:r>
            <a:r>
              <a:rPr lang="en-US" baseline="30000" dirty="0"/>
              <a:t>m</a:t>
            </a:r>
            <a:r>
              <a:rPr lang="en-US" dirty="0"/>
              <a:t> | n &gt; 0 and m &gt; O}</a:t>
            </a:r>
          </a:p>
          <a:p>
            <a:r>
              <a:rPr lang="en-US" dirty="0"/>
              <a:t>L3 = L1 ∩ L2 = {a</a:t>
            </a:r>
            <a:r>
              <a:rPr lang="en-US" baseline="30000" dirty="0"/>
              <a:t>m</a:t>
            </a:r>
            <a:r>
              <a:rPr lang="en-US" dirty="0"/>
              <a:t> </a:t>
            </a:r>
            <a:r>
              <a:rPr lang="en-US" dirty="0" err="1"/>
              <a:t>b</a:t>
            </a:r>
            <a:r>
              <a:rPr lang="en-US" baseline="30000" dirty="0" err="1"/>
              <a:t>n</a:t>
            </a:r>
            <a:r>
              <a:rPr lang="en-US" dirty="0"/>
              <a:t> | n &gt; 0 and m &gt; O} are also regular.</a:t>
            </a:r>
          </a:p>
          <a:p>
            <a:endParaRPr lang="en-US" dirty="0"/>
          </a:p>
        </p:txBody>
      </p:sp>
    </p:spTree>
    <p:extLst>
      <p:ext uri="{BB962C8B-B14F-4D97-AF65-F5344CB8AC3E}">
        <p14:creationId xmlns:p14="http://schemas.microsoft.com/office/powerpoint/2010/main" val="3587492215"/>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525963"/>
          </a:xfrm>
        </p:spPr>
        <p:txBody>
          <a:bodyPr/>
          <a:lstStyle/>
          <a:p>
            <a:pPr marL="0" indent="0">
              <a:buNone/>
            </a:pPr>
            <a:r>
              <a:rPr lang="en-US" dirty="0" smtClean="0"/>
              <a:t>			</a:t>
            </a:r>
            <a:r>
              <a:rPr lang="en-US" b="1" dirty="0" smtClean="0"/>
              <a:t>Concatenation</a:t>
            </a:r>
            <a:endParaRPr lang="en-US" b="1" dirty="0"/>
          </a:p>
          <a:p>
            <a:r>
              <a:rPr lang="en-US" dirty="0"/>
              <a:t>If L1 and If L2 are two regular languages, their concatenation L1.L2 will also be regular.</a:t>
            </a:r>
          </a:p>
          <a:p>
            <a:r>
              <a:rPr lang="en-US" dirty="0"/>
              <a:t>Example</a:t>
            </a:r>
          </a:p>
          <a:p>
            <a:r>
              <a:rPr lang="en-US" dirty="0"/>
              <a:t>L1 = {</a:t>
            </a:r>
            <a:r>
              <a:rPr lang="en-US" dirty="0" smtClean="0"/>
              <a:t>a</a:t>
            </a:r>
            <a:r>
              <a:rPr lang="en-US" baseline="30000" dirty="0"/>
              <a:t>m</a:t>
            </a:r>
            <a:r>
              <a:rPr lang="en-US" dirty="0" smtClean="0"/>
              <a:t> </a:t>
            </a:r>
            <a:r>
              <a:rPr lang="en-US" dirty="0"/>
              <a:t>| </a:t>
            </a:r>
            <a:r>
              <a:rPr lang="en-US" dirty="0" smtClean="0"/>
              <a:t>m </a:t>
            </a:r>
            <a:r>
              <a:rPr lang="en-US" dirty="0"/>
              <a:t>&gt; 0} and L2 = {</a:t>
            </a:r>
            <a:r>
              <a:rPr lang="en-US" dirty="0" err="1"/>
              <a:t>b</a:t>
            </a:r>
            <a:r>
              <a:rPr lang="en-US" baseline="30000" dirty="0" err="1"/>
              <a:t>n</a:t>
            </a:r>
            <a:r>
              <a:rPr lang="en-US" dirty="0"/>
              <a:t> | n &gt; O}</a:t>
            </a:r>
          </a:p>
          <a:p>
            <a:r>
              <a:rPr lang="en-US" dirty="0"/>
              <a:t>L3 = L1.L2 = {a</a:t>
            </a:r>
            <a:r>
              <a:rPr lang="en-US" baseline="30000" dirty="0"/>
              <a:t>m</a:t>
            </a:r>
            <a:r>
              <a:rPr lang="en-US" dirty="0"/>
              <a:t> . </a:t>
            </a:r>
            <a:r>
              <a:rPr lang="en-US" dirty="0" err="1"/>
              <a:t>b</a:t>
            </a:r>
            <a:r>
              <a:rPr lang="en-US" baseline="30000" dirty="0" err="1"/>
              <a:t>n</a:t>
            </a:r>
            <a:r>
              <a:rPr lang="en-US" dirty="0"/>
              <a:t> | m &gt; 0 and n &gt; O} is also regular.</a:t>
            </a:r>
          </a:p>
          <a:p>
            <a:endParaRPr lang="en-US" dirty="0"/>
          </a:p>
        </p:txBody>
      </p:sp>
    </p:spTree>
    <p:extLst>
      <p:ext uri="{BB962C8B-B14F-4D97-AF65-F5344CB8AC3E}">
        <p14:creationId xmlns:p14="http://schemas.microsoft.com/office/powerpoint/2010/main" val="3330072784"/>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txBody>
          <a:bodyPr/>
          <a:lstStyle/>
          <a:p>
            <a:pPr marL="0" indent="0">
              <a:buNone/>
            </a:pPr>
            <a:r>
              <a:rPr lang="en-US" dirty="0" smtClean="0"/>
              <a:t>			</a:t>
            </a:r>
            <a:r>
              <a:rPr lang="en-US" b="1" dirty="0" err="1" smtClean="0"/>
              <a:t>Kleene</a:t>
            </a:r>
            <a:r>
              <a:rPr lang="en-US" b="1" dirty="0" smtClean="0"/>
              <a:t> </a:t>
            </a:r>
            <a:r>
              <a:rPr lang="en-US" b="1" dirty="0"/>
              <a:t>Closure</a:t>
            </a:r>
          </a:p>
          <a:p>
            <a:r>
              <a:rPr lang="en-US" dirty="0"/>
              <a:t>If L1 is a regular language, its </a:t>
            </a:r>
            <a:r>
              <a:rPr lang="en-US" dirty="0" err="1"/>
              <a:t>Kleene</a:t>
            </a:r>
            <a:r>
              <a:rPr lang="en-US" dirty="0"/>
              <a:t> closure L1* will also be regular.</a:t>
            </a:r>
          </a:p>
          <a:p>
            <a:r>
              <a:rPr lang="en-US" dirty="0"/>
              <a:t>Example</a:t>
            </a:r>
          </a:p>
          <a:p>
            <a:r>
              <a:rPr lang="en-US" dirty="0"/>
              <a:t>L1 = (a U b )</a:t>
            </a:r>
          </a:p>
          <a:p>
            <a:r>
              <a:rPr lang="en-US" dirty="0"/>
              <a:t>L1* = (a U b)*</a:t>
            </a:r>
          </a:p>
          <a:p>
            <a:endParaRPr lang="en-US" dirty="0"/>
          </a:p>
        </p:txBody>
      </p:sp>
    </p:spTree>
    <p:extLst>
      <p:ext uri="{BB962C8B-B14F-4D97-AF65-F5344CB8AC3E}">
        <p14:creationId xmlns:p14="http://schemas.microsoft.com/office/powerpoint/2010/main" val="3233430060"/>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lstStyle/>
          <a:p>
            <a:pPr marL="0" indent="0">
              <a:buNone/>
            </a:pPr>
            <a:r>
              <a:rPr lang="en-US" dirty="0" smtClean="0"/>
              <a:t>			</a:t>
            </a:r>
            <a:r>
              <a:rPr lang="en-US" b="1" dirty="0" smtClean="0"/>
              <a:t>Complement</a:t>
            </a:r>
            <a:endParaRPr lang="en-US" b="1" dirty="0"/>
          </a:p>
          <a:p>
            <a:r>
              <a:rPr lang="en-US" dirty="0"/>
              <a:t>If L(G) is a regular language, its complement L'(G) will also be regular. Complement of a language can be found by subtracting strings which are in L(G) from all possible strings.</a:t>
            </a:r>
          </a:p>
          <a:p>
            <a:pPr marL="0" indent="0">
              <a:buNone/>
            </a:pPr>
            <a:r>
              <a:rPr lang="en-US" dirty="0"/>
              <a:t>Example</a:t>
            </a:r>
          </a:p>
          <a:p>
            <a:r>
              <a:rPr lang="en-US" dirty="0"/>
              <a:t>L(G) = {a</a:t>
            </a:r>
            <a:r>
              <a:rPr lang="en-US" baseline="30000" dirty="0"/>
              <a:t>n</a:t>
            </a:r>
            <a:r>
              <a:rPr lang="en-US" dirty="0"/>
              <a:t> | n &gt; 3} L'(G) = {a</a:t>
            </a:r>
            <a:r>
              <a:rPr lang="en-US" baseline="30000" dirty="0"/>
              <a:t>n</a:t>
            </a:r>
            <a:r>
              <a:rPr lang="en-US" dirty="0"/>
              <a:t> | n &lt;= 3}</a:t>
            </a:r>
          </a:p>
          <a:p>
            <a:endParaRPr lang="en-US" dirty="0"/>
          </a:p>
        </p:txBody>
      </p:sp>
    </p:spTree>
    <p:extLst>
      <p:ext uri="{BB962C8B-B14F-4D97-AF65-F5344CB8AC3E}">
        <p14:creationId xmlns:p14="http://schemas.microsoft.com/office/powerpoint/2010/main" val="446057479"/>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Decision-properties-of-reular-languages-10-2048.jpg"/>
          <p:cNvPicPr>
            <a:picLocks noChangeAspect="1"/>
          </p:cNvPicPr>
          <p:nvPr/>
        </p:nvPicPr>
        <p:blipFill>
          <a:blip r:embed="rId2"/>
          <a:stretch>
            <a:fillRect/>
          </a:stretch>
        </p:blipFill>
        <p:spPr>
          <a:xfrm>
            <a:off x="0" y="20782"/>
            <a:ext cx="9144000" cy="6858000"/>
          </a:xfrm>
          <a:prstGeom prst="rect">
            <a:avLst/>
          </a:prstGeom>
        </p:spPr>
      </p:pic>
    </p:spTree>
    <p:extLst>
      <p:ext uri="{BB962C8B-B14F-4D97-AF65-F5344CB8AC3E}">
        <p14:creationId xmlns:p14="http://schemas.microsoft.com/office/powerpoint/2010/main" val="1491728663"/>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Decision-properties-of-reular-languages-11-204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70322002"/>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Decision-properties-of-reular-languages-12-204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686900728"/>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Decision-properties-of-reular-languages-13-204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693814691"/>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Decision-properties-of-reular-languages-14-2048.jpg"/>
          <p:cNvPicPr>
            <a:picLocks noChangeAspect="1"/>
          </p:cNvPicPr>
          <p:nvPr/>
        </p:nvPicPr>
        <p:blipFill>
          <a:blip r:embed="rId2"/>
          <a:stretch>
            <a:fillRect/>
          </a:stretch>
        </p:blipFill>
        <p:spPr>
          <a:xfrm>
            <a:off x="0" y="6927"/>
            <a:ext cx="9144000" cy="6858000"/>
          </a:xfrm>
          <a:prstGeom prst="rect">
            <a:avLst/>
          </a:prstGeom>
        </p:spPr>
      </p:pic>
    </p:spTree>
    <p:extLst>
      <p:ext uri="{BB962C8B-B14F-4D97-AF65-F5344CB8AC3E}">
        <p14:creationId xmlns:p14="http://schemas.microsoft.com/office/powerpoint/2010/main" val="3455217680"/>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Decision-properties-of-reular-languages-15-204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045073656"/>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Decision-properties-of-reular-languages-16-2048.jpg"/>
          <p:cNvPicPr>
            <a:picLocks noChangeAspect="1"/>
          </p:cNvPicPr>
          <p:nvPr/>
        </p:nvPicPr>
        <p:blipFill>
          <a:blip r:embed="rId2"/>
          <a:stretch>
            <a:fillRect/>
          </a:stretch>
        </p:blipFill>
        <p:spPr>
          <a:xfrm>
            <a:off x="20782" y="-20782"/>
            <a:ext cx="9144000" cy="6858000"/>
          </a:xfrm>
          <a:prstGeom prst="rect">
            <a:avLst/>
          </a:prstGeom>
        </p:spPr>
      </p:pic>
    </p:spTree>
    <p:extLst>
      <p:ext uri="{BB962C8B-B14F-4D97-AF65-F5344CB8AC3E}">
        <p14:creationId xmlns:p14="http://schemas.microsoft.com/office/powerpoint/2010/main" val="2291963859"/>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Decision-properties-of-reular-languages-17-204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281871110"/>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Decision-properties-of-reular-languages-18-2048.jpg"/>
          <p:cNvPicPr>
            <a:picLocks noChangeAspect="1"/>
          </p:cNvPicPr>
          <p:nvPr/>
        </p:nvPicPr>
        <p:blipFill>
          <a:blip r:embed="rId2"/>
          <a:stretch>
            <a:fillRect/>
          </a:stretch>
        </p:blipFill>
        <p:spPr>
          <a:xfrm>
            <a:off x="13855" y="0"/>
            <a:ext cx="9144000" cy="6858000"/>
          </a:xfrm>
          <a:prstGeom prst="rect">
            <a:avLst/>
          </a:prstGeom>
        </p:spPr>
      </p:pic>
    </p:spTree>
    <p:extLst>
      <p:ext uri="{BB962C8B-B14F-4D97-AF65-F5344CB8AC3E}">
        <p14:creationId xmlns:p14="http://schemas.microsoft.com/office/powerpoint/2010/main" val="2901894268"/>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Decision-properties-of-reular-languages-19-204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64925086"/>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Decision-properties-of-reular-languages-20-2048.jpg"/>
          <p:cNvPicPr>
            <a:picLocks noChangeAspect="1"/>
          </p:cNvPicPr>
          <p:nvPr/>
        </p:nvPicPr>
        <p:blipFill>
          <a:blip r:embed="rId2"/>
          <a:stretch>
            <a:fillRect/>
          </a:stretch>
        </p:blipFill>
        <p:spPr>
          <a:xfrm>
            <a:off x="13855" y="0"/>
            <a:ext cx="9144000" cy="6858000"/>
          </a:xfrm>
          <a:prstGeom prst="rect">
            <a:avLst/>
          </a:prstGeom>
        </p:spPr>
      </p:pic>
    </p:spTree>
    <p:extLst>
      <p:ext uri="{BB962C8B-B14F-4D97-AF65-F5344CB8AC3E}">
        <p14:creationId xmlns:p14="http://schemas.microsoft.com/office/powerpoint/2010/main" val="70294170"/>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1-Decision-properties-of-reular-languages-21-204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027655458"/>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Decision-properties-of-reular-languages-22-2048.jpg"/>
          <p:cNvPicPr>
            <a:picLocks noChangeAspect="1"/>
          </p:cNvPicPr>
          <p:nvPr/>
        </p:nvPicPr>
        <p:blipFill>
          <a:blip r:embed="rId2"/>
          <a:stretch>
            <a:fillRect/>
          </a:stretch>
        </p:blipFill>
        <p:spPr>
          <a:xfrm>
            <a:off x="0" y="34636"/>
            <a:ext cx="9144000" cy="6858000"/>
          </a:xfrm>
          <a:prstGeom prst="rect">
            <a:avLst/>
          </a:prstGeom>
        </p:spPr>
      </p:pic>
    </p:spTree>
    <p:extLst>
      <p:ext uri="{BB962C8B-B14F-4D97-AF65-F5344CB8AC3E}">
        <p14:creationId xmlns:p14="http://schemas.microsoft.com/office/powerpoint/2010/main" val="786744159"/>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What </a:t>
            </a:r>
            <a:r>
              <a:rPr lang="en-US" b="1" dirty="0"/>
              <a:t>is the pumping lemma for regular language?</a:t>
            </a:r>
            <a:br>
              <a:rPr lang="en-US" b="1" dirty="0"/>
            </a:br>
            <a:endParaRPr lang="en-US" dirty="0"/>
          </a:p>
        </p:txBody>
      </p:sp>
      <p:sp>
        <p:nvSpPr>
          <p:cNvPr id="3" name="Content Placeholder 2"/>
          <p:cNvSpPr>
            <a:spLocks noGrp="1"/>
          </p:cNvSpPr>
          <p:nvPr>
            <p:ph idx="1"/>
          </p:nvPr>
        </p:nvSpPr>
        <p:spPr/>
        <p:txBody>
          <a:bodyPr/>
          <a:lstStyle/>
          <a:p>
            <a:pPr>
              <a:lnSpc>
                <a:spcPct val="200000"/>
              </a:lnSpc>
            </a:pPr>
            <a:r>
              <a:rPr lang="en-US" dirty="0"/>
              <a:t>There are two Pumping Lemmas (PL), which are defined for Regular Languages and Context - Free Languages.</a:t>
            </a:r>
          </a:p>
          <a:p>
            <a:endParaRPr lang="en-US" dirty="0"/>
          </a:p>
        </p:txBody>
      </p:sp>
    </p:spTree>
    <p:extLst>
      <p:ext uri="{BB962C8B-B14F-4D97-AF65-F5344CB8AC3E}">
        <p14:creationId xmlns:p14="http://schemas.microsoft.com/office/powerpoint/2010/main" val="2571399056"/>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Pumping lemma for Regular languages</a:t>
            </a:r>
            <a:br>
              <a:rPr lang="en-US" dirty="0"/>
            </a:br>
            <a:endParaRPr lang="en-US" dirty="0"/>
          </a:p>
        </p:txBody>
      </p:sp>
      <p:sp>
        <p:nvSpPr>
          <p:cNvPr id="3" name="Content Placeholder 2"/>
          <p:cNvSpPr>
            <a:spLocks noGrp="1"/>
          </p:cNvSpPr>
          <p:nvPr>
            <p:ph idx="1"/>
          </p:nvPr>
        </p:nvSpPr>
        <p:spPr/>
        <p:txBody>
          <a:bodyPr>
            <a:normAutofit/>
          </a:bodyPr>
          <a:lstStyle/>
          <a:p>
            <a:r>
              <a:rPr lang="en-US" dirty="0"/>
              <a:t>It gives a method for pumping (generating) many substrings from a given string.</a:t>
            </a:r>
          </a:p>
          <a:p>
            <a:r>
              <a:rPr lang="en-US" dirty="0"/>
              <a:t>In other words, we say it provides means to break a given long input string into several substrings.</a:t>
            </a:r>
          </a:p>
          <a:p>
            <a:r>
              <a:rPr lang="en-US" dirty="0"/>
              <a:t>I</a:t>
            </a:r>
            <a:r>
              <a:rPr lang="en-US" dirty="0" smtClean="0"/>
              <a:t>t </a:t>
            </a:r>
            <a:r>
              <a:rPr lang="en-US" dirty="0"/>
              <a:t>gives necessary condition(s) to prove a set of strings is not regular.</a:t>
            </a:r>
          </a:p>
          <a:p>
            <a:pPr marL="0" indent="0">
              <a:buNone/>
            </a:pPr>
            <a:endParaRPr lang="en-US" dirty="0"/>
          </a:p>
        </p:txBody>
      </p:sp>
    </p:spTree>
    <p:extLst>
      <p:ext uri="{BB962C8B-B14F-4D97-AF65-F5344CB8AC3E}">
        <p14:creationId xmlns:p14="http://schemas.microsoft.com/office/powerpoint/2010/main" val="1548115157"/>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8229600" cy="4525963"/>
          </a:xfrm>
        </p:spPr>
        <p:txBody>
          <a:bodyPr>
            <a:normAutofit fontScale="92500" lnSpcReduction="10000"/>
          </a:bodyPr>
          <a:lstStyle/>
          <a:p>
            <a:pPr marL="0" indent="0">
              <a:buNone/>
            </a:pPr>
            <a:r>
              <a:rPr lang="en-US" dirty="0"/>
              <a:t>Theorem</a:t>
            </a:r>
          </a:p>
          <a:p>
            <a:r>
              <a:rPr lang="en-US" dirty="0"/>
              <a:t>For any regular language L, there exists an integer P, such that for all w in L</a:t>
            </a:r>
          </a:p>
          <a:p>
            <a:r>
              <a:rPr lang="en-US" dirty="0"/>
              <a:t>|w|&gt;=P</a:t>
            </a:r>
          </a:p>
          <a:p>
            <a:r>
              <a:rPr lang="en-US" dirty="0"/>
              <a:t>We can break w into three strings, w=xyz such that.</a:t>
            </a:r>
          </a:p>
          <a:p>
            <a:r>
              <a:rPr lang="en-US" dirty="0"/>
              <a:t>(1)</a:t>
            </a:r>
            <a:r>
              <a:rPr lang="en-US" dirty="0" err="1"/>
              <a:t>lxyl</a:t>
            </a:r>
            <a:r>
              <a:rPr lang="en-US" dirty="0"/>
              <a:t> &lt; P</a:t>
            </a:r>
          </a:p>
          <a:p>
            <a:r>
              <a:rPr lang="en-US" dirty="0"/>
              <a:t>(2)</a:t>
            </a:r>
            <a:r>
              <a:rPr lang="en-US" dirty="0" err="1"/>
              <a:t>lyl</a:t>
            </a:r>
            <a:r>
              <a:rPr lang="en-US" dirty="0"/>
              <a:t> &gt; 1</a:t>
            </a:r>
          </a:p>
          <a:p>
            <a:r>
              <a:rPr lang="en-US" dirty="0"/>
              <a:t>(3)for all k&gt;= 0: the string </a:t>
            </a:r>
            <a:r>
              <a:rPr lang="en-US" dirty="0" err="1"/>
              <a:t>xy</a:t>
            </a:r>
            <a:r>
              <a:rPr lang="en-US" baseline="30000" dirty="0" err="1"/>
              <a:t>k</a:t>
            </a:r>
            <a:r>
              <a:rPr lang="en-US" dirty="0" err="1"/>
              <a:t>z</a:t>
            </a:r>
            <a:r>
              <a:rPr lang="en-US" dirty="0"/>
              <a:t> is also in L</a:t>
            </a:r>
          </a:p>
          <a:p>
            <a:endParaRPr lang="en-US" dirty="0"/>
          </a:p>
        </p:txBody>
      </p:sp>
    </p:spTree>
    <p:extLst>
      <p:ext uri="{BB962C8B-B14F-4D97-AF65-F5344CB8AC3E}">
        <p14:creationId xmlns:p14="http://schemas.microsoft.com/office/powerpoint/2010/main" val="3112939310"/>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b="1" dirty="0" smtClean="0"/>
              <a:t>Application </a:t>
            </a:r>
            <a:r>
              <a:rPr lang="en-US" b="1" dirty="0"/>
              <a:t>of pumping lemma</a:t>
            </a:r>
            <a:r>
              <a:rPr lang="en-US" dirty="0"/>
              <a:t/>
            </a:r>
            <a:br>
              <a:rPr lang="en-US" dirty="0"/>
            </a:br>
            <a:r>
              <a:rPr lang="en-US" dirty="0"/>
              <a:t>Pumping lemma is to be applied to show that certain languages are not regular.</a:t>
            </a:r>
            <a:br>
              <a:rPr lang="en-US" dirty="0"/>
            </a:br>
            <a:r>
              <a:rPr lang="en-US" dirty="0"/>
              <a:t>It should never be used to show a language is regular.</a:t>
            </a:r>
            <a:br>
              <a:rPr lang="en-US" dirty="0"/>
            </a:br>
            <a:r>
              <a:rPr lang="en-US" dirty="0"/>
              <a:t>If L is regular, it satisfies the Pumping lemma.</a:t>
            </a:r>
            <a:br>
              <a:rPr lang="en-US" dirty="0"/>
            </a:br>
            <a:r>
              <a:rPr lang="en-US" dirty="0"/>
              <a:t>If L does not satisfy the Pumping Lemma, it is not regular.</a:t>
            </a:r>
            <a:br>
              <a:rPr lang="en-US" dirty="0"/>
            </a:br>
            <a:endParaRPr lang="en-US" dirty="0"/>
          </a:p>
        </p:txBody>
      </p:sp>
    </p:spTree>
    <p:extLst>
      <p:ext uri="{BB962C8B-B14F-4D97-AF65-F5344CB8AC3E}">
        <p14:creationId xmlns:p14="http://schemas.microsoft.com/office/powerpoint/2010/main" val="848824744"/>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language-grammar-and-automata-14-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1295609838"/>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language-grammar-and-automata-15-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3701720219"/>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language-grammar-and-automata-16-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2459774987"/>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language-grammar-and-automata-17-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202941140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language-grammar-and-automata-18-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292752313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language-grammar-and-automata-19-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60998204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language-grammar-and-automata-20-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206032298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1-language-grammar-and-automata-21-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79324364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language-grammar-and-automata-22-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27111923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3-language-grammar-and-automata-23-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182720761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4-language-grammar-and-automata-24-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75507745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5-language-grammar-and-automata-25-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74516617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6-language-grammar-and-automata-26-2048.jpg"/>
          <p:cNvPicPr>
            <a:picLocks noChangeAspect="1"/>
          </p:cNvPicPr>
          <p:nvPr/>
        </p:nvPicPr>
        <p:blipFill>
          <a:blip r:embed="rId2"/>
          <a:stretch>
            <a:fillRect/>
          </a:stretch>
        </p:blipFill>
        <p:spPr>
          <a:xfrm>
            <a:off x="0" y="859536"/>
            <a:ext cx="9144000" cy="6858000"/>
          </a:xfrm>
          <a:prstGeom prst="rect">
            <a:avLst/>
          </a:prstGeom>
        </p:spPr>
      </p:pic>
    </p:spTree>
    <p:extLst>
      <p:ext uri="{BB962C8B-B14F-4D97-AF65-F5344CB8AC3E}">
        <p14:creationId xmlns:p14="http://schemas.microsoft.com/office/powerpoint/2010/main" val="201735578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563562"/>
          </a:xfrm>
        </p:spPr>
        <p:txBody>
          <a:bodyPr>
            <a:normAutofit fontScale="90000"/>
          </a:bodyPr>
          <a:lstStyle/>
          <a:p>
            <a:r>
              <a:rPr lang="en-US" dirty="0" smtClean="0"/>
              <a:t>REGULAR EXPRESSION</a:t>
            </a:r>
            <a:endParaRPr lang="en-US" dirty="0"/>
          </a:p>
        </p:txBody>
      </p:sp>
      <p:sp>
        <p:nvSpPr>
          <p:cNvPr id="5" name="Content Placeholder 4"/>
          <p:cNvSpPr>
            <a:spLocks noGrp="1"/>
          </p:cNvSpPr>
          <p:nvPr>
            <p:ph idx="1"/>
          </p:nvPr>
        </p:nvSpPr>
        <p:spPr>
          <a:xfrm>
            <a:off x="457200" y="914400"/>
            <a:ext cx="8229600" cy="5211763"/>
          </a:xfrm>
        </p:spPr>
        <p:txBody>
          <a:bodyPr>
            <a:normAutofit fontScale="92500" lnSpcReduction="10000"/>
          </a:bodyPr>
          <a:lstStyle/>
          <a:p>
            <a:r>
              <a:rPr lang="en-US" dirty="0"/>
              <a:t>Regular </a:t>
            </a:r>
            <a:r>
              <a:rPr lang="en-US" dirty="0" smtClean="0"/>
              <a:t>Expression is </a:t>
            </a:r>
            <a:r>
              <a:rPr lang="en-US" dirty="0"/>
              <a:t>a powerful mathematical tool used to define regular languages, which are recognized by </a:t>
            </a:r>
            <a:r>
              <a:rPr lang="en-US" dirty="0">
                <a:hlinkClick r:id="rId2"/>
              </a:rPr>
              <a:t>Finite Automata</a:t>
            </a:r>
            <a:r>
              <a:rPr lang="en-US" dirty="0"/>
              <a:t>.  They are similar to arithmetic, logic, and Boolean expressions in representation but </a:t>
            </a:r>
            <a:r>
              <a:rPr lang="en-US" dirty="0" smtClean="0"/>
              <a:t>different </a:t>
            </a:r>
            <a:r>
              <a:rPr lang="en-US" dirty="0"/>
              <a:t>in their operation and purpose</a:t>
            </a:r>
            <a:r>
              <a:rPr lang="en-US" dirty="0" smtClean="0"/>
              <a:t>.</a:t>
            </a:r>
          </a:p>
          <a:p>
            <a:pPr fontAlgn="base"/>
            <a:r>
              <a:rPr lang="en-US" dirty="0"/>
              <a:t>Regular expressions generate sets of strings (finite or infinite in number) that always represent a unique and specific regular language.</a:t>
            </a:r>
          </a:p>
          <a:p>
            <a:pPr fontAlgn="base"/>
            <a:r>
              <a:rPr lang="en-US" dirty="0"/>
              <a:t>Each of these regular languages can be recognized and accepted by a finite automata.</a:t>
            </a:r>
          </a:p>
          <a:p>
            <a:endParaRPr lang="en-US" dirty="0"/>
          </a:p>
        </p:txBody>
      </p:sp>
    </p:spTree>
    <p:extLst>
      <p:ext uri="{BB962C8B-B14F-4D97-AF65-F5344CB8AC3E}">
        <p14:creationId xmlns:p14="http://schemas.microsoft.com/office/powerpoint/2010/main" val="30572654"/>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28600"/>
            <a:ext cx="9144000" cy="612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1165816"/>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3600" dirty="0"/>
              <a:t>The main uses of regular </a:t>
            </a:r>
            <a:r>
              <a:rPr lang="en-US" sz="3600" dirty="0" smtClean="0"/>
              <a:t>expressions</a:t>
            </a:r>
            <a:r>
              <a:rPr lang="en-US" sz="3600" dirty="0"/>
              <a:t> are</a:t>
            </a:r>
          </a:p>
        </p:txBody>
      </p:sp>
      <p:sp>
        <p:nvSpPr>
          <p:cNvPr id="3" name="Content Placeholder 2"/>
          <p:cNvSpPr>
            <a:spLocks noGrp="1"/>
          </p:cNvSpPr>
          <p:nvPr>
            <p:ph idx="1"/>
          </p:nvPr>
        </p:nvSpPr>
        <p:spPr>
          <a:xfrm>
            <a:off x="457200" y="1143000"/>
            <a:ext cx="8229600" cy="4983163"/>
          </a:xfrm>
        </p:spPr>
        <p:txBody>
          <a:bodyPr>
            <a:normAutofit fontScale="92500"/>
          </a:bodyPr>
          <a:lstStyle/>
          <a:p>
            <a:pPr fontAlgn="base"/>
            <a:r>
              <a:rPr lang="en-US" b="1" dirty="0"/>
              <a:t>Pattern Recognition:</a:t>
            </a:r>
            <a:r>
              <a:rPr lang="en-US" dirty="0"/>
              <a:t> Represent patterns that can be recognized by finite automata (</a:t>
            </a:r>
            <a:r>
              <a:rPr lang="en-US" dirty="0">
                <a:hlinkClick r:id="rId2"/>
              </a:rPr>
              <a:t>DFA</a:t>
            </a:r>
            <a:r>
              <a:rPr lang="en-US" dirty="0"/>
              <a:t> and </a:t>
            </a:r>
            <a:r>
              <a:rPr lang="en-US" dirty="0">
                <a:hlinkClick r:id="rId3"/>
              </a:rPr>
              <a:t>NFA</a:t>
            </a:r>
            <a:r>
              <a:rPr lang="en-US" dirty="0"/>
              <a:t>).</a:t>
            </a:r>
          </a:p>
          <a:p>
            <a:pPr fontAlgn="base"/>
            <a:r>
              <a:rPr lang="en-US" b="1" dirty="0"/>
              <a:t>Compiler Design:</a:t>
            </a:r>
            <a:r>
              <a:rPr lang="en-US" dirty="0"/>
              <a:t> Used in lexical analysis to tokenize input strings during compilation.</a:t>
            </a:r>
          </a:p>
          <a:p>
            <a:pPr fontAlgn="base"/>
            <a:r>
              <a:rPr lang="en-US" b="1" dirty="0"/>
              <a:t>Automata Conversion:</a:t>
            </a:r>
            <a:r>
              <a:rPr lang="en-US" dirty="0"/>
              <a:t> Enable conversion between regular expressions and finite automata for language recognition.</a:t>
            </a:r>
          </a:p>
          <a:p>
            <a:pPr fontAlgn="base"/>
            <a:r>
              <a:rPr lang="en-US" b="1" dirty="0"/>
              <a:t>Theoretical Analysis:</a:t>
            </a:r>
            <a:r>
              <a:rPr lang="en-US" dirty="0"/>
              <a:t> Help analyze and prove properties of languages within formal language theory.</a:t>
            </a:r>
          </a:p>
          <a:p>
            <a:endParaRPr lang="en-US" dirty="0"/>
          </a:p>
        </p:txBody>
      </p:sp>
    </p:spTree>
    <p:extLst>
      <p:ext uri="{BB962C8B-B14F-4D97-AF65-F5344CB8AC3E}">
        <p14:creationId xmlns:p14="http://schemas.microsoft.com/office/powerpoint/2010/main" val="2790047373"/>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228600"/>
          </a:xfrm>
        </p:spPr>
        <p:txBody>
          <a:bodyPr>
            <a:normAutofit fontScale="90000"/>
          </a:bodyPr>
          <a:lstStyle/>
          <a:p>
            <a:r>
              <a:rPr lang="en-US" b="1" dirty="0"/>
              <a:t>Category 1: Basic Regular Expressions</a:t>
            </a:r>
            <a:r>
              <a:rPr lang="en-US" dirty="0"/>
              <a:t/>
            </a:r>
            <a:br>
              <a:rPr lang="en-US" dirty="0"/>
            </a:br>
            <a:endParaRPr lang="en-US" dirty="0"/>
          </a:p>
        </p:txBody>
      </p:sp>
      <p:sp>
        <p:nvSpPr>
          <p:cNvPr id="3" name="Content Placeholder 2"/>
          <p:cNvSpPr>
            <a:spLocks noGrp="1"/>
          </p:cNvSpPr>
          <p:nvPr>
            <p:ph idx="1"/>
          </p:nvPr>
        </p:nvSpPr>
        <p:spPr/>
        <p:txBody>
          <a:bodyPr/>
          <a:lstStyle/>
          <a:p>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19138"/>
            <a:ext cx="9144000" cy="613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4929949"/>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26" y="152400"/>
            <a:ext cx="8964974" cy="6520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665901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prstGeom prst="rect">
            <a:avLst/>
          </a:prstGeom>
        </p:spPr>
        <p:txBody>
          <a:bodyPr wrap="none">
            <a:spAutoFit/>
          </a:bodyPr>
          <a:lstStyle/>
          <a:p>
            <a:r>
              <a:rPr lang="en-US" u="sng" dirty="0"/>
              <a:t>Example 1.1: Regular Expression = a</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7696200" cy="5296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519364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u="sng" dirty="0"/>
              <a:t>Example 1.2: Regular Expression = </a:t>
            </a:r>
            <a:r>
              <a:rPr lang="en-US" u="sng" dirty="0" err="1"/>
              <a:t>ab</a:t>
            </a:r>
            <a:r>
              <a:rPr lang="en-US" u="sng" dirty="0"/>
              <a:t/>
            </a:r>
            <a:br>
              <a:rPr lang="en-US" u="sng" dirty="0"/>
            </a:br>
            <a:endParaRPr lang="en-US"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838200"/>
            <a:ext cx="7853362" cy="5701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003945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3200" u="sng" dirty="0"/>
              <a:t>Example 1.3: Regular Expression = (</a:t>
            </a:r>
            <a:r>
              <a:rPr lang="en-US" sz="3200" u="sng" dirty="0" err="1"/>
              <a:t>a+b</a:t>
            </a:r>
            <a:r>
              <a:rPr lang="en-US" sz="3200" u="sng" dirty="0"/>
              <a:t>)</a:t>
            </a:r>
            <a:br>
              <a:rPr lang="en-US" sz="3200" u="sng" dirty="0"/>
            </a:br>
            <a:endParaRPr lang="en-US" sz="3200"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914400"/>
            <a:ext cx="7629525" cy="5662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793165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u="sng" dirty="0"/>
              <a:t>Example 1.4: Regular Expression = (a)*</a:t>
            </a:r>
            <a:br>
              <a:rPr lang="en-US" sz="2800" u="sng" dirty="0"/>
            </a:br>
            <a:endParaRPr lang="en-US" sz="2800" dirty="0"/>
          </a:p>
        </p:txBody>
      </p:sp>
      <p:sp>
        <p:nvSpPr>
          <p:cNvPr id="3" name="Content Placeholder 2"/>
          <p:cNvSpPr>
            <a:spLocks noGrp="1"/>
          </p:cNvSpPr>
          <p:nvPr>
            <p:ph idx="1"/>
          </p:nvPr>
        </p:nvSpPr>
        <p:spPr/>
        <p:txBody>
          <a:bodyPr/>
          <a:lstStyle/>
          <a:p>
            <a:endParaRPr lang="en-US"/>
          </a:p>
        </p:txBody>
      </p:sp>
      <p:pic>
        <p:nvPicPr>
          <p:cNvPr id="7170" name="Picture 2" descr="Basic Example 2 - Regular Expression Explan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83058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853264"/>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3200" u="sng" dirty="0"/>
              <a:t>Example 1.5: Regular Expression = (</a:t>
            </a:r>
            <a:r>
              <a:rPr lang="en-US" sz="3200" u="sng" dirty="0" err="1"/>
              <a:t>ab</a:t>
            </a:r>
            <a:r>
              <a:rPr lang="en-US" sz="3200" u="sng" dirty="0"/>
              <a:t>)*</a:t>
            </a:r>
            <a:br>
              <a:rPr lang="en-US" sz="3200" u="sng" dirty="0"/>
            </a:br>
            <a:endParaRPr lang="en-US" sz="3200" dirty="0"/>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838199"/>
            <a:ext cx="7848600" cy="6012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309649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200" u="sng" dirty="0"/>
              <a:t>Example 1.6: Regular Expression = (</a:t>
            </a:r>
            <a:r>
              <a:rPr lang="en-US" sz="3200" u="sng" dirty="0" err="1"/>
              <a:t>a+b</a:t>
            </a:r>
            <a:r>
              <a:rPr lang="en-US" sz="3200" u="sng" dirty="0"/>
              <a:t>)*</a:t>
            </a:r>
            <a:br>
              <a:rPr lang="en-US" sz="3200" u="sng" dirty="0"/>
            </a:br>
            <a:endParaRPr lang="en-US" sz="3200" dirty="0"/>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762000"/>
            <a:ext cx="8869794"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969409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200" b="1" dirty="0"/>
              <a:t>Category 2: Start with Regular Expressions</a:t>
            </a:r>
            <a:r>
              <a:rPr lang="en-US" sz="3200" dirty="0"/>
              <a:t/>
            </a:r>
            <a:br>
              <a:rPr lang="en-US" sz="3200" dirty="0"/>
            </a:br>
            <a:endParaRPr lang="en-US" sz="3200" dirty="0"/>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826233"/>
            <a:ext cx="8686800" cy="6031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0627775"/>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9600"/>
            <a:ext cx="9150927"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055072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u="sng" dirty="0"/>
              <a:t>Example 2.1: Regular Expression = a(</a:t>
            </a:r>
            <a:r>
              <a:rPr lang="en-US" sz="3200" u="sng" dirty="0" err="1"/>
              <a:t>a+b</a:t>
            </a:r>
            <a:r>
              <a:rPr lang="en-US" sz="3200" u="sng" dirty="0"/>
              <a:t>)*</a:t>
            </a:r>
            <a:br>
              <a:rPr lang="en-US" sz="3200" u="sng" dirty="0"/>
            </a:br>
            <a:endParaRPr lang="en-US" sz="3200" dirty="0"/>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5070" y="2286000"/>
            <a:ext cx="8690330" cy="430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a:spLocks noChangeArrowheads="1"/>
          </p:cNvSpPr>
          <p:nvPr/>
        </p:nvSpPr>
        <p:spPr bwMode="auto">
          <a:xfrm>
            <a:off x="231997" y="1143000"/>
            <a:ext cx="8835803" cy="9541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000000"/>
                </a:solidFill>
                <a:effectLst/>
                <a:latin typeface="Lato"/>
                <a:cs typeface="Arial" pitchFamily="34" charset="0"/>
              </a:rPr>
              <a:t>The following figure shows all possible strings that can be derived from  RE = </a:t>
            </a:r>
            <a:r>
              <a:rPr kumimoji="0" lang="en-US" sz="2800" b="0" i="0" u="none" strike="noStrike" cap="none" normalizeH="0" baseline="0" dirty="0" smtClean="0">
                <a:ln>
                  <a:noFill/>
                </a:ln>
                <a:solidFill>
                  <a:srgbClr val="000000"/>
                </a:solidFill>
                <a:effectLst/>
                <a:latin typeface="Courier New" pitchFamily="49" charset="0"/>
                <a:cs typeface="Courier New" pitchFamily="49" charset="0"/>
              </a:rPr>
              <a:t>a(</a:t>
            </a:r>
            <a:r>
              <a:rPr kumimoji="0" lang="en-US" sz="2800" b="0" i="0" u="none" strike="noStrike" cap="none" normalizeH="0" baseline="0" dirty="0" err="1" smtClean="0">
                <a:ln>
                  <a:noFill/>
                </a:ln>
                <a:solidFill>
                  <a:srgbClr val="000000"/>
                </a:solidFill>
                <a:effectLst/>
                <a:latin typeface="Courier New" pitchFamily="49" charset="0"/>
                <a:cs typeface="Courier New" pitchFamily="49" charset="0"/>
              </a:rPr>
              <a:t>a+b</a:t>
            </a:r>
            <a:r>
              <a:rPr kumimoji="0" lang="en-US" sz="2800" b="0" i="0" u="none" strike="noStrike" cap="none" normalizeH="0" baseline="0" dirty="0" smtClean="0">
                <a:ln>
                  <a:noFill/>
                </a:ln>
                <a:solidFill>
                  <a:srgbClr val="000000"/>
                </a:solidFill>
                <a:effectLst/>
                <a:latin typeface="Courier New" pitchFamily="49" charset="0"/>
                <a:cs typeface="Courier New" pitchFamily="49" charset="0"/>
              </a:rPr>
              <a:t>)*</a:t>
            </a:r>
            <a:r>
              <a:rPr kumimoji="0" lang="en-US" sz="1400" b="0" i="0" u="none" strike="noStrike" cap="none" normalizeH="0" baseline="0" dirty="0" smtClean="0">
                <a:ln>
                  <a:noFill/>
                </a:ln>
                <a:solidFill>
                  <a:schemeClr val="tx1"/>
                </a:solidFill>
                <a:effectLst/>
                <a:latin typeface="Arial" pitchFamily="34" charset="0"/>
                <a:cs typeface="Arial" pitchFamily="34" charset="0"/>
              </a:rPr>
              <a:t> </a:t>
            </a:r>
            <a:endParaRPr kumimoji="0" lang="en-US" sz="40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8007152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7630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958469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200" u="sng" dirty="0"/>
              <a:t>Example 2.2: Regular Expression = 101*(0+1)*</a:t>
            </a:r>
            <a:br>
              <a:rPr lang="en-US" sz="3200" u="sng" dirty="0"/>
            </a:br>
            <a:endParaRPr lang="en-US" sz="3200" dirty="0"/>
          </a:p>
        </p:txBody>
      </p:sp>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990600"/>
            <a:ext cx="8779481"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3739869"/>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763000" cy="6736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6766811"/>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200" u="sng" dirty="0"/>
              <a:t>Example 2.3: Regular Expression = </a:t>
            </a:r>
            <a:r>
              <a:rPr lang="en-US" sz="3200" u="sng" dirty="0" err="1"/>
              <a:t>bab</a:t>
            </a:r>
            <a:r>
              <a:rPr lang="en-US" sz="3200" u="sng" dirty="0"/>
              <a:t>(</a:t>
            </a:r>
            <a:r>
              <a:rPr lang="en-US" sz="3200" u="sng" dirty="0" err="1"/>
              <a:t>a+b</a:t>
            </a:r>
            <a:r>
              <a:rPr lang="en-US" sz="3200" u="sng" dirty="0"/>
              <a:t>)*</a:t>
            </a:r>
            <a:br>
              <a:rPr lang="en-US" sz="3200" u="sng" dirty="0"/>
            </a:br>
            <a:endParaRPr lang="en-US" sz="3200" dirty="0"/>
          </a:p>
        </p:txBody>
      </p:sp>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914400"/>
            <a:ext cx="8479061"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551515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52400"/>
            <a:ext cx="89154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1827877"/>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3200" b="1" dirty="0"/>
              <a:t>Category 3: End with Regular Expressions</a:t>
            </a:r>
            <a:r>
              <a:rPr lang="en-US" sz="3200" dirty="0"/>
              <a:t/>
            </a:r>
            <a:br>
              <a:rPr lang="en-US" sz="3200" dirty="0"/>
            </a:br>
            <a:endParaRPr lang="en-US" sz="3200" dirty="0"/>
          </a:p>
        </p:txBody>
      </p:sp>
      <p:sp>
        <p:nvSpPr>
          <p:cNvPr id="3" name="Content Placeholder 2"/>
          <p:cNvSpPr>
            <a:spLocks noGrp="1"/>
          </p:cNvSpPr>
          <p:nvPr>
            <p:ph idx="1"/>
          </p:nvPr>
        </p:nvSpPr>
        <p:spPr/>
        <p:txBody>
          <a:bodyPr/>
          <a:lstStyle/>
          <a:p>
            <a:endParaRPr lang="en-US"/>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85800"/>
            <a:ext cx="88392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9267243"/>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3200" u="sng" dirty="0"/>
              <a:t>Example 3.1: Regular Expression = (</a:t>
            </a:r>
            <a:r>
              <a:rPr lang="en-US" sz="3200" u="sng" dirty="0" err="1"/>
              <a:t>a+b+c+d</a:t>
            </a:r>
            <a:r>
              <a:rPr lang="en-US" sz="3200" u="sng" dirty="0"/>
              <a:t>)*</a:t>
            </a:r>
            <a:r>
              <a:rPr lang="en-US" sz="3200" u="sng" dirty="0" err="1"/>
              <a:t>ab</a:t>
            </a:r>
            <a:r>
              <a:rPr lang="en-US" sz="3200" u="sng" dirty="0"/>
              <a:t/>
            </a:r>
            <a:br>
              <a:rPr lang="en-US" sz="3200" u="sng" dirty="0"/>
            </a:br>
            <a:endParaRPr lang="en-US" sz="3200" dirty="0"/>
          </a:p>
        </p:txBody>
      </p:sp>
      <p:sp>
        <p:nvSpPr>
          <p:cNvPr id="3" name="Content Placeholder 2"/>
          <p:cNvSpPr>
            <a:spLocks noGrp="1"/>
          </p:cNvSpPr>
          <p:nvPr>
            <p:ph idx="1"/>
          </p:nvPr>
        </p:nvSpPr>
        <p:spPr/>
        <p:txBody>
          <a:bodyPr/>
          <a:lstStyle/>
          <a:p>
            <a:endParaRPr lang="en-US"/>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990600"/>
            <a:ext cx="8839200" cy="5410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0235042"/>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 y="228600"/>
            <a:ext cx="8915367"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913640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u="sng" dirty="0"/>
              <a:t>Example 3.2: Regular Expression = (</a:t>
            </a:r>
            <a:r>
              <a:rPr lang="en-US" sz="3200" u="sng" dirty="0" err="1"/>
              <a:t>aaa+bbb</a:t>
            </a:r>
            <a:r>
              <a:rPr lang="en-US" sz="3200" u="sng" dirty="0"/>
              <a:t>)*</a:t>
            </a:r>
            <a:r>
              <a:rPr lang="en-US" sz="3200" u="sng" dirty="0" err="1"/>
              <a:t>ba</a:t>
            </a:r>
            <a:r>
              <a:rPr lang="en-US" sz="3200" u="sng" dirty="0"/>
              <a:t/>
            </a:r>
            <a:br>
              <a:rPr lang="en-US" sz="3200" u="sng" dirty="0"/>
            </a:br>
            <a:endParaRPr lang="en-US" sz="3200" dirty="0"/>
          </a:p>
        </p:txBody>
      </p:sp>
      <p:pic>
        <p:nvPicPr>
          <p:cNvPr id="2150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3371" y="1447800"/>
            <a:ext cx="8639629"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7725129"/>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253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9007447"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309178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u="sng" dirty="0"/>
              <a:t>Example 3.3: Regular Expression = (</a:t>
            </a:r>
            <a:r>
              <a:rPr lang="en-US" sz="3200" u="sng" dirty="0" err="1"/>
              <a:t>a+b+c</a:t>
            </a:r>
            <a:r>
              <a:rPr lang="en-US" sz="3200" u="sng" dirty="0"/>
              <a:t>)*</a:t>
            </a:r>
            <a:r>
              <a:rPr lang="en-US" sz="3200" u="sng" dirty="0" err="1"/>
              <a:t>abc</a:t>
            </a:r>
            <a:r>
              <a:rPr lang="en-US" sz="3200" u="sng" dirty="0"/>
              <a:t/>
            </a:r>
            <a:br>
              <a:rPr lang="en-US" sz="3200" u="sng" dirty="0"/>
            </a:br>
            <a:endParaRPr lang="en-US" sz="3200" dirty="0"/>
          </a:p>
        </p:txBody>
      </p:sp>
      <p:pic>
        <p:nvPicPr>
          <p:cNvPr id="2355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990600"/>
            <a:ext cx="88392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810464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457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782" y="169936"/>
            <a:ext cx="8991600" cy="6667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937537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en-US" sz="2800" b="1" dirty="0"/>
              <a:t>Category 4: Start and End with Regular Expressions</a:t>
            </a:r>
            <a:r>
              <a:rPr lang="en-US" sz="2800" dirty="0"/>
              <a:t/>
            </a:r>
            <a:br>
              <a:rPr lang="en-US" sz="2800" dirty="0"/>
            </a:br>
            <a:endParaRPr lang="en-US" sz="2800" dirty="0"/>
          </a:p>
        </p:txBody>
      </p:sp>
      <p:pic>
        <p:nvPicPr>
          <p:cNvPr id="2560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38200"/>
            <a:ext cx="91440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168378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u="sng" dirty="0"/>
              <a:t>Example 4.1: Regular Expression = 1(1+0)*1 + 0(1+0)*0</a:t>
            </a:r>
            <a:br>
              <a:rPr lang="en-US" sz="2800" u="sng" dirty="0"/>
            </a:br>
            <a:endParaRPr lang="en-US" sz="2800" dirty="0"/>
          </a:p>
        </p:txBody>
      </p:sp>
      <p:pic>
        <p:nvPicPr>
          <p:cNvPr id="266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15" y="1066800"/>
            <a:ext cx="9108553"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083144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76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0"/>
            <a:ext cx="9093565"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8626897"/>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u="sng" dirty="0"/>
              <a:t>Example 4.2: Regular Expression = 11(0+1)(00)</a:t>
            </a:r>
            <a:br>
              <a:rPr lang="en-US" sz="3200" u="sng" dirty="0"/>
            </a:br>
            <a:endParaRPr lang="en-US" sz="3200" dirty="0"/>
          </a:p>
        </p:txBody>
      </p:sp>
      <p:pic>
        <p:nvPicPr>
          <p:cNvPr id="286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08" y="990600"/>
            <a:ext cx="8887691"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722555"/>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96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52400"/>
            <a:ext cx="89154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9280173"/>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Regular Expressions in TOC</a:t>
            </a:r>
            <a:r>
              <a:rPr lang="en-US" dirty="0"/>
              <a:t/>
            </a:r>
            <a:br>
              <a:rPr lang="en-US" dirty="0"/>
            </a:br>
            <a:endParaRPr lang="en-US" dirty="0"/>
          </a:p>
        </p:txBody>
      </p:sp>
      <p:sp>
        <p:nvSpPr>
          <p:cNvPr id="3" name="Content Placeholder 2"/>
          <p:cNvSpPr>
            <a:spLocks noGrp="1"/>
          </p:cNvSpPr>
          <p:nvPr>
            <p:ph idx="1"/>
          </p:nvPr>
        </p:nvSpPr>
        <p:spPr/>
        <p:txBody>
          <a:bodyPr/>
          <a:lstStyle/>
          <a:p>
            <a:pPr marL="571500" indent="-571500">
              <a:buAutoNum type="romanUcPeriod"/>
            </a:pPr>
            <a:r>
              <a:rPr lang="en-US" b="1" u="sng" dirty="0" smtClean="0"/>
              <a:t>Finite </a:t>
            </a:r>
            <a:r>
              <a:rPr lang="en-US" b="1" u="sng" dirty="0"/>
              <a:t>Regular </a:t>
            </a:r>
            <a:r>
              <a:rPr lang="en-US" b="1" u="sng" dirty="0" smtClean="0"/>
              <a:t>Expressions</a:t>
            </a:r>
          </a:p>
          <a:p>
            <a:pPr marL="0" indent="0">
              <a:buNone/>
            </a:pPr>
            <a:r>
              <a:rPr lang="en-US" b="1" u="sng" dirty="0"/>
              <a:t>II. Infinite Regular Expressions</a:t>
            </a:r>
            <a:endParaRPr lang="en-US" u="sng" dirty="0"/>
          </a:p>
          <a:p>
            <a:pPr marL="0" indent="0">
              <a:buNone/>
            </a:pPr>
            <a:r>
              <a:rPr lang="en-US" dirty="0" smtClean="0"/>
              <a:t/>
            </a:r>
            <a:br>
              <a:rPr lang="en-US" dirty="0" smtClean="0"/>
            </a:br>
            <a:endParaRPr lang="en-US" u="sng" dirty="0"/>
          </a:p>
          <a:p>
            <a:endParaRPr lang="en-US" dirty="0"/>
          </a:p>
        </p:txBody>
      </p:sp>
    </p:spTree>
    <p:extLst>
      <p:ext uri="{BB962C8B-B14F-4D97-AF65-F5344CB8AC3E}">
        <p14:creationId xmlns:p14="http://schemas.microsoft.com/office/powerpoint/2010/main" val="3024807539"/>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639762"/>
          </a:xfrm>
        </p:spPr>
        <p:txBody>
          <a:bodyPr>
            <a:normAutofit/>
          </a:bodyPr>
          <a:lstStyle/>
          <a:p>
            <a:r>
              <a:rPr lang="en-US" sz="3200" dirty="0" smtClean="0"/>
              <a:t>Examples of Finite Regular Expression</a:t>
            </a:r>
            <a:endParaRPr lang="en-US" sz="3200" dirty="0"/>
          </a:p>
        </p:txBody>
      </p:sp>
      <p:sp>
        <p:nvSpPr>
          <p:cNvPr id="3" name="Content Placeholder 2"/>
          <p:cNvSpPr>
            <a:spLocks noGrp="1"/>
          </p:cNvSpPr>
          <p:nvPr>
            <p:ph idx="4294967295"/>
          </p:nvPr>
        </p:nvSpPr>
        <p:spPr>
          <a:xfrm>
            <a:off x="0" y="838200"/>
            <a:ext cx="8229600" cy="5943600"/>
          </a:xfrm>
        </p:spPr>
        <p:txBody>
          <a:bodyPr>
            <a:noAutofit/>
          </a:bodyPr>
          <a:lstStyle/>
          <a:p>
            <a:r>
              <a:rPr lang="en-US" sz="2500" b="1" dirty="0"/>
              <a:t>Example 01: </a:t>
            </a:r>
            <a:r>
              <a:rPr lang="en-US" sz="2500" dirty="0"/>
              <a:t>Write the regular expression for the language </a:t>
            </a:r>
            <a:r>
              <a:rPr lang="en-US" sz="2500" b="1" dirty="0"/>
              <a:t>which has no string.</a:t>
            </a:r>
            <a:endParaRPr lang="en-US" sz="2500" dirty="0"/>
          </a:p>
          <a:p>
            <a:r>
              <a:rPr lang="en-US" sz="2500" b="1" dirty="0"/>
              <a:t>Solution: </a:t>
            </a:r>
            <a:r>
              <a:rPr lang="en-US" sz="2500" dirty="0"/>
              <a:t>Language for the given example is given below</a:t>
            </a:r>
          </a:p>
          <a:p>
            <a:r>
              <a:rPr lang="en-US" sz="2500" dirty="0"/>
              <a:t>L = { } //empty string</a:t>
            </a:r>
            <a:endParaRPr lang="en-US" sz="2500" dirty="0" smtClean="0">
              <a:effectLst/>
            </a:endParaRPr>
          </a:p>
          <a:p>
            <a:r>
              <a:rPr lang="en-US" sz="2500" dirty="0"/>
              <a:t>Regular expression for the above language is given below</a:t>
            </a:r>
          </a:p>
          <a:p>
            <a:r>
              <a:rPr lang="en-US" sz="2500" dirty="0"/>
              <a:t>L(R) = Φ</a:t>
            </a:r>
            <a:endParaRPr lang="en-US" sz="2500" dirty="0" smtClean="0">
              <a:effectLst/>
            </a:endParaRPr>
          </a:p>
          <a:p>
            <a:r>
              <a:rPr lang="en-US" sz="2500" b="1" dirty="0"/>
              <a:t>Example 02: </a:t>
            </a:r>
            <a:r>
              <a:rPr lang="en-US" sz="2500" dirty="0"/>
              <a:t>Write the regular expression for the language </a:t>
            </a:r>
            <a:r>
              <a:rPr lang="en-US" sz="2500" b="1" dirty="0"/>
              <a:t>with a string with zero length.</a:t>
            </a:r>
            <a:endParaRPr lang="en-US" sz="2500" dirty="0"/>
          </a:p>
          <a:p>
            <a:r>
              <a:rPr lang="en-US" sz="2500" b="1" dirty="0"/>
              <a:t>Solution: </a:t>
            </a:r>
            <a:r>
              <a:rPr lang="en-US" sz="2500" dirty="0"/>
              <a:t>Language for the given example is given below</a:t>
            </a:r>
          </a:p>
          <a:p>
            <a:r>
              <a:rPr lang="en-US" sz="2500" dirty="0"/>
              <a:t>L = { ε } //single string</a:t>
            </a:r>
            <a:endParaRPr lang="en-US" sz="2500" dirty="0" smtClean="0">
              <a:effectLst/>
            </a:endParaRPr>
          </a:p>
          <a:p>
            <a:r>
              <a:rPr lang="en-US" sz="2500" dirty="0"/>
              <a:t>Regular expression for the above language is given below</a:t>
            </a:r>
          </a:p>
          <a:p>
            <a:r>
              <a:rPr lang="en-US" sz="2500" dirty="0"/>
              <a:t>L(R) = </a:t>
            </a:r>
            <a:r>
              <a:rPr lang="en-US" sz="2500" dirty="0" smtClean="0"/>
              <a:t>ε</a:t>
            </a:r>
            <a:endParaRPr lang="en-US" sz="2500" dirty="0" smtClean="0">
              <a:effectLst/>
            </a:endParaRPr>
          </a:p>
        </p:txBody>
      </p:sp>
    </p:spTree>
    <p:extLst>
      <p:ext uri="{BB962C8B-B14F-4D97-AF65-F5344CB8AC3E}">
        <p14:creationId xmlns:p14="http://schemas.microsoft.com/office/powerpoint/2010/main" val="2466564736"/>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r>
              <a:rPr lang="en-US" sz="2500" b="1" dirty="0" smtClean="0"/>
              <a:t>Example 03: </a:t>
            </a:r>
            <a:r>
              <a:rPr lang="en-US" sz="2500" dirty="0" smtClean="0"/>
              <a:t>Write the regular expression for the language </a:t>
            </a:r>
            <a:r>
              <a:rPr lang="en-US" sz="2500" b="1" dirty="0" smtClean="0"/>
              <a:t>with a string with a single length over </a:t>
            </a:r>
            <a:r>
              <a:rPr lang="en-US" sz="2500" dirty="0" smtClean="0"/>
              <a:t>∑ = {a, b}.</a:t>
            </a:r>
          </a:p>
          <a:p>
            <a:r>
              <a:rPr lang="en-US" sz="2500" b="1" dirty="0" smtClean="0"/>
              <a:t>Solution: </a:t>
            </a:r>
            <a:r>
              <a:rPr lang="en-US" sz="2500" dirty="0" smtClean="0"/>
              <a:t>Language for the given example is given below</a:t>
            </a:r>
          </a:p>
          <a:p>
            <a:r>
              <a:rPr lang="en-US" sz="2500" dirty="0" smtClean="0"/>
              <a:t>L = { </a:t>
            </a:r>
            <a:r>
              <a:rPr lang="en-US" sz="2500" dirty="0" err="1" smtClean="0"/>
              <a:t>a,b</a:t>
            </a:r>
            <a:r>
              <a:rPr lang="en-US" sz="2500" dirty="0" smtClean="0"/>
              <a:t> } //string with single length</a:t>
            </a:r>
            <a:endParaRPr lang="en-US" sz="2500" dirty="0" smtClean="0">
              <a:effectLst/>
            </a:endParaRPr>
          </a:p>
          <a:p>
            <a:r>
              <a:rPr lang="en-US" sz="2500" dirty="0" smtClean="0"/>
              <a:t>A regular expression for the above language is given below</a:t>
            </a:r>
          </a:p>
          <a:p>
            <a:r>
              <a:rPr lang="en-US" sz="2500" dirty="0" smtClean="0"/>
              <a:t>L(R) = (</a:t>
            </a:r>
            <a:r>
              <a:rPr lang="en-US" sz="2500" dirty="0" err="1" smtClean="0"/>
              <a:t>a+b</a:t>
            </a:r>
            <a:r>
              <a:rPr lang="en-US" sz="2500" dirty="0" smtClean="0"/>
              <a:t>)</a:t>
            </a:r>
          </a:p>
          <a:p>
            <a:r>
              <a:rPr lang="en-US" sz="2500" b="1" dirty="0"/>
              <a:t>Example 04: </a:t>
            </a:r>
            <a:r>
              <a:rPr lang="en-US" sz="2500" dirty="0"/>
              <a:t>Write the regular expression for the language </a:t>
            </a:r>
            <a:r>
              <a:rPr lang="en-US" sz="2500" b="1" dirty="0"/>
              <a:t>with a string with the length of two over </a:t>
            </a:r>
            <a:r>
              <a:rPr lang="en-US" sz="2500" dirty="0"/>
              <a:t>∑ = {a, b}.</a:t>
            </a:r>
          </a:p>
          <a:p>
            <a:r>
              <a:rPr lang="en-US" sz="2500" b="1" dirty="0"/>
              <a:t>Solution: </a:t>
            </a:r>
            <a:r>
              <a:rPr lang="en-US" sz="2500" dirty="0"/>
              <a:t>Language for the given example is given below</a:t>
            </a:r>
          </a:p>
          <a:p>
            <a:r>
              <a:rPr lang="en-US" sz="2500" dirty="0"/>
              <a:t>L =  (</a:t>
            </a:r>
            <a:r>
              <a:rPr lang="en-US" sz="2500" dirty="0" err="1"/>
              <a:t>a,b</a:t>
            </a:r>
            <a:r>
              <a:rPr lang="en-US" sz="2500" dirty="0"/>
              <a:t>).(</a:t>
            </a:r>
            <a:r>
              <a:rPr lang="en-US" sz="2500" dirty="0" err="1"/>
              <a:t>a,b</a:t>
            </a:r>
            <a:r>
              <a:rPr lang="en-US" sz="2500" dirty="0"/>
              <a:t>) = { </a:t>
            </a:r>
            <a:r>
              <a:rPr lang="en-US" sz="2500" dirty="0" err="1"/>
              <a:t>aa,ab,ba,bb</a:t>
            </a:r>
            <a:r>
              <a:rPr lang="en-US" sz="2500" dirty="0"/>
              <a:t> } //string with length of two</a:t>
            </a:r>
            <a:endParaRPr lang="en-US" sz="2500" dirty="0" smtClean="0">
              <a:effectLst/>
            </a:endParaRPr>
          </a:p>
          <a:p>
            <a:r>
              <a:rPr lang="en-US" sz="2500" dirty="0"/>
              <a:t>A regular expression for the above language is given below</a:t>
            </a:r>
          </a:p>
          <a:p>
            <a:r>
              <a:rPr lang="en-US" sz="2500" dirty="0"/>
              <a:t>L(R) = (</a:t>
            </a:r>
            <a:r>
              <a:rPr lang="en-US" sz="2500" dirty="0" err="1"/>
              <a:t>aa+ab+ba+bb</a:t>
            </a:r>
            <a:r>
              <a:rPr lang="en-US" sz="2500" dirty="0"/>
              <a:t>)</a:t>
            </a:r>
            <a:endParaRPr lang="en-US" sz="2500" dirty="0" smtClean="0">
              <a:effectLst/>
            </a:endParaRPr>
          </a:p>
          <a:p>
            <a:endParaRPr lang="en-US" sz="2500" dirty="0" smtClean="0">
              <a:effectLst/>
            </a:endParaRPr>
          </a:p>
          <a:p>
            <a:endParaRPr lang="en-US" sz="2500" dirty="0" smtClean="0"/>
          </a:p>
          <a:p>
            <a:endParaRPr lang="en-US" sz="2500" dirty="0"/>
          </a:p>
        </p:txBody>
      </p:sp>
    </p:spTree>
    <p:extLst>
      <p:ext uri="{BB962C8B-B14F-4D97-AF65-F5344CB8AC3E}">
        <p14:creationId xmlns:p14="http://schemas.microsoft.com/office/powerpoint/2010/main" val="236850590"/>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334000"/>
          </a:xfrm>
        </p:spPr>
        <p:txBody>
          <a:bodyPr>
            <a:normAutofit fontScale="77500" lnSpcReduction="20000"/>
          </a:bodyPr>
          <a:lstStyle/>
          <a:p>
            <a:r>
              <a:rPr lang="en-US" b="1" dirty="0"/>
              <a:t>Example 01: </a:t>
            </a:r>
            <a:r>
              <a:rPr lang="en-US" dirty="0"/>
              <a:t>Write the regular expression for the language that accepts all the strings having all combinations of a’s over ∑ = {a}.</a:t>
            </a:r>
          </a:p>
          <a:p>
            <a:r>
              <a:rPr lang="en-US" b="1" dirty="0"/>
              <a:t>Solution: </a:t>
            </a:r>
            <a:r>
              <a:rPr lang="en-US" dirty="0"/>
              <a:t>Language for the given example is given below</a:t>
            </a:r>
          </a:p>
          <a:p>
            <a:r>
              <a:rPr lang="en-US" dirty="0"/>
              <a:t>L = { ε, a, </a:t>
            </a:r>
            <a:r>
              <a:rPr lang="en-US" dirty="0" err="1"/>
              <a:t>aa</a:t>
            </a:r>
            <a:r>
              <a:rPr lang="en-US" dirty="0"/>
              <a:t>, </a:t>
            </a:r>
            <a:r>
              <a:rPr lang="en-US" dirty="0" err="1"/>
              <a:t>aaa</a:t>
            </a:r>
            <a:r>
              <a:rPr lang="en-US" dirty="0"/>
              <a:t>, </a:t>
            </a:r>
            <a:r>
              <a:rPr lang="en-US" dirty="0" err="1"/>
              <a:t>aaaa</a:t>
            </a:r>
            <a:r>
              <a:rPr lang="en-US" dirty="0"/>
              <a:t>, </a:t>
            </a:r>
            <a:r>
              <a:rPr lang="en-US" dirty="0" err="1"/>
              <a:t>aaaaa</a:t>
            </a:r>
            <a:r>
              <a:rPr lang="en-US" dirty="0"/>
              <a:t>, ……….. }</a:t>
            </a:r>
            <a:endParaRPr lang="en-US" dirty="0" smtClean="0">
              <a:effectLst/>
            </a:endParaRPr>
          </a:p>
          <a:p>
            <a:r>
              <a:rPr lang="en-US" dirty="0"/>
              <a:t>A regular expression for the above language is given below</a:t>
            </a:r>
          </a:p>
          <a:p>
            <a:r>
              <a:rPr lang="en-US" dirty="0"/>
              <a:t>L(R) = a*</a:t>
            </a:r>
            <a:endParaRPr lang="en-US" dirty="0" smtClean="0">
              <a:effectLst/>
            </a:endParaRPr>
          </a:p>
          <a:p>
            <a:r>
              <a:rPr lang="en-US" b="1" dirty="0"/>
              <a:t>Example 02: </a:t>
            </a:r>
            <a:r>
              <a:rPr lang="en-US" dirty="0"/>
              <a:t>Write the regular expression for the language that accepts all the strings having all combinations of a’s except the null string over ∑ = {a}.</a:t>
            </a:r>
          </a:p>
          <a:p>
            <a:r>
              <a:rPr lang="en-US" b="1" dirty="0"/>
              <a:t>Solution: </a:t>
            </a:r>
            <a:r>
              <a:rPr lang="en-US" dirty="0"/>
              <a:t>Language for the given example is given below</a:t>
            </a:r>
          </a:p>
          <a:p>
            <a:r>
              <a:rPr lang="en-US" dirty="0"/>
              <a:t>L = {a, </a:t>
            </a:r>
            <a:r>
              <a:rPr lang="en-US" dirty="0" err="1"/>
              <a:t>aa</a:t>
            </a:r>
            <a:r>
              <a:rPr lang="en-US" dirty="0"/>
              <a:t>, </a:t>
            </a:r>
            <a:r>
              <a:rPr lang="en-US" dirty="0" err="1"/>
              <a:t>aaa</a:t>
            </a:r>
            <a:r>
              <a:rPr lang="en-US" dirty="0"/>
              <a:t>, </a:t>
            </a:r>
            <a:r>
              <a:rPr lang="en-US" dirty="0" err="1"/>
              <a:t>aaaa</a:t>
            </a:r>
            <a:r>
              <a:rPr lang="en-US" dirty="0"/>
              <a:t>, </a:t>
            </a:r>
            <a:r>
              <a:rPr lang="en-US" dirty="0" err="1"/>
              <a:t>aaaaa</a:t>
            </a:r>
            <a:r>
              <a:rPr lang="en-US" dirty="0"/>
              <a:t>, ……….. }</a:t>
            </a:r>
            <a:endParaRPr lang="en-US" dirty="0" smtClean="0">
              <a:effectLst/>
            </a:endParaRPr>
          </a:p>
          <a:p>
            <a:r>
              <a:rPr lang="en-US" dirty="0"/>
              <a:t>A regular expression for the above language is given below</a:t>
            </a:r>
          </a:p>
          <a:p>
            <a:r>
              <a:rPr lang="en-US" dirty="0"/>
              <a:t>L(R) = a</a:t>
            </a:r>
            <a:r>
              <a:rPr lang="en-US" baseline="30000" dirty="0"/>
              <a:t>+</a:t>
            </a:r>
            <a:endParaRPr lang="en-US" dirty="0" smtClean="0">
              <a:effectLst/>
            </a:endParaRPr>
          </a:p>
          <a:p>
            <a:endParaRPr lang="en-US" dirty="0"/>
          </a:p>
        </p:txBody>
      </p:sp>
      <p:sp>
        <p:nvSpPr>
          <p:cNvPr id="4" name="Title 3"/>
          <p:cNvSpPr>
            <a:spLocks noGrp="1"/>
          </p:cNvSpPr>
          <p:nvPr>
            <p:ph type="title"/>
          </p:nvPr>
        </p:nvSpPr>
        <p:spPr>
          <a:xfrm>
            <a:off x="457200" y="274638"/>
            <a:ext cx="8229600" cy="715962"/>
          </a:xfrm>
        </p:spPr>
        <p:txBody>
          <a:bodyPr>
            <a:normAutofit/>
          </a:bodyPr>
          <a:lstStyle/>
          <a:p>
            <a:r>
              <a:rPr lang="en-US" sz="3200" dirty="0" smtClean="0"/>
              <a:t>Examples of Infinite Regular Expression</a:t>
            </a:r>
            <a:endParaRPr lang="en-US" sz="3200" dirty="0"/>
          </a:p>
        </p:txBody>
      </p:sp>
    </p:spTree>
    <p:extLst>
      <p:ext uri="{BB962C8B-B14F-4D97-AF65-F5344CB8AC3E}">
        <p14:creationId xmlns:p14="http://schemas.microsoft.com/office/powerpoint/2010/main" val="2365268945"/>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458200" cy="6324600"/>
          </a:xfrm>
        </p:spPr>
        <p:txBody>
          <a:bodyPr>
            <a:normAutofit fontScale="85000" lnSpcReduction="20000"/>
          </a:bodyPr>
          <a:lstStyle/>
          <a:p>
            <a:r>
              <a:rPr lang="en-US" b="1" dirty="0"/>
              <a:t>Example 03: </a:t>
            </a:r>
            <a:r>
              <a:rPr lang="en-US" dirty="0"/>
              <a:t>Write the regular expression for the language that accepts all the strings, which </a:t>
            </a:r>
            <a:r>
              <a:rPr lang="en-US" b="1" dirty="0"/>
              <a:t>has </a:t>
            </a:r>
            <a:r>
              <a:rPr lang="en-US" dirty="0"/>
              <a:t>any number of a’s and b’s </a:t>
            </a:r>
            <a:r>
              <a:rPr lang="en-US" b="1" dirty="0"/>
              <a:t>over</a:t>
            </a:r>
            <a:r>
              <a:rPr lang="en-US" dirty="0"/>
              <a:t> ∑ = {a, b}.</a:t>
            </a:r>
          </a:p>
          <a:p>
            <a:r>
              <a:rPr lang="en-US" b="1" dirty="0"/>
              <a:t>Solution: </a:t>
            </a:r>
            <a:r>
              <a:rPr lang="en-US" dirty="0"/>
              <a:t>Language for the given example is given below</a:t>
            </a:r>
          </a:p>
          <a:p>
            <a:r>
              <a:rPr lang="en-US" dirty="0"/>
              <a:t>L = {a, b, </a:t>
            </a:r>
            <a:r>
              <a:rPr lang="en-US" dirty="0" err="1"/>
              <a:t>ab</a:t>
            </a:r>
            <a:r>
              <a:rPr lang="en-US" dirty="0"/>
              <a:t>, </a:t>
            </a:r>
            <a:r>
              <a:rPr lang="en-US" dirty="0" err="1"/>
              <a:t>ba</a:t>
            </a:r>
            <a:r>
              <a:rPr lang="en-US" dirty="0"/>
              <a:t>, </a:t>
            </a:r>
            <a:r>
              <a:rPr lang="en-US" dirty="0" err="1"/>
              <a:t>aab</a:t>
            </a:r>
            <a:r>
              <a:rPr lang="en-US" dirty="0"/>
              <a:t>, aba, </a:t>
            </a:r>
            <a:r>
              <a:rPr lang="en-US" dirty="0" err="1"/>
              <a:t>aaba</a:t>
            </a:r>
            <a:r>
              <a:rPr lang="en-US" dirty="0"/>
              <a:t> ……….. }</a:t>
            </a:r>
            <a:endParaRPr lang="en-US" dirty="0" smtClean="0">
              <a:effectLst/>
            </a:endParaRPr>
          </a:p>
          <a:p>
            <a:r>
              <a:rPr lang="en-US" dirty="0"/>
              <a:t>Regular expression for the above language is given below</a:t>
            </a:r>
          </a:p>
          <a:p>
            <a:r>
              <a:rPr lang="en-US" dirty="0"/>
              <a:t>L(R) = (</a:t>
            </a:r>
            <a:r>
              <a:rPr lang="en-US" dirty="0" err="1"/>
              <a:t>a+b</a:t>
            </a:r>
            <a:r>
              <a:rPr lang="en-US" dirty="0"/>
              <a:t>)*</a:t>
            </a:r>
            <a:endParaRPr lang="en-US" dirty="0" smtClean="0">
              <a:effectLst/>
            </a:endParaRPr>
          </a:p>
          <a:p>
            <a:r>
              <a:rPr lang="en-US" b="1" dirty="0"/>
              <a:t>Example 04: </a:t>
            </a:r>
            <a:r>
              <a:rPr lang="en-US" dirty="0"/>
              <a:t>Write the regular expression for the language that accepts all the strings, </a:t>
            </a:r>
            <a:r>
              <a:rPr lang="en-US" b="1" dirty="0"/>
              <a:t>having only one “b” and any numbers of “a” over</a:t>
            </a:r>
            <a:r>
              <a:rPr lang="en-US" dirty="0"/>
              <a:t> ∑ = {a, b}.</a:t>
            </a:r>
          </a:p>
          <a:p>
            <a:r>
              <a:rPr lang="en-US" b="1" dirty="0"/>
              <a:t>Solution: </a:t>
            </a:r>
            <a:r>
              <a:rPr lang="en-US" dirty="0"/>
              <a:t>Language for the given example is given below</a:t>
            </a:r>
          </a:p>
          <a:p>
            <a:r>
              <a:rPr lang="en-US" dirty="0"/>
              <a:t>L = {b, </a:t>
            </a:r>
            <a:r>
              <a:rPr lang="en-US" dirty="0" err="1"/>
              <a:t>ab</a:t>
            </a:r>
            <a:r>
              <a:rPr lang="en-US" dirty="0"/>
              <a:t>, aba, </a:t>
            </a:r>
            <a:r>
              <a:rPr lang="en-US" dirty="0" err="1"/>
              <a:t>abaa</a:t>
            </a:r>
            <a:r>
              <a:rPr lang="en-US" dirty="0"/>
              <a:t>, </a:t>
            </a:r>
            <a:r>
              <a:rPr lang="en-US" dirty="0" err="1"/>
              <a:t>abaaaa</a:t>
            </a:r>
            <a:r>
              <a:rPr lang="en-US" dirty="0"/>
              <a:t>, </a:t>
            </a:r>
            <a:r>
              <a:rPr lang="en-US" dirty="0" err="1"/>
              <a:t>aaaaabaaaaaaa</a:t>
            </a:r>
            <a:r>
              <a:rPr lang="en-US" dirty="0"/>
              <a:t>……….. } // all strings having only one “b”</a:t>
            </a:r>
            <a:endParaRPr lang="en-US" dirty="0" smtClean="0">
              <a:effectLst/>
            </a:endParaRPr>
          </a:p>
          <a:p>
            <a:r>
              <a:rPr lang="en-US" dirty="0"/>
              <a:t>Regular expression for the above language is given below</a:t>
            </a:r>
          </a:p>
          <a:p>
            <a:r>
              <a:rPr lang="en-US" dirty="0"/>
              <a:t>L(R) = a*</a:t>
            </a:r>
            <a:r>
              <a:rPr lang="en-US" dirty="0" err="1"/>
              <a:t>ba</a:t>
            </a:r>
            <a:r>
              <a:rPr lang="en-US" dirty="0"/>
              <a:t>*</a:t>
            </a:r>
            <a:endParaRPr lang="en-US" dirty="0" smtClean="0">
              <a:effectLst/>
            </a:endParaRPr>
          </a:p>
          <a:p>
            <a:endParaRPr lang="en-US" dirty="0"/>
          </a:p>
        </p:txBody>
      </p:sp>
    </p:spTree>
    <p:extLst>
      <p:ext uri="{BB962C8B-B14F-4D97-AF65-F5344CB8AC3E}">
        <p14:creationId xmlns:p14="http://schemas.microsoft.com/office/powerpoint/2010/main" val="3085826475"/>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200" b="1" dirty="0"/>
              <a:t>Operations on Regular Languages in Automata</a:t>
            </a:r>
            <a:r>
              <a:rPr lang="en-US" sz="3200" dirty="0"/>
              <a:t/>
            </a:r>
            <a:br>
              <a:rPr lang="en-US" sz="3200" dirty="0"/>
            </a:br>
            <a:endParaRPr lang="en-US" sz="3200" dirty="0"/>
          </a:p>
        </p:txBody>
      </p:sp>
      <p:sp>
        <p:nvSpPr>
          <p:cNvPr id="3" name="Content Placeholder 2"/>
          <p:cNvSpPr>
            <a:spLocks noGrp="1"/>
          </p:cNvSpPr>
          <p:nvPr>
            <p:ph idx="1"/>
          </p:nvPr>
        </p:nvSpPr>
        <p:spPr>
          <a:xfrm>
            <a:off x="457200" y="838200"/>
            <a:ext cx="8229600" cy="5638800"/>
          </a:xfrm>
        </p:spPr>
        <p:txBody>
          <a:bodyPr>
            <a:normAutofit/>
          </a:bodyPr>
          <a:lstStyle/>
          <a:p>
            <a:pPr marL="0" indent="0">
              <a:buNone/>
            </a:pPr>
            <a:r>
              <a:rPr lang="en-US" b="1" dirty="0"/>
              <a:t>1. </a:t>
            </a:r>
            <a:r>
              <a:rPr lang="en-US" dirty="0"/>
              <a:t>If regular expression (R) is equal to Epsilon (ε), then the language of Regular expression (R) will represent the epsilon set, i.e. { ε}. A mathematical equation is given below</a:t>
            </a:r>
            <a:r>
              <a:rPr lang="en-US" dirty="0" smtClean="0"/>
              <a:t>,</a:t>
            </a:r>
          </a:p>
          <a:p>
            <a:endParaRPr lang="en-US" dirty="0"/>
          </a:p>
          <a:p>
            <a:pPr marL="0" indent="0">
              <a:buNone/>
            </a:pPr>
            <a:r>
              <a:rPr lang="en-US" b="1" dirty="0"/>
              <a:t>2.</a:t>
            </a:r>
            <a:r>
              <a:rPr lang="en-US" dirty="0"/>
              <a:t> If regular expression (R) is equal to Φ, then the language of Regular expression (R) will represent the empty set, i.e. { }. The mathematical equation is given below</a:t>
            </a:r>
            <a:r>
              <a:rPr lang="en-US" dirty="0" smtClean="0"/>
              <a:t>,</a:t>
            </a:r>
          </a:p>
          <a:p>
            <a:endParaRPr lang="en-US" dirty="0"/>
          </a:p>
          <a:p>
            <a:endParaRPr lang="en-US" dirty="0"/>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9611" y="3124200"/>
            <a:ext cx="4272539"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8829" y="5715000"/>
            <a:ext cx="5226771" cy="51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660987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a:normAutofit/>
          </a:bodyPr>
          <a:lstStyle/>
          <a:p>
            <a:pPr marL="0" indent="0">
              <a:buNone/>
            </a:pPr>
            <a:r>
              <a:rPr lang="en-US" b="1" dirty="0" smtClean="0"/>
              <a:t>3. </a:t>
            </a:r>
            <a:r>
              <a:rPr lang="en-US" dirty="0" smtClean="0"/>
              <a:t>If regular expression (R) is equal to an input symbol “a,” which belongs to sigma, then the language of Regular expression (R) will represent the set which has “a” alphabet, i.e. {a}. A mathematical equation is given below,</a:t>
            </a:r>
          </a:p>
          <a:p>
            <a:endParaRPr lang="en-US" b="1" dirty="0" smtClean="0"/>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509" y="3356451"/>
            <a:ext cx="4793672" cy="464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594564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dirty="0" smtClean="0"/>
              <a:t>4. The union of two </a:t>
            </a:r>
            <a:r>
              <a:rPr lang="en-US" dirty="0" err="1" smtClean="0"/>
              <a:t>Two</a:t>
            </a:r>
            <a:r>
              <a:rPr lang="en-US" dirty="0" smtClean="0"/>
              <a:t> Regular Expressions will always produce a regular language. Suppose R1 and R2 are two regular expressions. IF R1= a, R2=b then R1 U R2 =</a:t>
            </a:r>
            <a:r>
              <a:rPr lang="en-US" dirty="0" err="1" smtClean="0"/>
              <a:t>a+b</a:t>
            </a:r>
            <a:r>
              <a:rPr lang="en-US" dirty="0" smtClean="0"/>
              <a:t> So L(R1 U R2) = {</a:t>
            </a:r>
            <a:r>
              <a:rPr lang="en-US" dirty="0" err="1" smtClean="0"/>
              <a:t>a,b</a:t>
            </a:r>
            <a:r>
              <a:rPr lang="en-US" dirty="0" smtClean="0"/>
              <a:t>}, still string “</a:t>
            </a:r>
            <a:r>
              <a:rPr lang="en-US" dirty="0" err="1" smtClean="0"/>
              <a:t>a,b</a:t>
            </a:r>
            <a:r>
              <a:rPr lang="en-US" dirty="0" smtClean="0"/>
              <a:t>” is a regular language.</a:t>
            </a:r>
          </a:p>
          <a:p>
            <a:endParaRPr lang="en-US" dirty="0"/>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505200"/>
            <a:ext cx="395748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2275416"/>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b="1" dirty="0"/>
              <a:t>5.</a:t>
            </a:r>
            <a:r>
              <a:rPr lang="en-US" dirty="0"/>
              <a:t> </a:t>
            </a:r>
            <a:r>
              <a:rPr lang="en-US" b="1" dirty="0"/>
              <a:t>Concatenation of two </a:t>
            </a:r>
            <a:r>
              <a:rPr lang="en-US" b="1" dirty="0" err="1"/>
              <a:t>Two</a:t>
            </a:r>
            <a:r>
              <a:rPr lang="en-US" b="1" dirty="0"/>
              <a:t> Regular Expressions will always produce a regular language.</a:t>
            </a:r>
            <a:r>
              <a:rPr lang="en-US" dirty="0"/>
              <a:t> IF R1= a, R2=b then R1.R2 =</a:t>
            </a:r>
            <a:r>
              <a:rPr lang="en-US" dirty="0" err="1"/>
              <a:t>a.b</a:t>
            </a:r>
            <a:r>
              <a:rPr lang="en-US" dirty="0"/>
              <a:t> So L(R1.R2) = {</a:t>
            </a:r>
            <a:r>
              <a:rPr lang="en-US" dirty="0" err="1"/>
              <a:t>ab</a:t>
            </a:r>
            <a:r>
              <a:rPr lang="en-US" dirty="0"/>
              <a:t>}, still string “</a:t>
            </a:r>
            <a:r>
              <a:rPr lang="en-US" dirty="0" err="1"/>
              <a:t>ab</a:t>
            </a:r>
            <a:r>
              <a:rPr lang="en-US" dirty="0"/>
              <a:t>” is a regular language</a:t>
            </a: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200400"/>
            <a:ext cx="3199885"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964700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marL="0" indent="0">
              <a:buNone/>
            </a:pPr>
            <a:r>
              <a:rPr lang="en-US" b="1" dirty="0"/>
              <a:t>6. </a:t>
            </a:r>
            <a:r>
              <a:rPr lang="en-US" b="1" dirty="0" err="1"/>
              <a:t>Kleene</a:t>
            </a:r>
            <a:r>
              <a:rPr lang="en-US" b="1" dirty="0"/>
              <a:t> closure of Regular Expression (RE) is also a regular language</a:t>
            </a:r>
            <a:endParaRPr lang="en-US" dirty="0"/>
          </a:p>
          <a:p>
            <a:r>
              <a:rPr lang="en-US" dirty="0"/>
              <a:t>If R1 = x and (R1)* is still a regular language</a:t>
            </a:r>
          </a:p>
          <a:p>
            <a:pPr fontAlgn="base"/>
            <a:r>
              <a:rPr lang="en-US" dirty="0"/>
              <a:t>In a regular expression, x* means zero or more occurrences of x. It can generate {</a:t>
            </a:r>
            <a:r>
              <a:rPr lang="en-US" b="1" dirty="0"/>
              <a:t> ε</a:t>
            </a:r>
            <a:r>
              <a:rPr lang="en-US" dirty="0"/>
              <a:t>, x, xx, xxx, </a:t>
            </a:r>
            <a:r>
              <a:rPr lang="en-US" dirty="0" err="1"/>
              <a:t>xxxx</a:t>
            </a:r>
            <a:r>
              <a:rPr lang="en-US" dirty="0"/>
              <a:t>, …..}</a:t>
            </a:r>
          </a:p>
          <a:p>
            <a:pPr fontAlgn="base"/>
            <a:r>
              <a:rPr lang="en-US" dirty="0"/>
              <a:t>In a regular expression, </a:t>
            </a:r>
            <a:r>
              <a:rPr lang="en-US" dirty="0" err="1"/>
              <a:t>x</a:t>
            </a:r>
            <a:r>
              <a:rPr lang="en-US" baseline="30000" dirty="0" err="1"/>
              <a:t>+</a:t>
            </a:r>
            <a:r>
              <a:rPr lang="en-US" dirty="0" err="1"/>
              <a:t>means</a:t>
            </a:r>
            <a:r>
              <a:rPr lang="en-US" dirty="0"/>
              <a:t> one or more occurrence of x. It can generate {x, xx, xxx, </a:t>
            </a:r>
            <a:r>
              <a:rPr lang="en-US" dirty="0" err="1"/>
              <a:t>xxxx</a:t>
            </a:r>
            <a:r>
              <a:rPr lang="en-US" dirty="0"/>
              <a:t>, …..}</a:t>
            </a:r>
          </a:p>
          <a:p>
            <a:pPr marL="0" indent="0">
              <a:buNone/>
            </a:pPr>
            <a:r>
              <a:rPr lang="en-US" b="1" dirty="0" smtClean="0"/>
              <a:t>7.</a:t>
            </a:r>
            <a:r>
              <a:rPr lang="en-US" b="1" dirty="0"/>
              <a:t> If R is regular, (R) is also a regular language</a:t>
            </a:r>
            <a:endParaRPr lang="en-US" dirty="0"/>
          </a:p>
        </p:txBody>
      </p:sp>
    </p:spTree>
    <p:extLst>
      <p:ext uri="{BB962C8B-B14F-4D97-AF65-F5344CB8AC3E}">
        <p14:creationId xmlns:p14="http://schemas.microsoft.com/office/powerpoint/2010/main" val="297153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4936</Words>
  <Application>Microsoft Office PowerPoint</Application>
  <PresentationFormat>On-screen Show (4:3)</PresentationFormat>
  <Paragraphs>843</Paragraphs>
  <Slides>265</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265</vt:i4>
      </vt:variant>
    </vt:vector>
  </HeadingPairs>
  <TitlesOfParts>
    <vt:vector size="267" baseType="lpstr">
      <vt:lpstr>Office Theme</vt:lpstr>
      <vt:lpstr>Equation</vt:lpstr>
      <vt:lpstr>PowerPoint Presentation</vt:lpstr>
      <vt:lpstr>Introduction of Finite Automata </vt:lpstr>
      <vt:lpstr>PowerPoint Presentation</vt:lpstr>
      <vt:lpstr>         Types of Finite Automata  There are two types of finite automata: Deterministic Finite Automata (DFA) Non-Deterministic Finite Automata (NFA)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Transition Table</vt:lpstr>
      <vt:lpstr>PowerPoint Presentation</vt:lpstr>
      <vt:lpstr>PowerPoint Presentation</vt:lpstr>
      <vt:lpstr>PowerPoint Presentation</vt:lpstr>
      <vt:lpstr>PowerPoint Presentation</vt:lpstr>
      <vt:lpstr>PowerPoint Presentation</vt:lpstr>
      <vt:lpstr>Example 1:  Design an NFA over the alphabet Σ = {a, b} that accepts only the strings that start with “b”</vt:lpstr>
      <vt:lpstr>PowerPoint Presentation</vt:lpstr>
      <vt:lpstr>The transition table for the above NFA is given below</vt:lpstr>
      <vt:lpstr> Example: 2 Design an NFA over the alphabet Σ = {a, b} that accepts only the strings that start with “bab”</vt:lpstr>
      <vt:lpstr>The following NFA automaton machine accepts all strings that start with “bab”</vt:lpstr>
      <vt:lpstr>PowerPoint Presentation</vt:lpstr>
      <vt:lpstr>Transition Table for the above Non-Deterministic Finite Automata is-</vt:lpstr>
      <vt:lpstr>NFA Example: 3 Design an NFA over the alphabet Σ = {a, b} that accepts only the strings that start with “aa” or “bb” </vt:lpstr>
      <vt:lpstr>The following NFA automaton machine accepts all strings that start with “bab”</vt:lpstr>
      <vt:lpstr>PowerPoint Presentation</vt:lpstr>
      <vt:lpstr>Transition Table for the above Non-Deterministic Finite Automata 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Draw DFA which accepts the string starting with ‘ab’. </vt:lpstr>
      <vt:lpstr>  Where, Q: Finite set called states. Σ: Finite set called alphabets. δ: Q × Σ → Q is the transition function. q0 ∈ Q is the initial state. The language is generated as given below − L={ab,aba,abab,…….} The transition diagram is as follows −  </vt:lpstr>
      <vt:lpstr>PowerPoint Presentation</vt:lpstr>
      <vt:lpstr> Here, D is a dead state. D is a transition state, which it can never escape. Such a state is called a trap state. It is called the dead state. ab − q1 on’ a’ goes to q2 and q2 on ‘b’ goes to qf to reach final state. So, ab is accepted. baa − q1 on ‘b’ goes to D state, which is dead state. There is no way to reach the final state. So, baa is not accepted.  </vt:lpstr>
      <vt:lpstr>Transition table The transition table is as follows − </vt:lpstr>
      <vt:lpstr>PowerPoint Presentation</vt:lpstr>
      <vt:lpstr> Example 2 Design a DFA which accepts a language over the alphabets Σ = {a, b} such that L is the set of all strings starting with ‘aba’.  All strings start with the substring “aba”. Therefore, length of substring = 3. Minimum number of states in the DFA =  3 + 2 = 5. The language L= {aba,abaa,abaab,abaaba}  </vt:lpstr>
      <vt:lpstr> The transition diagram is as follows −  </vt:lpstr>
      <vt:lpstr> Transition table </vt:lpstr>
      <vt:lpstr> Construct DFA with Σ= {0,1} accepts all strings with 0. </vt:lpstr>
      <vt:lpstr>     Example 1 The DFA accepts all strings starting with 0 The language L= {0,01,001,010,0010,000101,…} In this language, all strings start with zero.  </vt:lpstr>
      <vt:lpstr>Transition diagram The transition diagram is as follows −</vt:lpstr>
      <vt:lpstr>Explanation </vt:lpstr>
      <vt:lpstr> Transition table The transition table is as follows − </vt:lpstr>
      <vt:lpstr>   Example 2 Construct DFA for the language accepting strings starting with ‘101’ </vt:lpstr>
      <vt:lpstr>  The transition diagram is as follows −  </vt:lpstr>
      <vt:lpstr>          Explanation Step 1 − q0 is an initial state on input ‘1’ goes to q1 and on input ‘0’ leads to a dead state. Step 2 − q1 on input ‘0’ goes to q2 and on ‘1’ goes to dead state. Step 3 − q2 on input ‘1’ goes to qf which is the final state, and on ‘0’ goes to dead state. Step 4 − qf is the final state, on input ‘1’ and ‘0’ it goes to qf itself. </vt:lpstr>
      <vt:lpstr> Construct a DFA, accepting all strings ending with 'ab' over ∑={a,b} </vt:lpstr>
      <vt:lpstr>PowerPoint Presentation</vt:lpstr>
      <vt:lpstr>PowerPoint Presentation</vt:lpstr>
      <vt:lpstr>  DFA accepting all strings over w ∈(a,b)* which contains “aba” as a substring Below is the designed DFA Machine for the given problem. Construct a transition table for DFA states and analyze the transitions between each state. Below are the steps – </vt:lpstr>
      <vt:lpstr>PowerPoint Presentation</vt:lpstr>
      <vt:lpstr>Desired Language:   L = {aba, baba, abab, aababbb.....}</vt:lpstr>
      <vt:lpstr>PowerPoint Presentation</vt:lpstr>
      <vt:lpstr>   Examples of NFA Example 1: Design a NFA for the transition table as given below: </vt:lpstr>
      <vt:lpstr>   Solution: The transition diagram can be drawn by using the mapping function as given in the table. </vt:lpstr>
      <vt:lpstr>Design an NFA with ∑ = {0, 1} accepts all string ending with 01.</vt:lpstr>
      <vt:lpstr>  Construction of a minimal NFA accepting a set of strings over {a, b} in which each string of the language starts with ‘ab’. </vt:lpstr>
      <vt:lpstr>The state transition diagram of the desired language will be like below: </vt:lpstr>
      <vt:lpstr>PowerPoint Presentation</vt:lpstr>
      <vt:lpstr>   Construction of a minimal NFA accepting a set of strings over {a, b} in which each string of the language contain ‘a’ as the substring.</vt:lpstr>
      <vt:lpstr>      But the below language is not accepted by this NFA because some of the string of below language does not contain ‘a’ as the substring. L2 = {bb, b, bbbb, .............} </vt:lpstr>
      <vt:lpstr> The state transition diagram of the desired language will be like below: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States</vt:lpstr>
      <vt:lpstr>PowerPoint Presentation</vt:lpstr>
      <vt:lpstr>PowerPoint Presentation</vt:lpstr>
      <vt:lpstr>What is a Finite Automaton? </vt:lpstr>
      <vt:lpstr>PowerPoint Presentation</vt:lpstr>
      <vt:lpstr>Steps in Minimizing a DFA Minimizing a DFA involves several steps, which we will outline below: </vt:lpstr>
      <vt:lpstr>PowerPoint Presentation</vt:lpstr>
      <vt:lpstr>PowerPoint Presentation</vt:lpstr>
      <vt:lpstr>PowerPoint Presentation</vt:lpstr>
      <vt:lpstr>Minimization of DFA Using Equivalence Theorem- </vt:lpstr>
      <vt:lpstr>PowerPoint Presentation</vt:lpstr>
      <vt:lpstr>PowerPoint Presentation</vt:lpstr>
      <vt:lpstr>PowerPoint Presentation</vt:lpstr>
      <vt:lpstr>Problem-01: </vt:lpstr>
      <vt:lpstr>PowerPoint Presentation</vt:lpstr>
      <vt:lpstr>PowerPoint Presentation</vt:lpstr>
      <vt:lpstr>PowerPoint Presentation</vt:lpstr>
      <vt:lpstr>Problem-02: </vt:lpstr>
      <vt:lpstr>PowerPoint Presentation</vt:lpstr>
      <vt:lpstr>PowerPoint Presentation</vt:lpstr>
      <vt:lpstr>PowerPoint Presentation</vt:lpstr>
      <vt:lpstr>PowerPoint Presentation</vt:lpstr>
      <vt:lpstr> Myhill-Nerode Theorem (Table Filling Method)</vt:lpstr>
      <vt:lpstr>PowerPoint Presentation</vt:lpstr>
      <vt:lpstr>Example1 of Myhill-Nerode Theorem </vt:lpstr>
      <vt:lpstr>PowerPoint Presentation</vt:lpstr>
      <vt:lpstr>PowerPoint Presentation</vt:lpstr>
      <vt:lpstr>PowerPoint Presentation</vt:lpstr>
      <vt:lpstr>PowerPoint Presentation</vt:lpstr>
      <vt:lpstr>PowerPoint Presentation</vt:lpstr>
      <vt:lpstr>Example 2</vt:lpstr>
      <vt:lpstr>PowerPoint Presentation</vt:lpstr>
      <vt:lpstr>Step 1: Draw a table for all pairs of states (P, Q)</vt:lpstr>
      <vt:lpstr>Step 2: Mark all pairs where Pϵ F and Q∉F </vt:lpstr>
      <vt:lpstr>Step 3: If there are any Unmarked pairs (P, Q) such that [δ(P, x),δ(Q, x)] is marked, then mark [P, Q] where ‘x’ is an input symbol. Repeat this until no more marking can be made.</vt:lpstr>
      <vt:lpstr>Step 4 :(A, C), B, D, E</vt:lpstr>
      <vt:lpstr>Example 1        NFA to DFA  Conversion</vt:lpstr>
      <vt:lpstr>Example 2   NFA to DFA conversion</vt:lpstr>
      <vt:lpstr>NFAε - NFA - DFA equivalence </vt:lpstr>
      <vt:lpstr>What is an Epsilon NFA  (∈-NFA) NFAε</vt:lpstr>
      <vt:lpstr>NFA computation</vt:lpstr>
      <vt:lpstr>Example</vt:lpstr>
      <vt:lpstr>NFA – DFA equivalence</vt:lpstr>
      <vt:lpstr>NFA – DFA eqivalence</vt:lpstr>
      <vt:lpstr>NFA – DFA equivalence</vt:lpstr>
      <vt:lpstr>NFA – DFA equivalence</vt:lpstr>
      <vt:lpstr>NFA – DFA equivalence (example)</vt:lpstr>
      <vt:lpstr>NFA – DFA equivalence (example)</vt:lpstr>
      <vt:lpstr>NFAε – NFA equivalence</vt:lpstr>
      <vt:lpstr>NFAε – NFA equivalence</vt:lpstr>
      <vt:lpstr>NFAε – NFA equivalence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Let, M = (Q, ∑, δ, q0, F) is an NFA which accepts the language L(M). There should be equivalent DFA denoted by M' = (Q', ∑', q0', δ', F') such that L(M) = L(M').</vt:lpstr>
      <vt:lpstr>          Steps for converting NFA to DFA: Step 1: Initially Q' = ϕ Step 2: Add q0 of NFA to Q'. Then find the transitions from this start state. Step 3: In Q', find the possible set of states for each input symbol. If this set of states is not in Q', then add it to Q'. Step 4: In DFA, the final state will be all the states which contain F(final states of NFA)  </vt:lpstr>
      <vt:lpstr> Example 1: Convert the given NFA to DFA. </vt:lpstr>
      <vt:lpstr> Solution: For the given transition diagram we will first construct the transition table</vt:lpstr>
      <vt:lpstr>PowerPoint Presentation</vt:lpstr>
      <vt:lpstr>PowerPoint Presentation</vt:lpstr>
      <vt:lpstr>   The state [q1, q2] is the final state as well because it contains a final state q2. The transition table for the constructed DFA will be:</vt:lpstr>
      <vt:lpstr>PowerPoint Presentation</vt:lpstr>
      <vt:lpstr> Example 2: Convert the given NFA to DFA. </vt:lpstr>
      <vt:lpstr>PowerPoint Presentation</vt:lpstr>
      <vt:lpstr>PowerPoint Presentation</vt:lpstr>
      <vt:lpstr>PowerPoint Presentation</vt:lpstr>
      <vt:lpstr>PowerPoint Presentation</vt:lpstr>
      <vt:lpstr>EXAMPLE 3: Draw an NFA that accepts all the strings ending with “1” over Σ {0,1} and convert this NFA to its corresponding DFA.</vt:lpstr>
      <vt:lpstr>Step 02: Draw the NFA transition Table. The NFA transition table of the above NFA is given below </vt:lpstr>
      <vt:lpstr>Step 03: Conversion of NFA to DFA Transition Table </vt:lpstr>
      <vt:lpstr>Transition calculations for state “q0q1”</vt:lpstr>
      <vt:lpstr>PowerPoint Presentation</vt:lpstr>
      <vt:lpstr>PowerPoint Presentation</vt:lpstr>
      <vt:lpstr>Step 4: Draw DFA </vt:lpstr>
      <vt:lpstr>What is an Epsilon NFA  (∈-NFA) NFAε</vt:lpstr>
      <vt:lpstr>                    Epsilon (ε) - closure Epsilon closure for a given state X is a set of states which can be reached from the states X with only (null) or E moves including the state X itself. In other words, £-closure for a state can be obtained by union operation of the £-closure of the states which can be reached from X with a single E move in a recursive manner. </vt:lpstr>
      <vt:lpstr>  Example Consider the following figure of NFA with ε move −  </vt:lpstr>
      <vt:lpstr>PowerPoint Presentation</vt:lpstr>
      <vt:lpstr>Epsilon NFA To NFA Conversion Algorithm </vt:lpstr>
      <vt:lpstr>PowerPoint Presentation</vt:lpstr>
      <vt:lpstr>Example 01: Convert Epsilon NFA to NFA  </vt:lpstr>
      <vt:lpstr>Step 02:  Find starting edges from V2, duplicate it to V1, Remove Epsilon </vt:lpstr>
      <vt:lpstr>Step 03: Check Initial, Final, and Unreachable State Conditions </vt:lpstr>
      <vt:lpstr>PowerPoint Presentation</vt:lpstr>
      <vt:lpstr>Step 04: Check for any more Epsilon </vt:lpstr>
      <vt:lpstr>Example 02: Convert Epsilon NFA to NFA </vt:lpstr>
      <vt:lpstr>Step 02:  Find starting edges from V2, duplicate it to V1, Remove Epsilon </vt:lpstr>
      <vt:lpstr>Step 03: Check Initial, Final, and Unreachable State Conditions </vt:lpstr>
      <vt:lpstr>PowerPoint Presentation</vt:lpstr>
      <vt:lpstr>PowerPoint Presentation</vt:lpstr>
      <vt:lpstr>PowerPoint Presentation</vt:lpstr>
      <vt:lpstr>PowerPoint Presentation</vt:lpstr>
      <vt:lpstr>Properties of Regular Languages </vt:lpstr>
      <vt:lpstr>       There are different closure properties for regular languages. They are as follows −  Union Intersection concatenation Kleene closure Complement </vt:lpstr>
      <vt:lpstr>       Union If L1 and If L2 are two regular languages, their union L1 U L2 will also be regular.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What is the pumping lemma for regular language? </vt:lpstr>
      <vt:lpstr>Pumping lemma for Regular languages </vt:lpstr>
      <vt:lpstr>PowerPoint Presentation</vt:lpstr>
      <vt:lpstr>         Application of pumping lemma Pumping lemma is to be applied to show that certain languages are not regular. It should never be used to show a language is regular. If L is regular, it satisfies the Pumping lemma. If L does not satisfy the Pumping Lemma, it is not regular.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REGULAR EXPRESSION</vt:lpstr>
      <vt:lpstr>PowerPoint Presentation</vt:lpstr>
      <vt:lpstr>The main uses of regular expressions are</vt:lpstr>
      <vt:lpstr>Category 1: Basic Regular Expressions </vt:lpstr>
      <vt:lpstr>PowerPoint Presentation</vt:lpstr>
      <vt:lpstr>Example 1.1: Regular Expression = a</vt:lpstr>
      <vt:lpstr>Example 1.2: Regular Expression = ab </vt:lpstr>
      <vt:lpstr>Example 1.3: Regular Expression = (a+b) </vt:lpstr>
      <vt:lpstr>Example 1.4: Regular Expression = (a)* </vt:lpstr>
      <vt:lpstr>Example 1.5: Regular Expression = (ab)* </vt:lpstr>
      <vt:lpstr>Example 1.6: Regular Expression = (a+b)* </vt:lpstr>
      <vt:lpstr>Category 2: Start with Regular Expressions </vt:lpstr>
      <vt:lpstr>PowerPoint Presentation</vt:lpstr>
      <vt:lpstr>Example 2.1: Regular Expression = a(a+b)* </vt:lpstr>
      <vt:lpstr>PowerPoint Presentation</vt:lpstr>
      <vt:lpstr>Example 2.2: Regular Expression = 101*(0+1)* </vt:lpstr>
      <vt:lpstr>PowerPoint Presentation</vt:lpstr>
      <vt:lpstr>Example 2.3: Regular Expression = bab(a+b)* </vt:lpstr>
      <vt:lpstr>PowerPoint Presentation</vt:lpstr>
      <vt:lpstr>Category 3: End with Regular Expressions </vt:lpstr>
      <vt:lpstr>Example 3.1: Regular Expression = (a+b+c+d)*ab </vt:lpstr>
      <vt:lpstr>PowerPoint Presentation</vt:lpstr>
      <vt:lpstr>Example 3.2: Regular Expression = (aaa+bbb)*ba </vt:lpstr>
      <vt:lpstr>PowerPoint Presentation</vt:lpstr>
      <vt:lpstr>Example 3.3: Regular Expression = (a+b+c)*abc </vt:lpstr>
      <vt:lpstr>PowerPoint Presentation</vt:lpstr>
      <vt:lpstr>Category 4: Start and End with Regular Expressions </vt:lpstr>
      <vt:lpstr>Example 4.1: Regular Expression = 1(1+0)*1 + 0(1+0)*0 </vt:lpstr>
      <vt:lpstr>PowerPoint Presentation</vt:lpstr>
      <vt:lpstr>Example 4.2: Regular Expression = 11(0+1)(00) </vt:lpstr>
      <vt:lpstr>PowerPoint Presentation</vt:lpstr>
      <vt:lpstr>Types of Regular Expressions in TOC </vt:lpstr>
      <vt:lpstr>Examples of Finite Regular Expression</vt:lpstr>
      <vt:lpstr>PowerPoint Presentation</vt:lpstr>
      <vt:lpstr>Examples of Infinite Regular Expression</vt:lpstr>
      <vt:lpstr>PowerPoint Presentation</vt:lpstr>
      <vt:lpstr>Operations on Regular Languages in Automata </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Windows User</cp:lastModifiedBy>
  <cp:revision>18</cp:revision>
  <dcterms:created xsi:type="dcterms:W3CDTF">2013-01-27T09:14:16Z</dcterms:created>
  <dcterms:modified xsi:type="dcterms:W3CDTF">2025-09-10T15:21:01Z</dcterms:modified>
  <cp:category/>
</cp:coreProperties>
</file>