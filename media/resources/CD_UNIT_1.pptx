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57" r:id="rId4"/>
    <p:sldId id="258" r:id="rId5"/>
    <p:sldId id="416" r:id="rId6"/>
    <p:sldId id="259" r:id="rId7"/>
    <p:sldId id="260" r:id="rId8"/>
    <p:sldId id="261" r:id="rId9"/>
    <p:sldId id="265" r:id="rId10"/>
    <p:sldId id="417" r:id="rId11"/>
    <p:sldId id="262" r:id="rId12"/>
    <p:sldId id="263" r:id="rId13"/>
    <p:sldId id="264" r:id="rId14"/>
    <p:sldId id="266" r:id="rId15"/>
    <p:sldId id="267" r:id="rId16"/>
    <p:sldId id="268" r:id="rId17"/>
    <p:sldId id="269" r:id="rId18"/>
    <p:sldId id="298" r:id="rId19"/>
    <p:sldId id="299" r:id="rId20"/>
    <p:sldId id="270" r:id="rId21"/>
    <p:sldId id="278" r:id="rId22"/>
    <p:sldId id="271" r:id="rId23"/>
    <p:sldId id="279" r:id="rId24"/>
    <p:sldId id="272" r:id="rId25"/>
    <p:sldId id="280" r:id="rId26"/>
    <p:sldId id="273" r:id="rId27"/>
    <p:sldId id="296" r:id="rId28"/>
    <p:sldId id="274" r:id="rId29"/>
    <p:sldId id="275" r:id="rId30"/>
    <p:sldId id="276" r:id="rId31"/>
    <p:sldId id="297"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21" r:id="rId65"/>
    <p:sldId id="318" r:id="rId66"/>
    <p:sldId id="319" r:id="rId67"/>
    <p:sldId id="320"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60" r:id="rId87"/>
    <p:sldId id="361" r:id="rId88"/>
    <p:sldId id="362" r:id="rId89"/>
    <p:sldId id="363" r:id="rId90"/>
    <p:sldId id="364" r:id="rId91"/>
    <p:sldId id="365" r:id="rId92"/>
    <p:sldId id="366" r:id="rId93"/>
    <p:sldId id="342" r:id="rId94"/>
    <p:sldId id="343" r:id="rId95"/>
    <p:sldId id="344" r:id="rId96"/>
    <p:sldId id="359" r:id="rId97"/>
    <p:sldId id="345" r:id="rId98"/>
    <p:sldId id="346" r:id="rId99"/>
    <p:sldId id="348" r:id="rId100"/>
    <p:sldId id="347" r:id="rId101"/>
    <p:sldId id="349" r:id="rId102"/>
    <p:sldId id="350" r:id="rId103"/>
    <p:sldId id="351" r:id="rId104"/>
    <p:sldId id="352" r:id="rId105"/>
    <p:sldId id="353" r:id="rId106"/>
    <p:sldId id="354" r:id="rId107"/>
    <p:sldId id="355" r:id="rId108"/>
    <p:sldId id="356" r:id="rId109"/>
    <p:sldId id="357" r:id="rId110"/>
    <p:sldId id="358" r:id="rId111"/>
    <p:sldId id="367" r:id="rId112"/>
    <p:sldId id="368" r:id="rId113"/>
    <p:sldId id="377" r:id="rId114"/>
    <p:sldId id="369" r:id="rId115"/>
    <p:sldId id="370" r:id="rId116"/>
    <p:sldId id="371" r:id="rId117"/>
    <p:sldId id="372" r:id="rId118"/>
    <p:sldId id="373" r:id="rId119"/>
    <p:sldId id="374" r:id="rId120"/>
    <p:sldId id="375" r:id="rId121"/>
    <p:sldId id="378" r:id="rId122"/>
    <p:sldId id="376" r:id="rId123"/>
    <p:sldId id="379" r:id="rId124"/>
    <p:sldId id="380" r:id="rId125"/>
    <p:sldId id="381" r:id="rId126"/>
    <p:sldId id="383" r:id="rId127"/>
    <p:sldId id="382"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8" d="100"/>
          <a:sy n="68" d="100"/>
        </p:scale>
        <p:origin x="124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Saini" userId="89b25a6102a6c361" providerId="LiveId" clId="{CBE5464F-ECDB-49C8-9C6A-CE1662189325}"/>
    <pc:docChg chg="modSld">
      <pc:chgData name="Ayush Saini" userId="89b25a6102a6c361" providerId="LiveId" clId="{CBE5464F-ECDB-49C8-9C6A-CE1662189325}" dt="2026-02-08T16:40:13.583" v="6" actId="1035"/>
      <pc:docMkLst>
        <pc:docMk/>
      </pc:docMkLst>
      <pc:sldChg chg="modSp">
        <pc:chgData name="Ayush Saini" userId="89b25a6102a6c361" providerId="LiveId" clId="{CBE5464F-ECDB-49C8-9C6A-CE1662189325}" dt="2026-02-08T16:40:13.583" v="6" actId="1035"/>
        <pc:sldMkLst>
          <pc:docMk/>
          <pc:sldMk cId="1840649032" sldId="259"/>
        </pc:sldMkLst>
        <pc:picChg chg="mod">
          <ac:chgData name="Ayush Saini" userId="89b25a6102a6c361" providerId="LiveId" clId="{CBE5464F-ECDB-49C8-9C6A-CE1662189325}" dt="2026-02-08T16:40:13.583" v="6" actId="1035"/>
          <ac:picMkLst>
            <pc:docMk/>
            <pc:sldMk cId="1840649032" sldId="259"/>
            <ac:picMk id="1031"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3EDC073-F2CD-462B-9CA0-204CCE356B7B}"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163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DC073-F2CD-462B-9CA0-204CCE356B7B}"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1124318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DC073-F2CD-462B-9CA0-204CCE356B7B}"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3938961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3EDC073-F2CD-462B-9CA0-204CCE356B7B}"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1214371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EDC073-F2CD-462B-9CA0-204CCE356B7B}"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3931125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EDC073-F2CD-462B-9CA0-204CCE356B7B}"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372760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EDC073-F2CD-462B-9CA0-204CCE356B7B}"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3042355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EDC073-F2CD-462B-9CA0-204CCE356B7B}"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3540844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EDC073-F2CD-462B-9CA0-204CCE356B7B}"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2644292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DC073-F2CD-462B-9CA0-204CCE356B7B}"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611295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DC073-F2CD-462B-9CA0-204CCE356B7B}"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B6D34F-B291-4D35-B5A3-DF685C5E33C2}" type="slidenum">
              <a:rPr lang="en-US" smtClean="0"/>
              <a:t>‹#›</a:t>
            </a:fld>
            <a:endParaRPr lang="en-US"/>
          </a:p>
        </p:txBody>
      </p:sp>
    </p:spTree>
    <p:extLst>
      <p:ext uri="{BB962C8B-B14F-4D97-AF65-F5344CB8AC3E}">
        <p14:creationId xmlns:p14="http://schemas.microsoft.com/office/powerpoint/2010/main" val="96260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DC073-F2CD-462B-9CA0-204CCE356B7B}" type="datetimeFigureOut">
              <a:rPr lang="en-US" smtClean="0"/>
              <a:t>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B6D34F-B291-4D35-B5A3-DF685C5E33C2}" type="slidenum">
              <a:rPr lang="en-US" smtClean="0"/>
              <a:t>‹#›</a:t>
            </a:fld>
            <a:endParaRPr lang="en-US"/>
          </a:p>
        </p:txBody>
      </p:sp>
    </p:spTree>
    <p:extLst>
      <p:ext uri="{BB962C8B-B14F-4D97-AF65-F5344CB8AC3E}">
        <p14:creationId xmlns:p14="http://schemas.microsoft.com/office/powerpoint/2010/main" val="174892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en.wikipedia.org/wiki/Linker_(computing)" TargetMode="External"/><Relationship Id="rId13" Type="http://schemas.openxmlformats.org/officeDocument/2006/relationships/hyperlink" Target="https://en.wikipedia.org/wiki/FORTRAN" TargetMode="External"/><Relationship Id="rId3" Type="http://schemas.openxmlformats.org/officeDocument/2006/relationships/hyperlink" Target="https://en.wikipedia.org/wiki/Grace_Hopper" TargetMode="External"/><Relationship Id="rId7" Type="http://schemas.openxmlformats.org/officeDocument/2006/relationships/hyperlink" Target="https://en.wikipedia.org/wiki/Loader_(computing)" TargetMode="External"/><Relationship Id="rId12" Type="http://schemas.openxmlformats.org/officeDocument/2006/relationships/hyperlink" Target="https://en.wikipedia.org/wiki/Manchester_Mark_1" TargetMode="External"/><Relationship Id="rId2" Type="http://schemas.openxmlformats.org/officeDocument/2006/relationships/hyperlink" Target="https://en.wikipedia.org/wiki/Corrado_B%C3%B6hm" TargetMode="External"/><Relationship Id="rId1" Type="http://schemas.openxmlformats.org/officeDocument/2006/relationships/slideLayout" Target="../slideLayouts/slideLayout2.xml"/><Relationship Id="rId6" Type="http://schemas.openxmlformats.org/officeDocument/2006/relationships/hyperlink" Target="https://en.wikipedia.org/wiki/A-0_system" TargetMode="External"/><Relationship Id="rId11" Type="http://schemas.openxmlformats.org/officeDocument/2006/relationships/hyperlink" Target="https://en.wikipedia.org/wiki/University_of_Manchester" TargetMode="External"/><Relationship Id="rId5" Type="http://schemas.openxmlformats.org/officeDocument/2006/relationships/hyperlink" Target="https://en.wikipedia.org/wiki/History_of_compiler_construction#cite_note-computerhistory.org-7" TargetMode="External"/><Relationship Id="rId15" Type="http://schemas.openxmlformats.org/officeDocument/2006/relationships/hyperlink" Target="https://en.wikipedia.org/wiki/IBM" TargetMode="External"/><Relationship Id="rId10" Type="http://schemas.openxmlformats.org/officeDocument/2006/relationships/hyperlink" Target="https://en.wikipedia.org/wiki/Alick_Glennie" TargetMode="External"/><Relationship Id="rId4" Type="http://schemas.openxmlformats.org/officeDocument/2006/relationships/hyperlink" Target="https://en.wikipedia.org/wiki/History_of_compiler_construction#cite_note-wilkes1968-6" TargetMode="External"/><Relationship Id="rId9" Type="http://schemas.openxmlformats.org/officeDocument/2006/relationships/hyperlink" Target="https://en.wikipedia.org/wiki/Autocode" TargetMode="External"/><Relationship Id="rId14" Type="http://schemas.openxmlformats.org/officeDocument/2006/relationships/hyperlink" Target="https://en.wikipedia.org/wiki/John_W._Backus"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eksforgeeks.org/introduction-to-syntax-analysis-in-compiler-design/" TargetMode="External"/><Relationship Id="rId7" Type="http://schemas.openxmlformats.org/officeDocument/2006/relationships/hyperlink" Target="https://www.geeksforgeeks.org/simple-code-generator/" TargetMode="External"/><Relationship Id="rId2" Type="http://schemas.openxmlformats.org/officeDocument/2006/relationships/hyperlink" Target="https://www.geeksforgeeks.org/introduction-of-lexical-analysis/" TargetMode="External"/><Relationship Id="rId1" Type="http://schemas.openxmlformats.org/officeDocument/2006/relationships/slideLayout" Target="../slideLayouts/slideLayout5.xml"/><Relationship Id="rId6" Type="http://schemas.openxmlformats.org/officeDocument/2006/relationships/hyperlink" Target="https://www.geeksforgeeks.org/code-optimization-in-compiler-design/" TargetMode="External"/><Relationship Id="rId5" Type="http://schemas.openxmlformats.org/officeDocument/2006/relationships/hyperlink" Target="https://www.geeksforgeeks.org/intermediate-code-generation-in-compiler-design/" TargetMode="External"/><Relationship Id="rId4" Type="http://schemas.openxmlformats.org/officeDocument/2006/relationships/hyperlink" Target="https://www.geeksforgeeks.org/semantic-analysis-in-compiler-design/"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semantic-analysis-in-compiler-design/" TargetMode="External"/><Relationship Id="rId2" Type="http://schemas.openxmlformats.org/officeDocument/2006/relationships/hyperlink" Target="https://www.geeksforgeeks.org/introduction-of-lexical-analysis/" TargetMode="External"/><Relationship Id="rId1" Type="http://schemas.openxmlformats.org/officeDocument/2006/relationships/slideLayout" Target="../slideLayouts/slideLayout2.xml"/><Relationship Id="rId6" Type="http://schemas.openxmlformats.org/officeDocument/2006/relationships/hyperlink" Target="https://www.geeksforgeeks.org/intermediate-code-generation-in-compiler-design/" TargetMode="External"/><Relationship Id="rId5" Type="http://schemas.openxmlformats.org/officeDocument/2006/relationships/hyperlink" Target="https://www.geeksforgeeks.org/symbol-table-compiler/" TargetMode="External"/><Relationship Id="rId4" Type="http://schemas.openxmlformats.org/officeDocument/2006/relationships/hyperlink" Target="https://www.geeksforgeeks.org/introduction-to-syntax-analysis-in-compiler-design/"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geeksforgeeks.org/java-identifiers/" TargetMode="External"/><Relationship Id="rId2" Type="http://schemas.openxmlformats.org/officeDocument/2006/relationships/hyperlink" Target="https://www.geeksforgeeks.org/keywords-in-c/" TargetMode="External"/><Relationship Id="rId1" Type="http://schemas.openxmlformats.org/officeDocument/2006/relationships/slideLayout" Target="../slideLayouts/slideLayout2.xml"/><Relationship Id="rId5" Type="http://schemas.openxmlformats.org/officeDocument/2006/relationships/hyperlink" Target="https://www.geeksforgeeks.org/delimiters-in-sql/" TargetMode="External"/><Relationship Id="rId4" Type="http://schemas.openxmlformats.org/officeDocument/2006/relationships/hyperlink" Target="https://www.geeksforgeeks.org/operators-in-c/"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hyperlink" Target="https://www.geeksforgeeks.org/introduction-to-yacc/" TargetMode="External"/><Relationship Id="rId2" Type="http://schemas.openxmlformats.org/officeDocument/2006/relationships/hyperlink" Target="https://www.naukri.com/code360/library/lexical-analysis-in-compiler-design" TargetMode="Externa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hyperlink" Target="https://www.naukri.com/code360/library/finite-state-machine"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hyperlink" Target="https://www.naukri.com/code360/library/regular-expressions" TargetMode="Externa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b="1" dirty="0"/>
              <a:t>COMPILER DESIGN</a:t>
            </a:r>
          </a:p>
        </p:txBody>
      </p:sp>
    </p:spTree>
    <p:extLst>
      <p:ext uri="{BB962C8B-B14F-4D97-AF65-F5344CB8AC3E}">
        <p14:creationId xmlns:p14="http://schemas.microsoft.com/office/powerpoint/2010/main" val="873873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229600" cy="6019800"/>
          </a:xfrm>
        </p:spPr>
        <p:txBody>
          <a:bodyPr>
            <a:noAutofit/>
          </a:bodyPr>
          <a:lstStyle/>
          <a:p>
            <a:r>
              <a:rPr lang="en-US" sz="3600" dirty="0"/>
              <a:t>Compiler design is design of a software that translates the source code written in a high-level programming language (Like C, C++, Java or Python) into the low level language like Machine code, Assembly code or Byte code. It comprises a number of phases where the code is pre-processed, and parsed, its semantics or meaning are checked, and optimized, and then the final executable code is generated.</a:t>
            </a:r>
          </a:p>
        </p:txBody>
      </p:sp>
    </p:spTree>
    <p:extLst>
      <p:ext uri="{BB962C8B-B14F-4D97-AF65-F5344CB8AC3E}">
        <p14:creationId xmlns:p14="http://schemas.microsoft.com/office/powerpoint/2010/main" val="452525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b="1" dirty="0">
                <a:effectLst>
                  <a:outerShdw blurRad="38100" dist="38100" dir="2700000" algn="tl">
                    <a:srgbClr val="000000">
                      <a:alpha val="43137"/>
                    </a:srgbClr>
                  </a:outerShdw>
                </a:effectLst>
              </a:rPr>
              <a:t>INTRODUCTION TO COMPILERS</a:t>
            </a:r>
          </a:p>
        </p:txBody>
      </p:sp>
    </p:spTree>
    <p:extLst>
      <p:ext uri="{BB962C8B-B14F-4D97-AF65-F5344CB8AC3E}">
        <p14:creationId xmlns:p14="http://schemas.microsoft.com/office/powerpoint/2010/main" val="340194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52400"/>
            <a:ext cx="8458200" cy="1470025"/>
          </a:xfrm>
        </p:spPr>
        <p:txBody>
          <a:bodyPr>
            <a:noAutofit/>
          </a:bodyPr>
          <a:lstStyle/>
          <a:p>
            <a:r>
              <a:rPr lang="en-US" b="1" dirty="0">
                <a:effectLst>
                  <a:outerShdw blurRad="38100" dist="38100" dir="2700000" algn="tl">
                    <a:srgbClr val="000000">
                      <a:alpha val="43137"/>
                    </a:srgbClr>
                  </a:outerShdw>
                </a:effectLst>
              </a:rPr>
              <a:t>LANGUAGE PROCESSING SYSTEM</a:t>
            </a:r>
          </a:p>
        </p:txBody>
      </p:sp>
      <p:sp>
        <p:nvSpPr>
          <p:cNvPr id="3" name="Rectangle 2"/>
          <p:cNvSpPr/>
          <p:nvPr/>
        </p:nvSpPr>
        <p:spPr>
          <a:xfrm>
            <a:off x="361950" y="1600200"/>
            <a:ext cx="8534400" cy="3416320"/>
          </a:xfrm>
          <a:prstGeom prst="rect">
            <a:avLst/>
          </a:prstGeom>
        </p:spPr>
        <p:txBody>
          <a:bodyPr wrap="square">
            <a:spAutoFit/>
          </a:bodyPr>
          <a:lstStyle/>
          <a:p>
            <a:pPr algn="just"/>
            <a:r>
              <a:rPr lang="en-US" sz="3600" dirty="0"/>
              <a:t>We tend to write programs in high level language , that is much less complicated for us to understand and maintain in thoughts . These programs go through a series  of transformation so that they can readily  be used in machines.</a:t>
            </a:r>
          </a:p>
        </p:txBody>
      </p:sp>
    </p:spTree>
    <p:extLst>
      <p:ext uri="{BB962C8B-B14F-4D97-AF65-F5344CB8AC3E}">
        <p14:creationId xmlns:p14="http://schemas.microsoft.com/office/powerpoint/2010/main" val="1891836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52400"/>
            <a:ext cx="8458200" cy="1470025"/>
          </a:xfrm>
        </p:spPr>
        <p:txBody>
          <a:bodyPr>
            <a:noAutofit/>
          </a:bodyPr>
          <a:lstStyle/>
          <a:p>
            <a:r>
              <a:rPr lang="en-US" b="1" dirty="0">
                <a:effectLst>
                  <a:outerShdw blurRad="38100" dist="38100" dir="2700000" algn="tl">
                    <a:srgbClr val="000000">
                      <a:alpha val="43137"/>
                    </a:srgbClr>
                  </a:outerShdw>
                </a:effectLst>
              </a:rPr>
              <a:t>LANGUAGE PROCESSING SYSTEM</a:t>
            </a:r>
          </a:p>
        </p:txBody>
      </p:sp>
      <p:sp>
        <p:nvSpPr>
          <p:cNvPr id="3" name="Rectangle 2"/>
          <p:cNvSpPr/>
          <p:nvPr/>
        </p:nvSpPr>
        <p:spPr>
          <a:xfrm>
            <a:off x="381000" y="1600200"/>
            <a:ext cx="8534400" cy="4524315"/>
          </a:xfrm>
          <a:prstGeom prst="rect">
            <a:avLst/>
          </a:prstGeom>
        </p:spPr>
        <p:txBody>
          <a:bodyPr wrap="square">
            <a:spAutoFit/>
          </a:bodyPr>
          <a:lstStyle/>
          <a:p>
            <a:pPr algn="just"/>
            <a:r>
              <a:rPr lang="en-US" sz="3600" dirty="0"/>
              <a:t>In a language processing system, the source code is first preprocessed. </a:t>
            </a:r>
          </a:p>
          <a:p>
            <a:pPr algn="just"/>
            <a:r>
              <a:rPr lang="en-US" sz="3600" dirty="0"/>
              <a:t>The modified source program is processed by the compiler to form the target assembly program which is then translated by the assembler to create relocatable object codes that are processed by linker and loader to create the target program.</a:t>
            </a:r>
          </a:p>
        </p:txBody>
      </p:sp>
    </p:spTree>
    <p:extLst>
      <p:ext uri="{BB962C8B-B14F-4D97-AF65-F5344CB8AC3E}">
        <p14:creationId xmlns:p14="http://schemas.microsoft.com/office/powerpoint/2010/main" val="212255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Language Processing System - Naukri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762000"/>
            <a:ext cx="8305800" cy="584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90600" y="160337"/>
            <a:ext cx="7010400" cy="461665"/>
          </a:xfrm>
          <a:prstGeom prst="rect">
            <a:avLst/>
          </a:prstGeom>
          <a:noFill/>
        </p:spPr>
        <p:txBody>
          <a:bodyPr wrap="square" rtlCol="0">
            <a:spAutoFit/>
          </a:bodyPr>
          <a:lstStyle/>
          <a:p>
            <a:pPr algn="ctr"/>
            <a:r>
              <a:rPr lang="en-US" sz="2400" b="1" dirty="0"/>
              <a:t>STEPS IN A LANGUAGE PROCESSING SYSTEM</a:t>
            </a:r>
          </a:p>
        </p:txBody>
      </p:sp>
    </p:spTree>
    <p:extLst>
      <p:ext uri="{BB962C8B-B14F-4D97-AF65-F5344CB8AC3E}">
        <p14:creationId xmlns:p14="http://schemas.microsoft.com/office/powerpoint/2010/main" val="1840649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484909"/>
            <a:ext cx="8458200" cy="5230091"/>
          </a:xfrm>
        </p:spPr>
        <p:txBody>
          <a:bodyPr>
            <a:noAutofit/>
          </a:bodyPr>
          <a:lstStyle/>
          <a:p>
            <a:pPr algn="just" fontAlgn="base"/>
            <a:r>
              <a:rPr lang="en-US" sz="4000" b="1" dirty="0"/>
              <a:t>High-Level Language:</a:t>
            </a:r>
            <a:r>
              <a:rPr lang="en-US" sz="4000" dirty="0"/>
              <a:t> If a program contains pre-processor directives such as #include or #define it is called HLL. They are closer to humans but far from machines. These (#) tags are called preprocessor directives. They direct the pre-processor about what to do.</a:t>
            </a:r>
          </a:p>
        </p:txBody>
      </p:sp>
    </p:spTree>
    <p:extLst>
      <p:ext uri="{BB962C8B-B14F-4D97-AF65-F5344CB8AC3E}">
        <p14:creationId xmlns:p14="http://schemas.microsoft.com/office/powerpoint/2010/main" val="1246538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152400"/>
            <a:ext cx="8458200" cy="6400800"/>
          </a:xfrm>
        </p:spPr>
        <p:txBody>
          <a:bodyPr>
            <a:noAutofit/>
          </a:bodyPr>
          <a:lstStyle/>
          <a:p>
            <a:pPr algn="just" fontAlgn="base"/>
            <a:r>
              <a:rPr lang="en-US" b="1" dirty="0"/>
              <a:t>Pre-Processor:</a:t>
            </a:r>
            <a:r>
              <a:rPr lang="en-US" dirty="0"/>
              <a:t> The pre-processor removes all the #include directives by including the files called file inclusion .</a:t>
            </a:r>
          </a:p>
          <a:p>
            <a:pPr algn="just" fontAlgn="base"/>
            <a:r>
              <a:rPr lang="en-US" dirty="0"/>
              <a:t>All the # define directives using macro expansion.(define pi).</a:t>
            </a:r>
          </a:p>
          <a:p>
            <a:pPr marL="0" indent="0" algn="just" fontAlgn="base">
              <a:buNone/>
            </a:pPr>
            <a:r>
              <a:rPr lang="en-US" dirty="0"/>
              <a:t> It performs</a:t>
            </a:r>
          </a:p>
          <a:p>
            <a:pPr marL="514350" indent="-514350" algn="just" fontAlgn="base">
              <a:buAutoNum type="arabicParenR"/>
            </a:pPr>
            <a:r>
              <a:rPr lang="en-US" dirty="0"/>
              <a:t>file inclusion(Include header files in program)</a:t>
            </a:r>
          </a:p>
          <a:p>
            <a:pPr marL="514350" indent="-514350" algn="just" fontAlgn="base">
              <a:buAutoNum type="arabicParenR"/>
            </a:pPr>
            <a:r>
              <a:rPr lang="en-US" dirty="0"/>
              <a:t> macro expansions.</a:t>
            </a:r>
          </a:p>
          <a:p>
            <a:pPr marL="514350" indent="-514350" algn="just" fontAlgn="base">
              <a:buAutoNum type="arabicParenR"/>
            </a:pPr>
            <a:r>
              <a:rPr lang="en-US" dirty="0"/>
              <a:t>short hand operations(a+=1)  etc. </a:t>
            </a:r>
          </a:p>
          <a:p>
            <a:pPr algn="just" fontAlgn="base"/>
            <a:r>
              <a:rPr lang="en-US" b="1" dirty="0"/>
              <a:t>Pure HLL</a:t>
            </a:r>
            <a:r>
              <a:rPr lang="en-US" dirty="0"/>
              <a:t> − It means that the program will not contain any # tags. These # tags are also known as preprocessor directives.</a:t>
            </a:r>
          </a:p>
        </p:txBody>
      </p:sp>
    </p:spTree>
    <p:extLst>
      <p:ext uri="{BB962C8B-B14F-4D97-AF65-F5344CB8AC3E}">
        <p14:creationId xmlns:p14="http://schemas.microsoft.com/office/powerpoint/2010/main" val="2594522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839200" cy="5943600"/>
          </a:xfrm>
        </p:spPr>
        <p:txBody>
          <a:bodyPr>
            <a:noAutofit/>
          </a:bodyPr>
          <a:lstStyle/>
          <a:p>
            <a:pPr algn="just" fontAlgn="base"/>
            <a:r>
              <a:rPr lang="en-US" sz="3600" b="1" dirty="0"/>
              <a:t>Compiler: </a:t>
            </a:r>
            <a:r>
              <a:rPr lang="en-US" sz="2800" dirty="0"/>
              <a:t>A compiler is a computer program that translates computer code written in one programming language(source language) into another language(target language).</a:t>
            </a:r>
          </a:p>
          <a:p>
            <a:pPr algn="just" fontAlgn="base"/>
            <a:r>
              <a:rPr lang="en-US" sz="2800" dirty="0"/>
              <a:t>It converts pure HLL into assembly language.</a:t>
            </a:r>
          </a:p>
          <a:p>
            <a:pPr algn="just" fontAlgn="base"/>
            <a:r>
              <a:rPr lang="en-US" sz="2800" dirty="0"/>
              <a:t>The compiler is primarily used for programs that translate source code from a high level programming language to a lower level language(assembly language)      </a:t>
            </a:r>
          </a:p>
          <a:p>
            <a:endParaRPr lang="en-US" sz="3600"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962400"/>
            <a:ext cx="7619999"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2364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381000"/>
            <a:ext cx="9168581"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39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152400"/>
            <a:ext cx="8458200" cy="6400800"/>
          </a:xfrm>
        </p:spPr>
        <p:txBody>
          <a:bodyPr>
            <a:noAutofit/>
          </a:bodyPr>
          <a:lstStyle/>
          <a:p>
            <a:pPr algn="just" fontAlgn="base"/>
            <a:r>
              <a:rPr lang="en-US" sz="2800" b="1" dirty="0"/>
              <a:t>Assembly language:</a:t>
            </a:r>
            <a:r>
              <a:rPr lang="en-US" sz="2800" dirty="0"/>
              <a:t>  It’s neither in binary form nor high level. It is an intermediate state that is a combination of machine instructions and some other useful data needed for execution.</a:t>
            </a:r>
          </a:p>
          <a:p>
            <a:pPr algn="just" fontAlgn="base"/>
            <a:r>
              <a:rPr lang="en-US" sz="2800" b="1" dirty="0"/>
              <a:t>Assembler:</a:t>
            </a:r>
            <a:r>
              <a:rPr lang="en-US" sz="2800" dirty="0"/>
              <a:t> For every platform (Hardware + OS) we will have an assembler. They are not universal since for each platform we have one. The output of the assembler is called an object file. Its translates assembly language to machine code.</a:t>
            </a:r>
          </a:p>
          <a:p>
            <a:pPr algn="just" fontAlgn="base"/>
            <a:r>
              <a:rPr lang="en-US" sz="2800" b="1" dirty="0"/>
              <a:t>Relocatable Machine Code:</a:t>
            </a:r>
            <a:r>
              <a:rPr lang="en-US" sz="2800" dirty="0"/>
              <a:t> It can be loaded at any point and can be run. The address within the program will be in such a way that it will cooperate with the program movement.     </a:t>
            </a:r>
          </a:p>
        </p:txBody>
      </p:sp>
    </p:spTree>
    <p:extLst>
      <p:ext uri="{BB962C8B-B14F-4D97-AF65-F5344CB8AC3E}">
        <p14:creationId xmlns:p14="http://schemas.microsoft.com/office/powerpoint/2010/main" val="3318417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600" y="152400"/>
            <a:ext cx="8458200" cy="6400800"/>
          </a:xfrm>
        </p:spPr>
        <p:txBody>
          <a:bodyPr>
            <a:noAutofit/>
          </a:bodyPr>
          <a:lstStyle/>
          <a:p>
            <a:pPr algn="just" fontAlgn="base"/>
            <a:r>
              <a:rPr lang="en-US" sz="2800" b="1" dirty="0"/>
              <a:t>Loader/Linker: Linker </a:t>
            </a:r>
            <a:r>
              <a:rPr lang="en-US" sz="2800" dirty="0"/>
              <a:t>converts the relocatable code into absolute code and tries to run the program resulting in a running program or an error message (or sometimes both can happen). Linker loads a variety of object files into a single file to make it executable. Then loader loads it in memory and executes it.</a:t>
            </a:r>
          </a:p>
          <a:p>
            <a:pPr algn="just" fontAlgn="base"/>
            <a:r>
              <a:rPr lang="en-US" sz="2400" b="1" dirty="0"/>
              <a:t>Linker: </a:t>
            </a:r>
            <a:r>
              <a:rPr lang="en-US" sz="2400" dirty="0"/>
              <a:t>The basic work of a linker is to merge object codes (that have not even been connected), produced by the compiler, assembler, standard library function, and operating system resources.</a:t>
            </a:r>
          </a:p>
          <a:p>
            <a:pPr algn="just" fontAlgn="base"/>
            <a:r>
              <a:rPr lang="en-US" sz="2400" b="1" dirty="0"/>
              <a:t>Loader:</a:t>
            </a:r>
            <a:r>
              <a:rPr lang="en-US" sz="2400" dirty="0"/>
              <a:t> The codes generated by the compiler, assembler, and linker are generally re-located by their nature, which means to say, the starting location of these codes is not determined, which means they can be anywhere in the computer memory. Thus the basic task of loaders to find/calculate the exact address of these memory locations.</a:t>
            </a:r>
          </a:p>
          <a:p>
            <a:pPr algn="just" fontAlgn="base"/>
            <a:endParaRPr lang="en-US" sz="2800" dirty="0"/>
          </a:p>
        </p:txBody>
      </p:sp>
    </p:spTree>
    <p:extLst>
      <p:ext uri="{BB962C8B-B14F-4D97-AF65-F5344CB8AC3E}">
        <p14:creationId xmlns:p14="http://schemas.microsoft.com/office/powerpoint/2010/main" val="3947317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296" y="40044"/>
            <a:ext cx="9061704" cy="6817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61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6248400"/>
          </a:xfrm>
        </p:spPr>
        <p:txBody>
          <a:bodyPr>
            <a:normAutofit fontScale="62500" lnSpcReduction="20000"/>
          </a:bodyPr>
          <a:lstStyle/>
          <a:p>
            <a:endParaRPr lang="en-US" dirty="0"/>
          </a:p>
          <a:p>
            <a:pPr algn="ctr"/>
            <a:r>
              <a:rPr lang="en-US" sz="4200" b="1" dirty="0"/>
              <a:t>HISTORY</a:t>
            </a:r>
          </a:p>
          <a:p>
            <a:pPr algn="just">
              <a:lnSpc>
                <a:spcPct val="120000"/>
              </a:lnSpc>
            </a:pPr>
            <a:r>
              <a:rPr lang="en-US" sz="4200" dirty="0"/>
              <a:t>The first practical compiler was written by </a:t>
            </a:r>
            <a:r>
              <a:rPr lang="en-US" sz="4200" dirty="0" err="1">
                <a:hlinkClick r:id="rId2" tooltip="Corrado Böhm"/>
              </a:rPr>
              <a:t>Corrado</a:t>
            </a:r>
            <a:r>
              <a:rPr lang="en-US" sz="4200" dirty="0">
                <a:hlinkClick r:id="rId2" tooltip="Corrado Böhm"/>
              </a:rPr>
              <a:t> </a:t>
            </a:r>
            <a:r>
              <a:rPr lang="en-US" sz="4200" dirty="0" err="1">
                <a:hlinkClick r:id="rId2" tooltip="Corrado Böhm"/>
              </a:rPr>
              <a:t>Böhm</a:t>
            </a:r>
            <a:r>
              <a:rPr lang="en-US" sz="4200" dirty="0"/>
              <a:t> in 1951 for his PhD thesis.</a:t>
            </a:r>
          </a:p>
          <a:p>
            <a:pPr algn="just">
              <a:lnSpc>
                <a:spcPct val="120000"/>
              </a:lnSpc>
            </a:pPr>
            <a:r>
              <a:rPr lang="en-US" sz="4200" dirty="0"/>
              <a:t>The first implemented compiler was written by </a:t>
            </a:r>
            <a:r>
              <a:rPr lang="en-US" sz="4200" dirty="0">
                <a:hlinkClick r:id="rId3" tooltip="Grace Hopper"/>
              </a:rPr>
              <a:t>Grace Hopper</a:t>
            </a:r>
            <a:r>
              <a:rPr lang="en-US" sz="4200" dirty="0"/>
              <a:t>, who also coined the term "compiler",</a:t>
            </a:r>
            <a:r>
              <a:rPr lang="en-US" sz="4200" baseline="30000" dirty="0">
                <a:hlinkClick r:id="rId4"/>
              </a:rPr>
              <a:t>[6]</a:t>
            </a:r>
            <a:r>
              <a:rPr lang="en-US" sz="4200" baseline="30000" dirty="0">
                <a:hlinkClick r:id="rId5"/>
              </a:rPr>
              <a:t>[7]</a:t>
            </a:r>
            <a:r>
              <a:rPr lang="en-US" sz="4200" dirty="0"/>
              <a:t> referring to her </a:t>
            </a:r>
            <a:r>
              <a:rPr lang="en-US" sz="4200" dirty="0">
                <a:hlinkClick r:id="rId6" tooltip="A-0 system"/>
              </a:rPr>
              <a:t>A-0 system</a:t>
            </a:r>
            <a:r>
              <a:rPr lang="en-US" sz="4200" dirty="0"/>
              <a:t> which functioned as a </a:t>
            </a:r>
            <a:r>
              <a:rPr lang="en-US" sz="4200" dirty="0">
                <a:hlinkClick r:id="rId7" tooltip="Loader (computing)"/>
              </a:rPr>
              <a:t>loader</a:t>
            </a:r>
            <a:r>
              <a:rPr lang="en-US" sz="4200" dirty="0"/>
              <a:t> or </a:t>
            </a:r>
            <a:r>
              <a:rPr lang="en-US" sz="4200" dirty="0">
                <a:hlinkClick r:id="rId8" tooltip="Linker (computing)"/>
              </a:rPr>
              <a:t>linker</a:t>
            </a:r>
            <a:r>
              <a:rPr lang="en-US" sz="4200" dirty="0"/>
              <a:t>, not the modern notion of a compiler.</a:t>
            </a:r>
          </a:p>
          <a:p>
            <a:pPr algn="just">
              <a:lnSpc>
                <a:spcPct val="120000"/>
              </a:lnSpc>
            </a:pPr>
            <a:r>
              <a:rPr lang="en-US" sz="4200" dirty="0"/>
              <a:t>The first </a:t>
            </a:r>
            <a:r>
              <a:rPr lang="en-US" sz="4200" dirty="0" err="1">
                <a:hlinkClick r:id="rId9" tooltip="Autocode"/>
              </a:rPr>
              <a:t>Autocode</a:t>
            </a:r>
            <a:r>
              <a:rPr lang="en-US" sz="4200" dirty="0"/>
              <a:t> and compiler in the modern sense were developed by </a:t>
            </a:r>
            <a:r>
              <a:rPr lang="en-US" sz="4200" dirty="0" err="1">
                <a:hlinkClick r:id="rId10" tooltip="Alick Glennie"/>
              </a:rPr>
              <a:t>Alick</a:t>
            </a:r>
            <a:r>
              <a:rPr lang="en-US" sz="4200" dirty="0">
                <a:hlinkClick r:id="rId10" tooltip="Alick Glennie"/>
              </a:rPr>
              <a:t> </a:t>
            </a:r>
            <a:r>
              <a:rPr lang="en-US" sz="4200" dirty="0" err="1">
                <a:hlinkClick r:id="rId10" tooltip="Alick Glennie"/>
              </a:rPr>
              <a:t>Glennie</a:t>
            </a:r>
            <a:r>
              <a:rPr lang="en-US" sz="4200" dirty="0"/>
              <a:t> in 1952 at the </a:t>
            </a:r>
            <a:r>
              <a:rPr lang="en-US" sz="4200" dirty="0">
                <a:hlinkClick r:id="rId11" tooltip="University of Manchester"/>
              </a:rPr>
              <a:t>University of Manchester</a:t>
            </a:r>
            <a:r>
              <a:rPr lang="en-US" sz="4200" dirty="0"/>
              <a:t> for the </a:t>
            </a:r>
            <a:r>
              <a:rPr lang="en-US" sz="4200" dirty="0">
                <a:hlinkClick r:id="rId12" tooltip="Manchester Mark 1"/>
              </a:rPr>
              <a:t>Mark 1</a:t>
            </a:r>
            <a:r>
              <a:rPr lang="en-US" sz="4200" dirty="0"/>
              <a:t> </a:t>
            </a:r>
            <a:r>
              <a:rPr lang="en-US" sz="4200" dirty="0" err="1"/>
              <a:t>computer.The</a:t>
            </a:r>
            <a:r>
              <a:rPr lang="en-US" sz="4200" dirty="0"/>
              <a:t> </a:t>
            </a:r>
            <a:r>
              <a:rPr lang="en-US" sz="4200" dirty="0">
                <a:hlinkClick r:id="rId13" tooltip="FORTRAN"/>
              </a:rPr>
              <a:t>FORTRAN</a:t>
            </a:r>
            <a:r>
              <a:rPr lang="en-US" sz="4200" dirty="0"/>
              <a:t> team led by </a:t>
            </a:r>
            <a:r>
              <a:rPr lang="en-US" sz="4200" dirty="0">
                <a:hlinkClick r:id="rId14" tooltip="John W. Backus"/>
              </a:rPr>
              <a:t>John W. Backus</a:t>
            </a:r>
            <a:r>
              <a:rPr lang="en-US" sz="4200" dirty="0"/>
              <a:t> at </a:t>
            </a:r>
            <a:r>
              <a:rPr lang="en-US" sz="4200" dirty="0">
                <a:hlinkClick r:id="rId15" tooltip="IBM"/>
              </a:rPr>
              <a:t>IBM</a:t>
            </a:r>
            <a:r>
              <a:rPr lang="en-US" sz="4200" dirty="0"/>
              <a:t> introduced the first commercially available compiler, in 1957, which took 18 person-years to create.</a:t>
            </a:r>
          </a:p>
        </p:txBody>
      </p:sp>
    </p:spTree>
    <p:extLst>
      <p:ext uri="{BB962C8B-B14F-4D97-AF65-F5344CB8AC3E}">
        <p14:creationId xmlns:p14="http://schemas.microsoft.com/office/powerpoint/2010/main" val="3140411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STRUCTURE/ PHASES of a Compiler</a:t>
            </a:r>
            <a:br>
              <a:rPr lang="en-US" b="1" dirty="0"/>
            </a:br>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8991600" cy="601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2419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1" y="228600"/>
            <a:ext cx="8741356"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1222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b="1" dirty="0"/>
              <a:t>STRUCTURE/ PHASES of a Compiler</a:t>
            </a:r>
            <a:br>
              <a:rPr lang="en-US" b="1" dirty="0"/>
            </a:br>
            <a:endParaRPr lang="en-US" dirty="0"/>
          </a:p>
        </p:txBody>
      </p:sp>
      <p:sp>
        <p:nvSpPr>
          <p:cNvPr id="5" name="Text Placeholder 4"/>
          <p:cNvSpPr>
            <a:spLocks noGrp="1"/>
          </p:cNvSpPr>
          <p:nvPr>
            <p:ph type="body" idx="1"/>
          </p:nvPr>
        </p:nvSpPr>
        <p:spPr>
          <a:xfrm>
            <a:off x="457200" y="1219200"/>
            <a:ext cx="4040188" cy="1143000"/>
          </a:xfrm>
        </p:spPr>
        <p:txBody>
          <a:bodyPr>
            <a:normAutofit/>
          </a:bodyPr>
          <a:lstStyle/>
          <a:p>
            <a:r>
              <a:rPr lang="en-US" sz="3200" dirty="0"/>
              <a:t>     Analysis Phase</a:t>
            </a:r>
          </a:p>
          <a:p>
            <a:endParaRPr lang="en-US" sz="3200" dirty="0"/>
          </a:p>
        </p:txBody>
      </p:sp>
      <p:sp>
        <p:nvSpPr>
          <p:cNvPr id="7" name="Title 1"/>
          <p:cNvSpPr>
            <a:spLocks noGrp="1"/>
          </p:cNvSpPr>
          <p:nvPr>
            <p:ph sz="half" idx="2"/>
          </p:nvPr>
        </p:nvSpPr>
        <p:spPr>
          <a:xfrm>
            <a:off x="457200" y="1676400"/>
            <a:ext cx="4040188" cy="4800600"/>
          </a:xfrm>
        </p:spPr>
        <p:txBody>
          <a:bodyPr>
            <a:noAutofit/>
          </a:bodyPr>
          <a:lstStyle/>
          <a:p>
            <a:pPr fontAlgn="base"/>
            <a:r>
              <a:rPr lang="en-US" sz="2800" dirty="0"/>
              <a:t>An intermediate </a:t>
            </a:r>
            <a:r>
              <a:rPr lang="en-US" sz="3200" dirty="0"/>
              <a:t>representation</a:t>
            </a:r>
            <a:r>
              <a:rPr lang="en-US" sz="2800" dirty="0"/>
              <a:t> is created from the given source code : </a:t>
            </a:r>
          </a:p>
          <a:p>
            <a:pPr fontAlgn="base"/>
            <a:r>
              <a:rPr lang="en-US" sz="2800" u="sng" dirty="0">
                <a:hlinkClick r:id="rId2"/>
              </a:rPr>
              <a:t>Lexical Analyzer</a:t>
            </a:r>
            <a:endParaRPr lang="en-US" sz="2800" dirty="0"/>
          </a:p>
          <a:p>
            <a:pPr fontAlgn="base"/>
            <a:r>
              <a:rPr lang="en-US" sz="2800" u="sng" dirty="0">
                <a:hlinkClick r:id="rId3"/>
              </a:rPr>
              <a:t>Syntax Analyzer</a:t>
            </a:r>
            <a:endParaRPr lang="en-US" sz="2800" dirty="0"/>
          </a:p>
          <a:p>
            <a:pPr fontAlgn="base"/>
            <a:r>
              <a:rPr lang="en-US" sz="2800" u="sng" dirty="0">
                <a:hlinkClick r:id="rId4"/>
              </a:rPr>
              <a:t>Semantic Analyzer</a:t>
            </a:r>
            <a:endParaRPr lang="en-US" sz="2800" dirty="0"/>
          </a:p>
          <a:p>
            <a:pPr fontAlgn="base"/>
            <a:r>
              <a:rPr lang="en-US" sz="2800" u="sng" dirty="0">
                <a:hlinkClick r:id="rId5"/>
              </a:rPr>
              <a:t>Intermediate Code Generator</a:t>
            </a:r>
            <a:endParaRPr lang="en-US" sz="2800" dirty="0"/>
          </a:p>
          <a:p>
            <a:pPr marL="0" indent="0" fontAlgn="base">
              <a:buNone/>
            </a:pPr>
            <a:br>
              <a:rPr lang="en-US" sz="2800" b="1" dirty="0"/>
            </a:br>
            <a:endParaRPr lang="en-US" sz="2800" dirty="0"/>
          </a:p>
        </p:txBody>
      </p:sp>
      <p:sp>
        <p:nvSpPr>
          <p:cNvPr id="8" name="Text Placeholder 7"/>
          <p:cNvSpPr>
            <a:spLocks noGrp="1"/>
          </p:cNvSpPr>
          <p:nvPr>
            <p:ph type="body" sz="quarter" idx="3"/>
          </p:nvPr>
        </p:nvSpPr>
        <p:spPr>
          <a:xfrm>
            <a:off x="4648200" y="990600"/>
            <a:ext cx="4041775" cy="1143000"/>
          </a:xfrm>
        </p:spPr>
        <p:txBody>
          <a:bodyPr/>
          <a:lstStyle/>
          <a:p>
            <a:r>
              <a:rPr lang="en-US" sz="3200" dirty="0"/>
              <a:t>    Synthesis Phase</a:t>
            </a:r>
          </a:p>
          <a:p>
            <a:endParaRPr lang="en-US" dirty="0"/>
          </a:p>
        </p:txBody>
      </p:sp>
      <p:sp>
        <p:nvSpPr>
          <p:cNvPr id="9" name="Content Placeholder 8"/>
          <p:cNvSpPr>
            <a:spLocks noGrp="1"/>
          </p:cNvSpPr>
          <p:nvPr>
            <p:ph sz="quarter" idx="4"/>
          </p:nvPr>
        </p:nvSpPr>
        <p:spPr>
          <a:xfrm>
            <a:off x="4572000" y="1600200"/>
            <a:ext cx="4041775" cy="3951288"/>
          </a:xfrm>
        </p:spPr>
        <p:txBody>
          <a:bodyPr>
            <a:noAutofit/>
          </a:bodyPr>
          <a:lstStyle/>
          <a:p>
            <a:pPr fontAlgn="base"/>
            <a:r>
              <a:rPr lang="en-US" sz="3200" dirty="0"/>
              <a:t>An equivalent target program is created from the intermediate representation. It has two parts : </a:t>
            </a:r>
          </a:p>
          <a:p>
            <a:pPr fontAlgn="base"/>
            <a:r>
              <a:rPr lang="en-US" sz="3200" u="sng" dirty="0">
                <a:hlinkClick r:id="rId6"/>
              </a:rPr>
              <a:t>Code Optimizer</a:t>
            </a:r>
            <a:endParaRPr lang="en-US" sz="3200" dirty="0"/>
          </a:p>
          <a:p>
            <a:pPr fontAlgn="base"/>
            <a:r>
              <a:rPr lang="en-US" sz="3200" u="sng" dirty="0">
                <a:hlinkClick r:id="rId7"/>
              </a:rPr>
              <a:t>Code Generator</a:t>
            </a:r>
            <a:endParaRPr lang="en-US" sz="3200" dirty="0"/>
          </a:p>
          <a:p>
            <a:pPr marL="0" indent="0">
              <a:buNone/>
            </a:pPr>
            <a:br>
              <a:rPr lang="en-US" sz="3200" dirty="0"/>
            </a:br>
            <a:endParaRPr lang="en-US" sz="3200" dirty="0"/>
          </a:p>
        </p:txBody>
      </p:sp>
    </p:spTree>
    <p:extLst>
      <p:ext uri="{BB962C8B-B14F-4D97-AF65-F5344CB8AC3E}">
        <p14:creationId xmlns:p14="http://schemas.microsoft.com/office/powerpoint/2010/main" val="2633023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533400"/>
            <a:ext cx="8642935"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048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94463"/>
            <a:ext cx="8462016" cy="6511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4884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LEXICAL ANALYZER </a:t>
            </a:r>
          </a:p>
        </p:txBody>
      </p:sp>
      <p:sp>
        <p:nvSpPr>
          <p:cNvPr id="2" name="Content Placeholder 1"/>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985838"/>
            <a:ext cx="8467725" cy="518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676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Autofit/>
          </a:bodyPr>
          <a:lstStyle/>
          <a:p>
            <a:pPr marL="0" indent="0">
              <a:buNone/>
            </a:pPr>
            <a:r>
              <a:rPr lang="en-US" sz="2800" dirty="0"/>
              <a:t>For example</a:t>
            </a:r>
          </a:p>
          <a:p>
            <a:r>
              <a:rPr lang="en-US" sz="2800" dirty="0"/>
              <a:t> In lexical analysis the characters in the assignment statement     </a:t>
            </a:r>
            <a:r>
              <a:rPr lang="en-US" sz="2800" b="1" dirty="0"/>
              <a:t>position: = initial + rate * 60</a:t>
            </a:r>
          </a:p>
          <a:p>
            <a:pPr marL="0" indent="0">
              <a:buNone/>
            </a:pPr>
            <a:r>
              <a:rPr lang="en-US" sz="2800" dirty="0"/>
              <a:t>    would be grouped in to the following tokens</a:t>
            </a:r>
          </a:p>
          <a:p>
            <a:pPr marL="0" indent="0">
              <a:buNone/>
            </a:pPr>
            <a:endParaRPr lang="en-US" sz="2800" dirty="0"/>
          </a:p>
          <a:p>
            <a:pPr marL="0" indent="0">
              <a:buNone/>
            </a:pPr>
            <a:r>
              <a:rPr lang="en-US" sz="2800" dirty="0"/>
              <a:t>1. The identifier </a:t>
            </a:r>
            <a:r>
              <a:rPr lang="en-US" sz="2800" b="1" dirty="0"/>
              <a:t>position</a:t>
            </a:r>
          </a:p>
          <a:p>
            <a:pPr marL="0" indent="0">
              <a:buNone/>
            </a:pPr>
            <a:r>
              <a:rPr lang="en-US" sz="2800" dirty="0"/>
              <a:t>2. The assignment symbol: </a:t>
            </a:r>
            <a:r>
              <a:rPr lang="en-US" sz="2800" b="1" dirty="0"/>
              <a:t>=</a:t>
            </a:r>
          </a:p>
          <a:p>
            <a:pPr marL="0" indent="0">
              <a:buNone/>
            </a:pPr>
            <a:r>
              <a:rPr lang="en-US" sz="2800" dirty="0"/>
              <a:t>3. The identifier </a:t>
            </a:r>
            <a:r>
              <a:rPr lang="en-US" sz="2800" b="1" dirty="0"/>
              <a:t>initial</a:t>
            </a:r>
          </a:p>
          <a:p>
            <a:pPr marL="0" indent="0">
              <a:buNone/>
            </a:pPr>
            <a:r>
              <a:rPr lang="en-US" sz="2800" dirty="0"/>
              <a:t>4. The </a:t>
            </a:r>
            <a:r>
              <a:rPr lang="en-US" sz="2800" b="1" dirty="0"/>
              <a:t>plus</a:t>
            </a:r>
            <a:r>
              <a:rPr lang="en-US" sz="2800" dirty="0"/>
              <a:t> sign</a:t>
            </a:r>
          </a:p>
          <a:p>
            <a:pPr marL="0" indent="0">
              <a:buNone/>
            </a:pPr>
            <a:r>
              <a:rPr lang="en-US" sz="2800" dirty="0"/>
              <a:t>5. The identifier </a:t>
            </a:r>
            <a:r>
              <a:rPr lang="en-US" sz="2800" b="1" dirty="0"/>
              <a:t>rate</a:t>
            </a:r>
          </a:p>
          <a:p>
            <a:pPr marL="0" indent="0">
              <a:buNone/>
            </a:pPr>
            <a:r>
              <a:rPr lang="en-US" sz="2800" dirty="0"/>
              <a:t>6. The</a:t>
            </a:r>
            <a:r>
              <a:rPr lang="en-US" sz="2800" b="1" dirty="0"/>
              <a:t> multiplication </a:t>
            </a:r>
            <a:r>
              <a:rPr lang="en-US" sz="2800" dirty="0"/>
              <a:t>sign</a:t>
            </a:r>
          </a:p>
          <a:p>
            <a:pPr marL="0" indent="0">
              <a:buNone/>
            </a:pPr>
            <a:r>
              <a:rPr lang="en-US" sz="2800" dirty="0"/>
              <a:t>7. The number </a:t>
            </a:r>
            <a:r>
              <a:rPr lang="en-US" sz="2800" b="1" dirty="0"/>
              <a:t>60</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86001"/>
            <a:ext cx="5029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8205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SYNTAX ANALYZER </a:t>
            </a:r>
          </a:p>
        </p:txBody>
      </p:sp>
      <p:sp>
        <p:nvSpPr>
          <p:cNvPr id="8" name="Content Placeholder 7"/>
          <p:cNvSpPr>
            <a:spLocks noGrp="1"/>
          </p:cNvSpPr>
          <p:nvPr>
            <p:ph idx="1"/>
          </p:nvPr>
        </p:nvSpPr>
        <p:spPr>
          <a:xfrm>
            <a:off x="457200" y="838200"/>
            <a:ext cx="8229600" cy="5867400"/>
          </a:xfrm>
        </p:spPr>
        <p:txBody>
          <a:bodyPr>
            <a:noAutofit/>
          </a:bodyPr>
          <a:lstStyle/>
          <a:p>
            <a:pPr algn="just"/>
            <a:r>
              <a:rPr lang="en-US" dirty="0"/>
              <a:t>The second phase of a compiler is syntax analyzer, also known as parser. </a:t>
            </a:r>
          </a:p>
          <a:p>
            <a:pPr algn="just"/>
            <a:r>
              <a:rPr lang="en-US" dirty="0"/>
              <a:t>It use productions of CFG to construct parse tree.</a:t>
            </a:r>
          </a:p>
          <a:p>
            <a:pPr algn="just"/>
            <a:r>
              <a:rPr lang="en-US" dirty="0"/>
              <a:t>Its primary goal is to verify the syntactical correctness of the source code.</a:t>
            </a:r>
          </a:p>
          <a:p>
            <a:pPr algn="just"/>
            <a:r>
              <a:rPr lang="en-US" dirty="0"/>
              <a:t> It takes the tokens generated by the lexical analyzer and attempts to build a </a:t>
            </a:r>
            <a:r>
              <a:rPr lang="en-US" b="1" dirty="0"/>
              <a:t>Parse Tree</a:t>
            </a:r>
            <a:r>
              <a:rPr lang="en-US" dirty="0"/>
              <a:t> or </a:t>
            </a:r>
            <a:r>
              <a:rPr lang="en-US" b="1" dirty="0"/>
              <a:t>Abstract Syntax Tree (AST)</a:t>
            </a:r>
            <a:r>
              <a:rPr lang="en-US" dirty="0"/>
              <a:t>.</a:t>
            </a:r>
          </a:p>
          <a:p>
            <a:pPr algn="just"/>
            <a:r>
              <a:rPr lang="en-US" dirty="0"/>
              <a:t>It reads all the tokens one by one.</a:t>
            </a:r>
          </a:p>
        </p:txBody>
      </p:sp>
    </p:spTree>
    <p:extLst>
      <p:ext uri="{BB962C8B-B14F-4D97-AF65-F5344CB8AC3E}">
        <p14:creationId xmlns:p14="http://schemas.microsoft.com/office/powerpoint/2010/main" val="3598470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a:t>EXAMPLE</a:t>
            </a:r>
            <a:br>
              <a:rPr lang="en-US" dirty="0"/>
            </a:br>
            <a:endParaRPr lang="en-US" dirty="0"/>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535" y="2971800"/>
            <a:ext cx="8713665"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1825" y="1447799"/>
            <a:ext cx="5486400" cy="1351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1" y="992021"/>
            <a:ext cx="2209800" cy="1806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2788" y="849146"/>
            <a:ext cx="4209663" cy="44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4506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SEMANTIC ANALYSIS </a:t>
            </a:r>
          </a:p>
        </p:txBody>
      </p:sp>
      <p:sp>
        <p:nvSpPr>
          <p:cNvPr id="8" name="Content Placeholder 7"/>
          <p:cNvSpPr>
            <a:spLocks noGrp="1"/>
          </p:cNvSpPr>
          <p:nvPr>
            <p:ph idx="1"/>
          </p:nvPr>
        </p:nvSpPr>
        <p:spPr>
          <a:xfrm>
            <a:off x="457200" y="914400"/>
            <a:ext cx="8229600" cy="4953000"/>
          </a:xfrm>
        </p:spPr>
        <p:txBody>
          <a:bodyPr>
            <a:noAutofit/>
          </a:bodyPr>
          <a:lstStyle/>
          <a:p>
            <a:pPr fontAlgn="base"/>
            <a:r>
              <a:rPr lang="en-US" sz="2800" dirty="0"/>
              <a:t>This phase checks whether the code is semantically correct. </a:t>
            </a:r>
          </a:p>
          <a:p>
            <a:pPr fontAlgn="base"/>
            <a:r>
              <a:rPr lang="en-US" sz="2800" dirty="0"/>
              <a:t>In this stage, the compiler checks the meaning of the source code to ensure that it makes sense. </a:t>
            </a:r>
          </a:p>
          <a:p>
            <a:pPr fontAlgn="base"/>
            <a:r>
              <a:rPr lang="en-US" sz="2800" dirty="0"/>
              <a:t>The compiler performs type checking,(Shows error when try to add a string to an integer) which ensures that variables are used correctly and that operations are performed on compatible data types. The compiler also checks for other semantic errors, such as undeclared variables and incorrect function calls.</a:t>
            </a:r>
          </a:p>
        </p:txBody>
      </p:sp>
    </p:spTree>
    <p:extLst>
      <p:ext uri="{BB962C8B-B14F-4D97-AF65-F5344CB8AC3E}">
        <p14:creationId xmlns:p14="http://schemas.microsoft.com/office/powerpoint/2010/main" val="632774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048000"/>
            <a:ext cx="839462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609600"/>
            <a:ext cx="6248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2413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Intermediate Code Generator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57400"/>
            <a:ext cx="81248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6"/>
          <p:cNvSpPr txBox="1">
            <a:spLocks/>
          </p:cNvSpPr>
          <p:nvPr/>
        </p:nvSpPr>
        <p:spPr>
          <a:xfrm>
            <a:off x="457200" y="1219200"/>
            <a:ext cx="8405812" cy="838200"/>
          </a:xfrm>
          <a:prstGeom prst="rect">
            <a:avLst/>
          </a:prstGeom>
        </p:spPr>
        <p:txBody>
          <a:bodyPr vert="horz" lIns="91440" tIns="45720" rIns="91440" bIns="45720" rtlCol="0" anchor="ctr">
            <a:normAutofit fontScale="6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t>It generates intermediate code , that is a form which can be readily understood by machine.</a:t>
            </a:r>
          </a:p>
        </p:txBody>
      </p:sp>
    </p:spTree>
    <p:extLst>
      <p:ext uri="{BB962C8B-B14F-4D97-AF65-F5344CB8AC3E}">
        <p14:creationId xmlns:p14="http://schemas.microsoft.com/office/powerpoint/2010/main" val="4259501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6571718"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626019"/>
            <a:ext cx="4209663" cy="44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7194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Optimization</a:t>
            </a:r>
          </a:p>
        </p:txBody>
      </p:sp>
      <p:sp>
        <p:nvSpPr>
          <p:cNvPr id="8" name="Content Placeholder 7"/>
          <p:cNvSpPr>
            <a:spLocks noGrp="1"/>
          </p:cNvSpPr>
          <p:nvPr>
            <p:ph idx="1"/>
          </p:nvPr>
        </p:nvSpPr>
        <p:spPr>
          <a:xfrm>
            <a:off x="457200" y="1219200"/>
            <a:ext cx="8229600" cy="4953000"/>
          </a:xfrm>
        </p:spPr>
        <p:txBody>
          <a:bodyPr>
            <a:noAutofit/>
          </a:bodyPr>
          <a:lstStyle/>
          <a:p>
            <a:pPr fontAlgn="base"/>
            <a:r>
              <a:rPr lang="en-US" dirty="0"/>
              <a:t>The fifth phase of a compiler is optimization. This phase applies various optimization techniques to the intermediate code to improve the performance of the generated machine code.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4161993"/>
            <a:ext cx="7086600" cy="225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7727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0"/>
            <a:ext cx="8229600" cy="1143000"/>
          </a:xfrm>
        </p:spPr>
        <p:txBody>
          <a:bodyPr/>
          <a:lstStyle/>
          <a:p>
            <a:r>
              <a:rPr lang="en-US" dirty="0"/>
              <a:t>Code Generation</a:t>
            </a:r>
          </a:p>
        </p:txBody>
      </p:sp>
      <p:sp>
        <p:nvSpPr>
          <p:cNvPr id="8" name="Content Placeholder 7"/>
          <p:cNvSpPr>
            <a:spLocks noGrp="1"/>
          </p:cNvSpPr>
          <p:nvPr>
            <p:ph idx="1"/>
          </p:nvPr>
        </p:nvSpPr>
        <p:spPr>
          <a:xfrm>
            <a:off x="457200" y="1219200"/>
            <a:ext cx="8229600" cy="4953000"/>
          </a:xfrm>
        </p:spPr>
        <p:txBody>
          <a:bodyPr>
            <a:noAutofit/>
          </a:bodyPr>
          <a:lstStyle/>
          <a:p>
            <a:pPr fontAlgn="base"/>
            <a:r>
              <a:rPr lang="en-US" dirty="0"/>
              <a:t>The final phase of a compiler is code generation. This phase takes the optimized intermediate code and generates the actual machine code that can be executed by the target hardware.</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604" y="3886200"/>
            <a:ext cx="5631996"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0553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Symbol Table</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229600" cy="3532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3914775"/>
            <a:ext cx="2057400" cy="282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47700" y="4495800"/>
            <a:ext cx="4572000" cy="1200329"/>
          </a:xfrm>
          <a:prstGeom prst="rect">
            <a:avLst/>
          </a:prstGeom>
        </p:spPr>
        <p:txBody>
          <a:bodyPr>
            <a:spAutoFit/>
          </a:bodyPr>
          <a:lstStyle/>
          <a:p>
            <a:r>
              <a:rPr lang="en-US" sz="2400" b="1" dirty="0"/>
              <a:t>It helps the compiler to function smoothly by finding the identifiers quickly.</a:t>
            </a:r>
          </a:p>
        </p:txBody>
      </p:sp>
    </p:spTree>
    <p:extLst>
      <p:ext uri="{BB962C8B-B14F-4D97-AF65-F5344CB8AC3E}">
        <p14:creationId xmlns:p14="http://schemas.microsoft.com/office/powerpoint/2010/main" val="3556112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descr="20-Lecture-01-introduction-to-compiler-20-638.jpg"/>
          <p:cNvPicPr>
            <a:picLocks noChangeAspect="1"/>
          </p:cNvPicPr>
          <p:nvPr/>
        </p:nvPicPr>
        <p:blipFill>
          <a:blip r:embed="rId2"/>
          <a:stretch>
            <a:fillRect/>
          </a:stretch>
        </p:blipFill>
        <p:spPr>
          <a:xfrm>
            <a:off x="20782" y="0"/>
            <a:ext cx="9144000" cy="6858000"/>
          </a:xfrm>
          <a:prstGeom prst="rect">
            <a:avLst/>
          </a:prstGeom>
        </p:spPr>
      </p:pic>
    </p:spTree>
    <p:extLst>
      <p:ext uri="{BB962C8B-B14F-4D97-AF65-F5344CB8AC3E}">
        <p14:creationId xmlns:p14="http://schemas.microsoft.com/office/powerpoint/2010/main" val="25335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1"/>
            <a:ext cx="8915400" cy="6553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3031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OF PHASES</a:t>
            </a:r>
          </a:p>
        </p:txBody>
      </p:sp>
      <p:sp>
        <p:nvSpPr>
          <p:cNvPr id="3" name="Content Placeholder 2"/>
          <p:cNvSpPr>
            <a:spLocks noGrp="1"/>
          </p:cNvSpPr>
          <p:nvPr>
            <p:ph idx="1"/>
          </p:nvPr>
        </p:nvSpPr>
        <p:spPr/>
        <p:txBody>
          <a:bodyPr/>
          <a:lstStyle/>
          <a:p>
            <a:r>
              <a:rPr lang="en-US" dirty="0"/>
              <a:t>Generally, phases are divided into two parts:</a:t>
            </a:r>
          </a:p>
          <a:p>
            <a:pPr marL="0" indent="0">
              <a:buNone/>
            </a:pPr>
            <a:r>
              <a:rPr lang="en-US" b="1" dirty="0"/>
              <a:t>1. Front End phases</a:t>
            </a:r>
          </a:p>
          <a:p>
            <a:pPr marL="0" indent="0">
              <a:buNone/>
            </a:pPr>
            <a:r>
              <a:rPr lang="en-US" b="1" dirty="0"/>
              <a:t>2. Back End</a:t>
            </a:r>
            <a:r>
              <a:rPr lang="en-US" dirty="0"/>
              <a:t> </a:t>
            </a:r>
            <a:r>
              <a:rPr lang="en-US" b="1" dirty="0"/>
              <a:t>phases</a:t>
            </a:r>
            <a:endParaRPr lang="en-US" dirty="0"/>
          </a:p>
        </p:txBody>
      </p:sp>
    </p:spTree>
    <p:extLst>
      <p:ext uri="{BB962C8B-B14F-4D97-AF65-F5344CB8AC3E}">
        <p14:creationId xmlns:p14="http://schemas.microsoft.com/office/powerpoint/2010/main" val="5814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Autofit/>
          </a:bodyPr>
          <a:lstStyle/>
          <a:p>
            <a:pPr marL="0" indent="0" fontAlgn="base">
              <a:buNone/>
            </a:pPr>
            <a:r>
              <a:rPr lang="en-US" b="1" dirty="0"/>
              <a:t>1. Front End phases: </a:t>
            </a:r>
            <a:r>
              <a:rPr lang="en-US" dirty="0"/>
              <a:t>The front end consists of those phases or parts of phases that are source language-dependent and target machine, independents. These generally consist of </a:t>
            </a:r>
            <a:r>
              <a:rPr lang="en-US" u="sng" dirty="0">
                <a:hlinkClick r:id="rId2"/>
              </a:rPr>
              <a:t>lexical analysis</a:t>
            </a:r>
            <a:r>
              <a:rPr lang="en-US" dirty="0"/>
              <a:t>, </a:t>
            </a:r>
            <a:r>
              <a:rPr lang="en-US" u="sng" dirty="0">
                <a:hlinkClick r:id="rId3"/>
              </a:rPr>
              <a:t>semantic analysis</a:t>
            </a:r>
            <a:r>
              <a:rPr lang="en-US" dirty="0"/>
              <a:t>, </a:t>
            </a:r>
            <a:r>
              <a:rPr lang="en-US" u="sng" dirty="0">
                <a:hlinkClick r:id="rId4"/>
              </a:rPr>
              <a:t>syntactic analysis</a:t>
            </a:r>
            <a:r>
              <a:rPr lang="en-US" dirty="0"/>
              <a:t>, </a:t>
            </a:r>
            <a:r>
              <a:rPr lang="en-US" u="sng" dirty="0">
                <a:hlinkClick r:id="rId5"/>
              </a:rPr>
              <a:t>symbol table creation</a:t>
            </a:r>
            <a:r>
              <a:rPr lang="en-US" dirty="0"/>
              <a:t>, and </a:t>
            </a:r>
            <a:r>
              <a:rPr lang="en-US" u="sng" dirty="0">
                <a:hlinkClick r:id="rId6"/>
              </a:rPr>
              <a:t>intermediate code generation</a:t>
            </a:r>
            <a:r>
              <a:rPr lang="en-US" dirty="0"/>
              <a:t>. A little part of code optimization can also be included in the front-end part. The front-end part also includes the error handling that goes along with each of the phases.</a:t>
            </a:r>
            <a:br>
              <a:rPr lang="en-US" dirty="0"/>
            </a:br>
            <a:endParaRPr lang="en-US" dirty="0"/>
          </a:p>
        </p:txBody>
      </p:sp>
    </p:spTree>
    <p:extLst>
      <p:ext uri="{BB962C8B-B14F-4D97-AF65-F5344CB8AC3E}">
        <p14:creationId xmlns:p14="http://schemas.microsoft.com/office/powerpoint/2010/main" val="3014299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999" y="314098"/>
            <a:ext cx="4346575" cy="526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169287" y="5943600"/>
            <a:ext cx="2369303" cy="461665"/>
          </a:xfrm>
          <a:prstGeom prst="rect">
            <a:avLst/>
          </a:prstGeom>
        </p:spPr>
        <p:txBody>
          <a:bodyPr wrap="none">
            <a:spAutoFit/>
          </a:bodyPr>
          <a:lstStyle/>
          <a:p>
            <a:r>
              <a:rPr lang="en-US" sz="2400" b="1" dirty="0"/>
              <a:t>Front End phases</a:t>
            </a:r>
            <a:endParaRPr lang="en-US" sz="2400" dirty="0"/>
          </a:p>
        </p:txBody>
      </p:sp>
    </p:spTree>
    <p:extLst>
      <p:ext uri="{BB962C8B-B14F-4D97-AF65-F5344CB8AC3E}">
        <p14:creationId xmlns:p14="http://schemas.microsoft.com/office/powerpoint/2010/main" val="2398938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229600" cy="5410200"/>
          </a:xfrm>
        </p:spPr>
        <p:txBody>
          <a:bodyPr>
            <a:normAutofit/>
          </a:bodyPr>
          <a:lstStyle/>
          <a:p>
            <a:pPr marL="0" indent="0">
              <a:buNone/>
            </a:pPr>
            <a:r>
              <a:rPr lang="en-US" sz="3600" b="1" dirty="0"/>
              <a:t>2. Back End</a:t>
            </a:r>
            <a:r>
              <a:rPr lang="en-US" sz="3600" dirty="0"/>
              <a:t> </a:t>
            </a:r>
            <a:r>
              <a:rPr lang="en-US" sz="3600" b="1" dirty="0"/>
              <a:t>phases: </a:t>
            </a:r>
            <a:r>
              <a:rPr lang="en-US" sz="3600" dirty="0"/>
              <a:t>The portions of compilers that depend on the target machine and do not depend on the source language are included in the back end. In the back end, code generation and necessary features of code optimization phases, along with error handling and symbol table operations are also included.</a:t>
            </a:r>
          </a:p>
        </p:txBody>
      </p:sp>
    </p:spTree>
    <p:extLst>
      <p:ext uri="{BB962C8B-B14F-4D97-AF65-F5344CB8AC3E}">
        <p14:creationId xmlns:p14="http://schemas.microsoft.com/office/powerpoint/2010/main" val="1139076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762000"/>
            <a:ext cx="4189526" cy="364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0" y="4953000"/>
            <a:ext cx="2640466" cy="523220"/>
          </a:xfrm>
          <a:prstGeom prst="rect">
            <a:avLst/>
          </a:prstGeom>
        </p:spPr>
        <p:txBody>
          <a:bodyPr wrap="none">
            <a:spAutoFit/>
          </a:bodyPr>
          <a:lstStyle/>
          <a:p>
            <a:r>
              <a:rPr lang="en-US" sz="2800" b="1" dirty="0"/>
              <a:t>Back End</a:t>
            </a:r>
            <a:r>
              <a:rPr lang="en-US" sz="2800" dirty="0"/>
              <a:t> </a:t>
            </a:r>
            <a:r>
              <a:rPr lang="en-US" sz="2800" b="1" dirty="0"/>
              <a:t>phases</a:t>
            </a:r>
            <a:endParaRPr lang="en-US" sz="2800" dirty="0"/>
          </a:p>
        </p:txBody>
      </p:sp>
    </p:spTree>
    <p:extLst>
      <p:ext uri="{BB962C8B-B14F-4D97-AF65-F5344CB8AC3E}">
        <p14:creationId xmlns:p14="http://schemas.microsoft.com/office/powerpoint/2010/main" val="1885471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15962"/>
          </a:xfrm>
        </p:spPr>
        <p:txBody>
          <a:bodyPr>
            <a:normAutofit fontScale="90000"/>
          </a:bodyPr>
          <a:lstStyle/>
          <a:p>
            <a:r>
              <a:rPr lang="en-US" b="1" dirty="0"/>
              <a:t>Passes in Compiler:</a:t>
            </a:r>
            <a:br>
              <a:rPr lang="en-US" b="1" dirty="0"/>
            </a:br>
            <a:endParaRPr lang="en-US" dirty="0"/>
          </a:p>
        </p:txBody>
      </p:sp>
      <p:sp>
        <p:nvSpPr>
          <p:cNvPr id="3" name="Content Placeholder 2"/>
          <p:cNvSpPr>
            <a:spLocks noGrp="1"/>
          </p:cNvSpPr>
          <p:nvPr>
            <p:ph idx="1"/>
          </p:nvPr>
        </p:nvSpPr>
        <p:spPr>
          <a:xfrm>
            <a:off x="457200" y="1143000"/>
            <a:ext cx="8229600" cy="4525963"/>
          </a:xfrm>
        </p:spPr>
        <p:txBody>
          <a:bodyPr>
            <a:normAutofit fontScale="92500"/>
          </a:bodyPr>
          <a:lstStyle/>
          <a:p>
            <a:pPr marL="0" indent="0" fontAlgn="base">
              <a:buNone/>
            </a:pPr>
            <a:r>
              <a:rPr lang="en-US" dirty="0"/>
              <a:t>A pass is a component where parts of one or more phases of the compiler are combined when a compiler is implemented. A pass reads or scans the instructions of the source program or the output produced by the previous pass, which makes necessary transformation specified by its phases.</a:t>
            </a:r>
          </a:p>
          <a:p>
            <a:pPr marL="0" indent="0" fontAlgn="base">
              <a:buNone/>
            </a:pPr>
            <a:r>
              <a:rPr lang="en-US" dirty="0"/>
              <a:t>There are generally two types of passes</a:t>
            </a:r>
          </a:p>
          <a:p>
            <a:pPr fontAlgn="base"/>
            <a:r>
              <a:rPr lang="en-US" dirty="0"/>
              <a:t>One-pass</a:t>
            </a:r>
          </a:p>
          <a:p>
            <a:pPr fontAlgn="base"/>
            <a:r>
              <a:rPr lang="en-US" dirty="0"/>
              <a:t>Two-pass</a:t>
            </a:r>
          </a:p>
          <a:p>
            <a:endParaRPr lang="en-US" dirty="0"/>
          </a:p>
        </p:txBody>
      </p:sp>
    </p:spTree>
    <p:extLst>
      <p:ext uri="{BB962C8B-B14F-4D97-AF65-F5344CB8AC3E}">
        <p14:creationId xmlns:p14="http://schemas.microsoft.com/office/powerpoint/2010/main" val="3659648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486400"/>
          </a:xfrm>
        </p:spPr>
        <p:txBody>
          <a:bodyPr>
            <a:normAutofit lnSpcReduction="10000"/>
          </a:bodyPr>
          <a:lstStyle/>
          <a:p>
            <a:pPr marL="0" indent="0" fontAlgn="base">
              <a:buNone/>
            </a:pPr>
            <a:r>
              <a:rPr lang="en-US" dirty="0"/>
              <a:t>Several phases are grouped together</a:t>
            </a:r>
            <a:r>
              <a:rPr lang="en-US" b="1" dirty="0"/>
              <a:t> </a:t>
            </a:r>
            <a:r>
              <a:rPr lang="en-US" dirty="0"/>
              <a:t>to a pass so that it can read the input file and write an output file.</a:t>
            </a:r>
          </a:p>
          <a:p>
            <a:pPr fontAlgn="base"/>
            <a:r>
              <a:rPr lang="en-US" dirty="0"/>
              <a:t>One-Pass – In One-pass all the phases are grouped into one phase. The six phases are included here in one pass.</a:t>
            </a:r>
          </a:p>
          <a:p>
            <a:pPr fontAlgn="base"/>
            <a:r>
              <a:rPr lang="en-US" dirty="0"/>
              <a:t>Two-Pass – In Two-pass the phases are divided into two parts </a:t>
            </a:r>
          </a:p>
          <a:p>
            <a:pPr marL="0" indent="0" fontAlgn="base">
              <a:buNone/>
            </a:pPr>
            <a:r>
              <a:rPr lang="en-US" dirty="0"/>
              <a:t>i.e. Analysis or Front End part of the compiler and the synthesis part or back end part of the compiler.</a:t>
            </a:r>
          </a:p>
          <a:p>
            <a:endParaRPr lang="en-US" dirty="0"/>
          </a:p>
        </p:txBody>
      </p:sp>
    </p:spTree>
    <p:extLst>
      <p:ext uri="{BB962C8B-B14F-4D97-AF65-F5344CB8AC3E}">
        <p14:creationId xmlns:p14="http://schemas.microsoft.com/office/powerpoint/2010/main" val="2752201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Compiler construction tools</a:t>
            </a:r>
            <a:br>
              <a:rPr lang="en-US" b="1" dirty="0"/>
            </a:br>
            <a:endParaRPr lang="en-US" dirty="0"/>
          </a:p>
        </p:txBody>
      </p:sp>
      <p:sp>
        <p:nvSpPr>
          <p:cNvPr id="3" name="Content Placeholder 2"/>
          <p:cNvSpPr>
            <a:spLocks noGrp="1"/>
          </p:cNvSpPr>
          <p:nvPr>
            <p:ph idx="1"/>
          </p:nvPr>
        </p:nvSpPr>
        <p:spPr>
          <a:xfrm>
            <a:off x="457200" y="990600"/>
            <a:ext cx="8229600" cy="4525963"/>
          </a:xfrm>
        </p:spPr>
        <p:txBody>
          <a:bodyPr>
            <a:normAutofit fontScale="92500" lnSpcReduction="20000"/>
          </a:bodyPr>
          <a:lstStyle/>
          <a:p>
            <a:r>
              <a:rPr lang="en-US" dirty="0"/>
              <a:t>The compiler writer can use some specialized tools that help in implementing various phases of a compiler. These tools assist in the creation of an entire compiler or its parts. Some commonly used compiler construction tools include:</a:t>
            </a:r>
          </a:p>
          <a:p>
            <a:r>
              <a:rPr lang="en-US" b="1" dirty="0"/>
              <a:t>Parser Generator</a:t>
            </a:r>
          </a:p>
          <a:p>
            <a:r>
              <a:rPr lang="en-US" b="1" dirty="0"/>
              <a:t>Scanner Generator</a:t>
            </a:r>
          </a:p>
          <a:p>
            <a:r>
              <a:rPr lang="en-US" b="1" dirty="0"/>
              <a:t>Syntax directed translation engines</a:t>
            </a:r>
          </a:p>
          <a:p>
            <a:r>
              <a:rPr lang="en-US" b="1" dirty="0"/>
              <a:t>Automatic code generators </a:t>
            </a:r>
          </a:p>
          <a:p>
            <a:r>
              <a:rPr lang="en-US" b="1" dirty="0"/>
              <a:t>Data-flow analysis engines</a:t>
            </a:r>
            <a:endParaRPr lang="en-US" dirty="0"/>
          </a:p>
        </p:txBody>
      </p:sp>
    </p:spTree>
    <p:extLst>
      <p:ext uri="{BB962C8B-B14F-4D97-AF65-F5344CB8AC3E}">
        <p14:creationId xmlns:p14="http://schemas.microsoft.com/office/powerpoint/2010/main" val="2576427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4525963"/>
          </a:xfrm>
        </p:spPr>
        <p:txBody>
          <a:bodyPr>
            <a:normAutofit/>
          </a:bodyPr>
          <a:lstStyle/>
          <a:p>
            <a:r>
              <a:rPr lang="en-US" sz="2800" b="1" dirty="0"/>
              <a:t>Parser Generator –</a:t>
            </a:r>
            <a:r>
              <a:rPr lang="en-US" sz="2800" dirty="0"/>
              <a:t> It produces syntax analyzers (parsers) from the input that is based on a grammatical description of programming language or on a context-free grammar. It is useful as the syntax analysis phase is highly complex and consumes more manual and compilation time. Example: PIC, EQM</a:t>
            </a:r>
          </a:p>
        </p:txBody>
      </p:sp>
      <p:pic>
        <p:nvPicPr>
          <p:cNvPr id="16388"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3124200"/>
            <a:ext cx="6919781"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34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4525963"/>
          </a:xfrm>
        </p:spPr>
        <p:txBody>
          <a:bodyPr>
            <a:normAutofit/>
          </a:bodyPr>
          <a:lstStyle/>
          <a:p>
            <a:r>
              <a:rPr lang="en-US" sz="2800" b="1" dirty="0"/>
              <a:t>Scanner Generator –</a:t>
            </a:r>
            <a:r>
              <a:rPr lang="en-US" sz="2800" dirty="0"/>
              <a:t> It generates lexical analyzers from the input that consists of regular expression description based on tokens of a language. It generates a finite automaton to recognize the regular expression. Example: </a:t>
            </a:r>
            <a:r>
              <a:rPr lang="en-US" sz="2800" dirty="0" err="1"/>
              <a:t>Lex</a:t>
            </a:r>
            <a:endParaRPr lang="en-US" sz="2800" dirty="0"/>
          </a:p>
        </p:txBody>
      </p:sp>
      <p:pic>
        <p:nvPicPr>
          <p:cNvPr id="17410"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743200"/>
            <a:ext cx="7879772" cy="3467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8488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5791200"/>
          </a:xfrm>
        </p:spPr>
        <p:txBody>
          <a:bodyPr>
            <a:normAutofit/>
          </a:bodyPr>
          <a:lstStyle/>
          <a:p>
            <a:pPr fontAlgn="base"/>
            <a:r>
              <a:rPr lang="en-US" sz="3600" b="1" dirty="0"/>
              <a:t>Syntax directed translation engines –</a:t>
            </a:r>
            <a:r>
              <a:rPr lang="en-US" sz="3600" dirty="0"/>
              <a:t> It generates intermediate code with three address format from the input that consists of a parse tree. These engines have routines to traverse the parse tree and then produces the intermediate code. In this, each node of the parse tree is associated with one or more translations.</a:t>
            </a:r>
          </a:p>
        </p:txBody>
      </p:sp>
    </p:spTree>
    <p:extLst>
      <p:ext uri="{BB962C8B-B14F-4D97-AF65-F5344CB8AC3E}">
        <p14:creationId xmlns:p14="http://schemas.microsoft.com/office/powerpoint/2010/main" val="3730787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5791200"/>
          </a:xfrm>
        </p:spPr>
        <p:txBody>
          <a:bodyPr>
            <a:normAutofit/>
          </a:bodyPr>
          <a:lstStyle/>
          <a:p>
            <a:pPr fontAlgn="base"/>
            <a:r>
              <a:rPr lang="en-US" sz="3600" b="1" dirty="0"/>
              <a:t>Automatic code generators –</a:t>
            </a:r>
            <a:r>
              <a:rPr lang="en-US" sz="3600" dirty="0"/>
              <a:t> It generates the machine language for a target machine. Each operation of the intermediate language is translated using a collection of rules and then is taken as an input by the code generator. A template matching process is used. An intermediate language statement is replaced by its equivalent machine language statement using templates.</a:t>
            </a:r>
          </a:p>
        </p:txBody>
      </p:sp>
    </p:spTree>
    <p:extLst>
      <p:ext uri="{BB962C8B-B14F-4D97-AF65-F5344CB8AC3E}">
        <p14:creationId xmlns:p14="http://schemas.microsoft.com/office/powerpoint/2010/main" val="41958751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5791200"/>
          </a:xfrm>
        </p:spPr>
        <p:txBody>
          <a:bodyPr>
            <a:normAutofit/>
          </a:bodyPr>
          <a:lstStyle/>
          <a:p>
            <a:pPr fontAlgn="base"/>
            <a:r>
              <a:rPr lang="en-US" sz="3600" b="1" dirty="0"/>
              <a:t>Data-flow analysis engines –</a:t>
            </a:r>
            <a:r>
              <a:rPr lang="en-US" sz="3600" dirty="0"/>
              <a:t> It is used in code </a:t>
            </a:r>
            <a:r>
              <a:rPr lang="en-US" sz="3600" dirty="0" err="1"/>
              <a:t>optimization.Data</a:t>
            </a:r>
            <a:r>
              <a:rPr lang="en-US" sz="3600" dirty="0"/>
              <a:t> flow analysis is a key part of the code optimization that gathers the information, that is the values that flow from one part of a program to another. </a:t>
            </a:r>
          </a:p>
        </p:txBody>
      </p:sp>
    </p:spTree>
    <p:extLst>
      <p:ext uri="{BB962C8B-B14F-4D97-AF65-F5344CB8AC3E}">
        <p14:creationId xmlns:p14="http://schemas.microsoft.com/office/powerpoint/2010/main" val="3155402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rgbClr val="FF0000"/>
                </a:solidFill>
              </a:rPr>
              <a:t>LEXICAL</a:t>
            </a:r>
            <a:r>
              <a:rPr lang="en-US" sz="4800" dirty="0">
                <a:solidFill>
                  <a:srgbClr val="FF0000"/>
                </a:solidFill>
              </a:rPr>
              <a:t> </a:t>
            </a:r>
            <a:r>
              <a:rPr lang="en-US" sz="4800" b="1" dirty="0">
                <a:solidFill>
                  <a:srgbClr val="FF0000"/>
                </a:solidFill>
              </a:rPr>
              <a:t>ANALYSIS</a:t>
            </a:r>
          </a:p>
        </p:txBody>
      </p:sp>
      <p:sp>
        <p:nvSpPr>
          <p:cNvPr id="3" name="Content Placeholder 2"/>
          <p:cNvSpPr>
            <a:spLocks noGrp="1"/>
          </p:cNvSpPr>
          <p:nvPr>
            <p:ph idx="1"/>
          </p:nvPr>
        </p:nvSpPr>
        <p:spPr/>
        <p:txBody>
          <a:bodyPr>
            <a:normAutofit/>
          </a:bodyPr>
          <a:lstStyle/>
          <a:p>
            <a:pPr algn="just"/>
            <a:r>
              <a:rPr lang="en-US" sz="4400" dirty="0"/>
              <a:t>Lexical analysis is the process of breaking down the source code of the program into smaller parts, called </a:t>
            </a:r>
            <a:r>
              <a:rPr lang="en-US" sz="4400" b="1" dirty="0"/>
              <a:t>tokens</a:t>
            </a:r>
            <a:r>
              <a:rPr lang="en-US" sz="4400" dirty="0"/>
              <a:t>, such that a computer can easily understand.</a:t>
            </a:r>
          </a:p>
        </p:txBody>
      </p:sp>
    </p:spTree>
    <p:extLst>
      <p:ext uri="{BB962C8B-B14F-4D97-AF65-F5344CB8AC3E}">
        <p14:creationId xmlns:p14="http://schemas.microsoft.com/office/powerpoint/2010/main" val="17971833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solidFill>
                  <a:srgbClr val="FF0000"/>
                </a:solidFill>
              </a:rPr>
              <a:t>ROLE OF LEXICAL ANALYZER</a:t>
            </a:r>
          </a:p>
        </p:txBody>
      </p:sp>
      <p:sp>
        <p:nvSpPr>
          <p:cNvPr id="3" name="Content Placeholder 2"/>
          <p:cNvSpPr>
            <a:spLocks noGrp="1"/>
          </p:cNvSpPr>
          <p:nvPr>
            <p:ph idx="1"/>
          </p:nvPr>
        </p:nvSpPr>
        <p:spPr>
          <a:xfrm>
            <a:off x="457200" y="1143000"/>
            <a:ext cx="8229600" cy="4724400"/>
          </a:xfrm>
        </p:spPr>
        <p:txBody>
          <a:bodyPr>
            <a:noAutofit/>
          </a:bodyPr>
          <a:lstStyle/>
          <a:p>
            <a:r>
              <a:rPr lang="en-US" sz="3600" dirty="0"/>
              <a:t>The main task of the lexical analyzer is to read the input characters of the source program, group them into lexemes, and produce as output tokens.</a:t>
            </a:r>
          </a:p>
          <a:p>
            <a:r>
              <a:rPr lang="en-US" sz="3600" dirty="0"/>
              <a:t>This stream of tokens is sent to the parser for syntax analysis. It is common for the lexical analyzer to interact with the symbol table as well </a:t>
            </a:r>
          </a:p>
        </p:txBody>
      </p:sp>
    </p:spTree>
    <p:extLst>
      <p:ext uri="{BB962C8B-B14F-4D97-AF65-F5344CB8AC3E}">
        <p14:creationId xmlns:p14="http://schemas.microsoft.com/office/powerpoint/2010/main" val="20239578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406014"/>
            <a:ext cx="8229600" cy="1401763"/>
          </a:xfrm>
        </p:spPr>
        <p:txBody>
          <a:bodyPr/>
          <a:lstStyle/>
          <a:p>
            <a:pPr marL="0" indent="0" algn="ctr">
              <a:buNone/>
            </a:pPr>
            <a:r>
              <a:rPr lang="en-US" dirty="0"/>
              <a:t>LEXICAL ANALYZER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 y="152400"/>
            <a:ext cx="9167194"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9051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5791200"/>
          </a:xfrm>
        </p:spPr>
        <p:txBody>
          <a:bodyPr>
            <a:noAutofit/>
          </a:bodyPr>
          <a:lstStyle/>
          <a:p>
            <a:pPr algn="just"/>
            <a:r>
              <a:rPr lang="en-US" sz="3600" dirty="0"/>
              <a:t>When lexical analyzer identifies the first token it will send it to the parser, the parser receives the token and calls the lexical analyzer to send next token by issuing the </a:t>
            </a:r>
            <a:r>
              <a:rPr lang="en-US" sz="3600" b="1" dirty="0" err="1"/>
              <a:t>getNextToken</a:t>
            </a:r>
            <a:r>
              <a:rPr lang="en-US" sz="3600" b="1" dirty="0"/>
              <a:t>() </a:t>
            </a:r>
            <a:r>
              <a:rPr lang="en-US" sz="3600" dirty="0"/>
              <a:t>command. </a:t>
            </a:r>
          </a:p>
          <a:p>
            <a:pPr algn="just"/>
            <a:r>
              <a:rPr lang="en-US" sz="3600" dirty="0"/>
              <a:t>The lexical analyzer will neglect or discard the white spaces and comment lines. </a:t>
            </a:r>
          </a:p>
        </p:txBody>
      </p:sp>
    </p:spTree>
    <p:extLst>
      <p:ext uri="{BB962C8B-B14F-4D97-AF65-F5344CB8AC3E}">
        <p14:creationId xmlns:p14="http://schemas.microsoft.com/office/powerpoint/2010/main" val="2838309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TOKENS, PATTERNS AND LEXEMES</a:t>
            </a:r>
            <a:endParaRPr lang="en-US" dirty="0"/>
          </a:p>
        </p:txBody>
      </p:sp>
      <p:sp>
        <p:nvSpPr>
          <p:cNvPr id="3" name="Content Placeholder 2"/>
          <p:cNvSpPr>
            <a:spLocks noGrp="1"/>
          </p:cNvSpPr>
          <p:nvPr>
            <p:ph idx="1"/>
          </p:nvPr>
        </p:nvSpPr>
        <p:spPr/>
        <p:txBody>
          <a:bodyPr>
            <a:normAutofit/>
          </a:bodyPr>
          <a:lstStyle/>
          <a:p>
            <a:pPr algn="just"/>
            <a:r>
              <a:rPr lang="en-US" sz="3600" b="1" dirty="0"/>
              <a:t>A token </a:t>
            </a:r>
            <a:r>
              <a:rPr lang="en-US" sz="3600" dirty="0"/>
              <a:t>is the smallest unit of meaningful data.</a:t>
            </a:r>
          </a:p>
          <a:p>
            <a:pPr algn="just"/>
            <a:r>
              <a:rPr lang="en-US" sz="3600" dirty="0"/>
              <a:t>It may be an identifier, keyword, operator, or symbol.</a:t>
            </a:r>
          </a:p>
          <a:p>
            <a:pPr algn="just"/>
            <a:r>
              <a:rPr lang="en-US" sz="3600" dirty="0"/>
              <a:t>A token represents a series or sequence of characters that cannot be decomposed further.</a:t>
            </a:r>
          </a:p>
          <a:p>
            <a:pPr algn="just"/>
            <a:endParaRPr lang="en-US" sz="3600" dirty="0"/>
          </a:p>
        </p:txBody>
      </p:sp>
    </p:spTree>
    <p:extLst>
      <p:ext uri="{BB962C8B-B14F-4D97-AF65-F5344CB8AC3E}">
        <p14:creationId xmlns:p14="http://schemas.microsoft.com/office/powerpoint/2010/main" val="36250012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19800"/>
          </a:xfrm>
        </p:spPr>
        <p:txBody>
          <a:bodyPr>
            <a:noAutofit/>
          </a:bodyPr>
          <a:lstStyle/>
          <a:p>
            <a:pPr fontAlgn="base"/>
            <a:r>
              <a:rPr lang="en-US" sz="3600" dirty="0"/>
              <a:t> Some examples of tokens would include:</a:t>
            </a:r>
          </a:p>
          <a:p>
            <a:pPr fontAlgn="base"/>
            <a:r>
              <a:rPr lang="en-US" sz="3600" u="sng" dirty="0">
                <a:hlinkClick r:id="rId2"/>
              </a:rPr>
              <a:t>Keywords</a:t>
            </a:r>
            <a:r>
              <a:rPr lang="en-US" sz="3600" dirty="0"/>
              <a:t> : Those reserved words in C like ` </a:t>
            </a:r>
            <a:r>
              <a:rPr lang="en-US" sz="3600" b="1" dirty="0" err="1"/>
              <a:t>int</a:t>
            </a:r>
            <a:r>
              <a:rPr lang="en-US" sz="3600" b="1" dirty="0"/>
              <a:t> </a:t>
            </a:r>
            <a:r>
              <a:rPr lang="en-US" sz="3600" dirty="0"/>
              <a:t>`, ` </a:t>
            </a:r>
            <a:r>
              <a:rPr lang="en-US" sz="3600" b="1" dirty="0"/>
              <a:t>char </a:t>
            </a:r>
            <a:r>
              <a:rPr lang="en-US" sz="3600" dirty="0"/>
              <a:t>`, ` </a:t>
            </a:r>
            <a:r>
              <a:rPr lang="en-US" sz="3600" b="1" dirty="0"/>
              <a:t>float </a:t>
            </a:r>
            <a:r>
              <a:rPr lang="en-US" sz="3600" dirty="0"/>
              <a:t>`, ` </a:t>
            </a:r>
            <a:r>
              <a:rPr lang="en-US" sz="3600" b="1" dirty="0" err="1"/>
              <a:t>const</a:t>
            </a:r>
            <a:r>
              <a:rPr lang="en-US" sz="3600" b="1" dirty="0"/>
              <a:t> </a:t>
            </a:r>
            <a:r>
              <a:rPr lang="en-US" sz="3600" dirty="0"/>
              <a:t>`, ` </a:t>
            </a:r>
            <a:r>
              <a:rPr lang="en-US" sz="3600" b="1" dirty="0" err="1"/>
              <a:t>goto</a:t>
            </a:r>
            <a:r>
              <a:rPr lang="en-US" sz="3600" b="1" dirty="0"/>
              <a:t> </a:t>
            </a:r>
            <a:r>
              <a:rPr lang="en-US" sz="3600" dirty="0"/>
              <a:t>`, etc.</a:t>
            </a:r>
          </a:p>
          <a:p>
            <a:pPr fontAlgn="base"/>
            <a:r>
              <a:rPr lang="en-US" sz="3600" u="sng" dirty="0">
                <a:hlinkClick r:id="rId3"/>
              </a:rPr>
              <a:t>Identifiers:</a:t>
            </a:r>
            <a:r>
              <a:rPr lang="en-US" sz="3600" dirty="0"/>
              <a:t> Names of variables and user-defined functions.</a:t>
            </a:r>
          </a:p>
          <a:p>
            <a:pPr fontAlgn="base"/>
            <a:r>
              <a:rPr lang="en-US" sz="3600" u="sng" dirty="0">
                <a:hlinkClick r:id="rId4"/>
              </a:rPr>
              <a:t>Operators</a:t>
            </a:r>
            <a:r>
              <a:rPr lang="en-US" sz="3600" dirty="0"/>
              <a:t> : ` </a:t>
            </a:r>
            <a:r>
              <a:rPr lang="en-US" sz="3600" b="1" dirty="0"/>
              <a:t>+ </a:t>
            </a:r>
            <a:r>
              <a:rPr lang="en-US" sz="3600" dirty="0"/>
              <a:t>`, ` </a:t>
            </a:r>
            <a:r>
              <a:rPr lang="en-US" sz="3600" b="1" dirty="0"/>
              <a:t>– </a:t>
            </a:r>
            <a:r>
              <a:rPr lang="en-US" sz="3600" dirty="0"/>
              <a:t>`, ` </a:t>
            </a:r>
            <a:r>
              <a:rPr lang="en-US" sz="3600" b="1" dirty="0"/>
              <a:t>* </a:t>
            </a:r>
            <a:r>
              <a:rPr lang="en-US" sz="3600" dirty="0"/>
              <a:t>`, ` </a:t>
            </a:r>
            <a:r>
              <a:rPr lang="en-US" sz="3600" b="1" dirty="0"/>
              <a:t>/ </a:t>
            </a:r>
            <a:r>
              <a:rPr lang="en-US" sz="3600" dirty="0"/>
              <a:t>`, etc.</a:t>
            </a:r>
          </a:p>
          <a:p>
            <a:pPr fontAlgn="base"/>
            <a:r>
              <a:rPr lang="en-US" sz="3600" u="sng" dirty="0">
                <a:hlinkClick r:id="rId5"/>
              </a:rPr>
              <a:t>Delimiters</a:t>
            </a:r>
            <a:r>
              <a:rPr lang="en-US" sz="3600" dirty="0"/>
              <a:t> /Punctuators: Symbols used such as commas ” </a:t>
            </a:r>
            <a:r>
              <a:rPr lang="en-US" sz="3600" b="1" dirty="0"/>
              <a:t>, </a:t>
            </a:r>
            <a:r>
              <a:rPr lang="en-US" sz="3600" dirty="0"/>
              <a:t>” semicolons ” </a:t>
            </a:r>
            <a:r>
              <a:rPr lang="en-US" sz="3600" b="1" dirty="0"/>
              <a:t>; </a:t>
            </a:r>
            <a:r>
              <a:rPr lang="en-US" sz="3600" dirty="0"/>
              <a:t>” braces ` </a:t>
            </a:r>
            <a:r>
              <a:rPr lang="en-US" sz="3600" b="1" dirty="0"/>
              <a:t>{} </a:t>
            </a:r>
            <a:r>
              <a:rPr lang="en-US" sz="3600" dirty="0"/>
              <a:t>`.</a:t>
            </a:r>
          </a:p>
          <a:p>
            <a:endParaRPr lang="en-US" sz="3600" dirty="0"/>
          </a:p>
        </p:txBody>
      </p:sp>
    </p:spTree>
    <p:extLst>
      <p:ext uri="{BB962C8B-B14F-4D97-AF65-F5344CB8AC3E}">
        <p14:creationId xmlns:p14="http://schemas.microsoft.com/office/powerpoint/2010/main" val="1408052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029200"/>
          </a:xfrm>
        </p:spPr>
        <p:txBody>
          <a:bodyPr>
            <a:noAutofit/>
          </a:bodyPr>
          <a:lstStyle/>
          <a:p>
            <a:pPr marL="0" indent="0" fontAlgn="base">
              <a:buNone/>
            </a:pPr>
            <a:r>
              <a:rPr lang="en-US" sz="3600" dirty="0"/>
              <a:t>Tokens may be divided into three categories:</a:t>
            </a:r>
          </a:p>
          <a:p>
            <a:pPr fontAlgn="base"/>
            <a:r>
              <a:rPr lang="en-US" sz="3600" b="1" dirty="0"/>
              <a:t>Terminal Symbols (TRM)</a:t>
            </a:r>
            <a:r>
              <a:rPr lang="en-US" sz="3600" dirty="0"/>
              <a:t> : Keywords and operators.</a:t>
            </a:r>
          </a:p>
          <a:p>
            <a:pPr fontAlgn="base"/>
            <a:r>
              <a:rPr lang="en-US" sz="3600" b="1" dirty="0"/>
              <a:t>Literals (LIT)</a:t>
            </a:r>
            <a:r>
              <a:rPr lang="en-US" sz="3600" dirty="0"/>
              <a:t> : Values like numbers and strings.</a:t>
            </a:r>
          </a:p>
          <a:p>
            <a:pPr fontAlgn="base"/>
            <a:r>
              <a:rPr lang="en-US" sz="3600" b="1" dirty="0"/>
              <a:t>Identifiers (IDN)</a:t>
            </a:r>
            <a:r>
              <a:rPr lang="en-US" sz="3600" dirty="0"/>
              <a:t> : Names defined by the user.</a:t>
            </a:r>
          </a:p>
          <a:p>
            <a:endParaRPr lang="en-US" sz="3600" dirty="0"/>
          </a:p>
        </p:txBody>
      </p:sp>
    </p:spTree>
    <p:extLst>
      <p:ext uri="{BB962C8B-B14F-4D97-AF65-F5344CB8AC3E}">
        <p14:creationId xmlns:p14="http://schemas.microsoft.com/office/powerpoint/2010/main" val="1179354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799"/>
          </a:xfrm>
        </p:spPr>
        <p:txBody>
          <a:bodyPr>
            <a:noAutofit/>
          </a:bodyPr>
          <a:lstStyle/>
          <a:p>
            <a:pPr marL="0" indent="0" fontAlgn="base">
              <a:buNone/>
            </a:pPr>
            <a:r>
              <a:rPr lang="en-US" sz="4000" b="1" dirty="0"/>
              <a:t>Example 1:</a:t>
            </a:r>
            <a:endParaRPr lang="en-US" sz="4000" dirty="0"/>
          </a:p>
          <a:p>
            <a:pPr marL="0" indent="0">
              <a:buNone/>
            </a:pPr>
            <a:r>
              <a:rPr lang="en-US" sz="4000" dirty="0" err="1"/>
              <a:t>int</a:t>
            </a:r>
            <a:r>
              <a:rPr lang="en-US" sz="4000" dirty="0"/>
              <a:t> a = 10; //Input Source code </a:t>
            </a:r>
            <a:br>
              <a:rPr lang="en-US" sz="4000" dirty="0"/>
            </a:br>
            <a:r>
              <a:rPr lang="en-US" sz="4000" b="1" dirty="0"/>
              <a:t>Tokens</a:t>
            </a:r>
            <a:br>
              <a:rPr lang="en-US" sz="4000" dirty="0"/>
            </a:br>
            <a:r>
              <a:rPr lang="en-US" sz="4000" dirty="0" err="1"/>
              <a:t>int</a:t>
            </a:r>
            <a:r>
              <a:rPr lang="en-US" sz="4000" dirty="0"/>
              <a:t> (keyword), a(identifier), =(operator), 10(constant) and ;(punctuation-semicolon)</a:t>
            </a:r>
          </a:p>
          <a:p>
            <a:pPr marL="0" indent="0">
              <a:buNone/>
            </a:pPr>
            <a:endParaRPr lang="en-US" sz="4000" dirty="0"/>
          </a:p>
          <a:p>
            <a:pPr marL="0" indent="0">
              <a:buNone/>
            </a:pPr>
            <a:r>
              <a:rPr lang="en-US" sz="4000" dirty="0"/>
              <a:t>Total number of tokens = 5</a:t>
            </a:r>
          </a:p>
          <a:p>
            <a:pPr marL="0" indent="0">
              <a:buNone/>
            </a:pPr>
            <a:endParaRPr lang="en-US" sz="4000" dirty="0"/>
          </a:p>
        </p:txBody>
      </p:sp>
    </p:spTree>
    <p:extLst>
      <p:ext uri="{BB962C8B-B14F-4D97-AF65-F5344CB8AC3E}">
        <p14:creationId xmlns:p14="http://schemas.microsoft.com/office/powerpoint/2010/main" val="3621204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799"/>
          </a:xfrm>
        </p:spPr>
        <p:txBody>
          <a:bodyPr>
            <a:noAutofit/>
          </a:bodyPr>
          <a:lstStyle/>
          <a:p>
            <a:pPr marL="0" indent="0" fontAlgn="base">
              <a:buNone/>
            </a:pPr>
            <a:r>
              <a:rPr lang="en-US" sz="2800" b="1" dirty="0"/>
              <a:t>Example 2:</a:t>
            </a:r>
            <a:endParaRPr lang="en-US" sz="2800" dirty="0"/>
          </a:p>
          <a:p>
            <a:pPr fontAlgn="base"/>
            <a:r>
              <a:rPr lang="en-US" sz="2800" dirty="0" err="1"/>
              <a:t>int</a:t>
            </a:r>
            <a:r>
              <a:rPr lang="en-US" sz="2800" dirty="0"/>
              <a:t> main() {</a:t>
            </a:r>
            <a:br>
              <a:rPr lang="en-US" sz="2800" dirty="0"/>
            </a:br>
            <a:r>
              <a:rPr lang="en-US" sz="2800" dirty="0"/>
              <a:t>// </a:t>
            </a:r>
            <a:r>
              <a:rPr lang="en-US" sz="2800" dirty="0" err="1"/>
              <a:t>printf</a:t>
            </a:r>
            <a:r>
              <a:rPr lang="en-US" sz="2800" dirty="0"/>
              <a:t>() sends the string inside quotation to</a:t>
            </a:r>
            <a:br>
              <a:rPr lang="en-US" sz="2800" dirty="0"/>
            </a:br>
            <a:r>
              <a:rPr lang="en-US" sz="2800" dirty="0"/>
              <a:t>// the standard output (the display)</a:t>
            </a:r>
            <a:br>
              <a:rPr lang="en-US" sz="2800" dirty="0"/>
            </a:br>
            <a:r>
              <a:rPr lang="en-US" sz="2800" dirty="0" err="1"/>
              <a:t>printf</a:t>
            </a:r>
            <a:r>
              <a:rPr lang="en-US" sz="2800" dirty="0"/>
              <a:t>("Welcome to </a:t>
            </a:r>
            <a:r>
              <a:rPr lang="en-US" sz="2800" dirty="0" err="1"/>
              <a:t>GeeksforGeeks</a:t>
            </a:r>
            <a:r>
              <a:rPr lang="en-US" sz="2800" dirty="0"/>
              <a:t>!");</a:t>
            </a:r>
            <a:br>
              <a:rPr lang="en-US" sz="2800" dirty="0"/>
            </a:br>
            <a:r>
              <a:rPr lang="en-US" sz="2800" dirty="0"/>
              <a:t>return 0;</a:t>
            </a:r>
            <a:br>
              <a:rPr lang="en-US" sz="2800" dirty="0"/>
            </a:br>
            <a:r>
              <a:rPr lang="en-US" sz="2800" dirty="0"/>
              <a:t>}</a:t>
            </a:r>
            <a:br>
              <a:rPr lang="en-US" sz="2800" dirty="0"/>
            </a:br>
            <a:r>
              <a:rPr lang="en-US" sz="2800" b="1" dirty="0"/>
              <a:t>Tokens</a:t>
            </a:r>
            <a:br>
              <a:rPr lang="en-US" sz="2800" dirty="0"/>
            </a:br>
            <a:r>
              <a:rPr lang="en-US" sz="2800" dirty="0"/>
              <a:t>'</a:t>
            </a:r>
            <a:r>
              <a:rPr lang="en-US" sz="2800" dirty="0" err="1"/>
              <a:t>int</a:t>
            </a:r>
            <a:r>
              <a:rPr lang="en-US" sz="2800" dirty="0"/>
              <a:t>‘   ,    'main‘   ,    '(‘   ,    ')‘   ,   '{‘   ,  '</a:t>
            </a:r>
            <a:r>
              <a:rPr lang="en-US" sz="2800" dirty="0" err="1"/>
              <a:t>printf</a:t>
            </a:r>
            <a:r>
              <a:rPr lang="en-US" sz="2800" dirty="0"/>
              <a:t>‘  ,   '(‘  ,  "Welcome to </a:t>
            </a:r>
            <a:r>
              <a:rPr lang="en-US" sz="2800" dirty="0" err="1"/>
              <a:t>GeeksforGeeks</a:t>
            </a:r>
            <a:r>
              <a:rPr lang="en-US" sz="2800" dirty="0"/>
              <a:t>!"  ,    ')’  ,   ';’   , 'return', '0',      ';’    , '}‘</a:t>
            </a:r>
          </a:p>
          <a:p>
            <a:pPr fontAlgn="base"/>
            <a:r>
              <a:rPr lang="en-US" sz="2800" dirty="0"/>
              <a:t>Total number of tokens = 14</a:t>
            </a:r>
          </a:p>
          <a:p>
            <a:pPr marL="0" indent="0">
              <a:buNone/>
            </a:pPr>
            <a:endParaRPr lang="en-US" sz="2800" dirty="0"/>
          </a:p>
        </p:txBody>
      </p:sp>
    </p:spTree>
    <p:extLst>
      <p:ext uri="{BB962C8B-B14F-4D97-AF65-F5344CB8AC3E}">
        <p14:creationId xmlns:p14="http://schemas.microsoft.com/office/powerpoint/2010/main" val="21498382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PATTERN</a:t>
            </a:r>
          </a:p>
        </p:txBody>
      </p:sp>
      <p:sp>
        <p:nvSpPr>
          <p:cNvPr id="3" name="Content Placeholder 2"/>
          <p:cNvSpPr>
            <a:spLocks noGrp="1"/>
          </p:cNvSpPr>
          <p:nvPr>
            <p:ph idx="1"/>
          </p:nvPr>
        </p:nvSpPr>
        <p:spPr/>
        <p:txBody>
          <a:bodyPr>
            <a:normAutofit/>
          </a:bodyPr>
          <a:lstStyle/>
          <a:p>
            <a:pPr algn="just"/>
            <a:r>
              <a:rPr lang="en-US" sz="3600" dirty="0"/>
              <a:t>A pattern is a rule or syntax that designates how tokens are identified in a programming language.</a:t>
            </a:r>
          </a:p>
          <a:p>
            <a:pPr algn="just"/>
            <a:r>
              <a:rPr lang="en-US" sz="3600" dirty="0"/>
              <a:t>It is supposed to specify the sequences of characters or symbols that make up valid tokens, and provide guidelines as to how to identify them correctly to the scanner.</a:t>
            </a:r>
          </a:p>
        </p:txBody>
      </p:sp>
    </p:spTree>
    <p:extLst>
      <p:ext uri="{BB962C8B-B14F-4D97-AF65-F5344CB8AC3E}">
        <p14:creationId xmlns:p14="http://schemas.microsoft.com/office/powerpoint/2010/main" val="3824144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of Programming Language (C, C++)</a:t>
            </a:r>
            <a:endParaRPr lang="en-US" dirty="0"/>
          </a:p>
        </p:txBody>
      </p:sp>
      <p:sp>
        <p:nvSpPr>
          <p:cNvPr id="3" name="Content Placeholder 2"/>
          <p:cNvSpPr>
            <a:spLocks noGrp="1"/>
          </p:cNvSpPr>
          <p:nvPr>
            <p:ph idx="1"/>
          </p:nvPr>
        </p:nvSpPr>
        <p:spPr/>
        <p:txBody>
          <a:bodyPr>
            <a:normAutofit/>
          </a:bodyPr>
          <a:lstStyle/>
          <a:p>
            <a:pPr fontAlgn="base"/>
            <a:r>
              <a:rPr lang="en-US" sz="3600" i="1" dirty="0"/>
              <a:t>For a </a:t>
            </a:r>
            <a:r>
              <a:rPr lang="en-US" sz="3600" b="1" i="1" dirty="0"/>
              <a:t>keyword</a:t>
            </a:r>
            <a:r>
              <a:rPr lang="en-US" sz="3600" i="1" dirty="0"/>
              <a:t> to be identified as a valid token, the pattern is the sequence of characters that make the keyword.</a:t>
            </a:r>
          </a:p>
          <a:p>
            <a:pPr fontAlgn="base"/>
            <a:r>
              <a:rPr lang="en-US" sz="3600" i="1" dirty="0"/>
              <a:t>For </a:t>
            </a:r>
            <a:r>
              <a:rPr lang="en-US" sz="3600" b="1" i="1" dirty="0"/>
              <a:t>identifier</a:t>
            </a:r>
            <a:r>
              <a:rPr lang="en-US" sz="3600" i="1" dirty="0"/>
              <a:t> to be identified as a valid token, the pattern is the predefined rules that it must start with alphabet, followed by alphabet or a digit.</a:t>
            </a:r>
          </a:p>
          <a:p>
            <a:pPr marL="0" indent="0">
              <a:buNone/>
            </a:pPr>
            <a:endParaRPr lang="en-US" sz="3600" dirty="0"/>
          </a:p>
        </p:txBody>
      </p:sp>
    </p:spTree>
    <p:extLst>
      <p:ext uri="{BB962C8B-B14F-4D97-AF65-F5344CB8AC3E}">
        <p14:creationId xmlns:p14="http://schemas.microsoft.com/office/powerpoint/2010/main" val="261782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LEXEME</a:t>
            </a:r>
            <a:endParaRPr lang="en-US" dirty="0"/>
          </a:p>
        </p:txBody>
      </p:sp>
      <p:sp>
        <p:nvSpPr>
          <p:cNvPr id="3" name="Content Placeholder 2"/>
          <p:cNvSpPr>
            <a:spLocks noGrp="1"/>
          </p:cNvSpPr>
          <p:nvPr>
            <p:ph idx="1"/>
          </p:nvPr>
        </p:nvSpPr>
        <p:spPr>
          <a:xfrm>
            <a:off x="457200" y="1295400"/>
            <a:ext cx="8229600" cy="4525963"/>
          </a:xfrm>
        </p:spPr>
        <p:txBody>
          <a:bodyPr>
            <a:normAutofit fontScale="92500" lnSpcReduction="20000"/>
          </a:bodyPr>
          <a:lstStyle/>
          <a:p>
            <a:pPr fontAlgn="base"/>
            <a:r>
              <a:rPr lang="en-US" sz="3600" b="1" dirty="0"/>
              <a:t>A lexeme </a:t>
            </a:r>
            <a:r>
              <a:rPr lang="en-US" sz="3600" dirty="0"/>
              <a:t>is a sequence of characters in the source program that matches the pattern for a token and is identified by the lexical analyzer as an instance of that token. </a:t>
            </a:r>
            <a:endParaRPr lang="en-US" sz="3600" i="1" dirty="0"/>
          </a:p>
          <a:p>
            <a:pPr fontAlgn="base"/>
            <a:r>
              <a:rPr lang="en-US" sz="3600" dirty="0"/>
              <a:t>Example: In the following C language statement ,</a:t>
            </a:r>
          </a:p>
          <a:p>
            <a:pPr marL="0" indent="0" fontAlgn="base">
              <a:buNone/>
            </a:pPr>
            <a:r>
              <a:rPr lang="en-US" sz="3600" dirty="0"/>
              <a:t> </a:t>
            </a:r>
            <a:r>
              <a:rPr lang="en-US" sz="3600" dirty="0" err="1"/>
              <a:t>printf</a:t>
            </a:r>
            <a:r>
              <a:rPr lang="en-US" sz="3600" dirty="0"/>
              <a:t> ("Total = %d\n‖, score) ; </a:t>
            </a:r>
          </a:p>
          <a:p>
            <a:pPr marL="0" indent="0" fontAlgn="base">
              <a:buNone/>
            </a:pPr>
            <a:r>
              <a:rPr lang="en-US" sz="3600" dirty="0"/>
              <a:t>both </a:t>
            </a:r>
            <a:r>
              <a:rPr lang="en-US" sz="3600" b="1" dirty="0" err="1"/>
              <a:t>printf</a:t>
            </a:r>
            <a:r>
              <a:rPr lang="en-US" sz="3600" b="1" dirty="0"/>
              <a:t> </a:t>
            </a:r>
            <a:r>
              <a:rPr lang="en-US" sz="3600" dirty="0"/>
              <a:t>and </a:t>
            </a:r>
            <a:r>
              <a:rPr lang="en-US" sz="3600" b="1" dirty="0"/>
              <a:t>score </a:t>
            </a:r>
            <a:r>
              <a:rPr lang="en-US" sz="3600" dirty="0"/>
              <a:t>are lexemes matching the </a:t>
            </a:r>
            <a:r>
              <a:rPr lang="en-US" sz="3600" b="1" dirty="0"/>
              <a:t>pattern </a:t>
            </a:r>
            <a:r>
              <a:rPr lang="en-US" sz="3600" dirty="0"/>
              <a:t>for token </a:t>
            </a:r>
            <a:r>
              <a:rPr lang="en-US" sz="3600" b="1" dirty="0"/>
              <a:t>id</a:t>
            </a:r>
            <a:r>
              <a:rPr lang="en-US" sz="3600" dirty="0"/>
              <a:t>, and </a:t>
            </a:r>
            <a:r>
              <a:rPr lang="en-US" sz="3600" b="1" dirty="0"/>
              <a:t>"Total = %d\n</a:t>
            </a:r>
            <a:r>
              <a:rPr lang="en-US" sz="3600" dirty="0"/>
              <a:t>‖ is a lexeme matching </a:t>
            </a:r>
            <a:r>
              <a:rPr lang="en-US" sz="3600" b="1" dirty="0"/>
              <a:t>literal [or string]</a:t>
            </a:r>
            <a:r>
              <a:rPr lang="en-US" sz="3600" dirty="0"/>
              <a:t>. </a:t>
            </a:r>
          </a:p>
        </p:txBody>
      </p:sp>
    </p:spTree>
    <p:extLst>
      <p:ext uri="{BB962C8B-B14F-4D97-AF65-F5344CB8AC3E}">
        <p14:creationId xmlns:p14="http://schemas.microsoft.com/office/powerpoint/2010/main" val="1882123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rgbClr val="FF0000"/>
                </a:solidFill>
              </a:rPr>
              <a:t>INPUT BUFFERING</a:t>
            </a:r>
          </a:p>
        </p:txBody>
      </p:sp>
      <p:sp>
        <p:nvSpPr>
          <p:cNvPr id="3" name="Content Placeholder 2"/>
          <p:cNvSpPr>
            <a:spLocks noGrp="1"/>
          </p:cNvSpPr>
          <p:nvPr>
            <p:ph idx="1"/>
          </p:nvPr>
        </p:nvSpPr>
        <p:spPr>
          <a:xfrm>
            <a:off x="228600" y="1295400"/>
            <a:ext cx="8610600" cy="4525963"/>
          </a:xfrm>
        </p:spPr>
        <p:txBody>
          <a:bodyPr>
            <a:normAutofit fontScale="92500" lnSpcReduction="20000"/>
          </a:bodyPr>
          <a:lstStyle/>
          <a:p>
            <a:pPr algn="just"/>
            <a:r>
              <a:rPr lang="en-US" dirty="0"/>
              <a:t>Input buffering is a technique that allows the compiler to read input in larger chunks, which can improve performance and reduce overhead.(amount of system capacity spent)</a:t>
            </a:r>
          </a:p>
          <a:p>
            <a:pPr algn="just"/>
            <a:r>
              <a:rPr lang="en-US" dirty="0"/>
              <a:t>Lexical Analysis has to access secondary memory each time to identify tokens. It is time-consuming and costly. So, the input strings are stored into a buffer and then scanned by Lexical Analysis.</a:t>
            </a:r>
          </a:p>
          <a:p>
            <a:pPr algn="just"/>
            <a:r>
              <a:rPr lang="en-US" dirty="0"/>
              <a:t>Lexical Analysis scans input string from left to right one character at a time to identify tokens.</a:t>
            </a:r>
          </a:p>
        </p:txBody>
      </p:sp>
    </p:spTree>
    <p:extLst>
      <p:ext uri="{BB962C8B-B14F-4D97-AF65-F5344CB8AC3E}">
        <p14:creationId xmlns:p14="http://schemas.microsoft.com/office/powerpoint/2010/main" val="4994915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39762"/>
          </a:xfrm>
        </p:spPr>
        <p:txBody>
          <a:bodyPr>
            <a:normAutofit fontScale="90000"/>
          </a:bodyPr>
          <a:lstStyle/>
          <a:p>
            <a:r>
              <a:rPr lang="en-US" dirty="0"/>
              <a:t>It uses two pointers to scan tokens −</a:t>
            </a:r>
            <a:br>
              <a:rPr lang="en-US" dirty="0"/>
            </a:br>
            <a:endParaRPr lang="en-US" dirty="0"/>
          </a:p>
        </p:txBody>
      </p:sp>
      <p:sp>
        <p:nvSpPr>
          <p:cNvPr id="3" name="Content Placeholder 2"/>
          <p:cNvSpPr>
            <a:spLocks noGrp="1"/>
          </p:cNvSpPr>
          <p:nvPr>
            <p:ph idx="1"/>
          </p:nvPr>
        </p:nvSpPr>
        <p:spPr>
          <a:xfrm>
            <a:off x="304800" y="990600"/>
            <a:ext cx="8686800" cy="4525963"/>
          </a:xfrm>
        </p:spPr>
        <p:txBody>
          <a:bodyPr/>
          <a:lstStyle/>
          <a:p>
            <a:r>
              <a:rPr lang="en-US" sz="2800" b="1" dirty="0"/>
              <a:t>Begin Pointer (</a:t>
            </a:r>
            <a:r>
              <a:rPr lang="en-US" sz="2800" b="1" dirty="0" err="1"/>
              <a:t>bptr</a:t>
            </a:r>
            <a:r>
              <a:rPr lang="en-US" sz="2800" b="1" dirty="0"/>
              <a:t>)</a:t>
            </a:r>
            <a:r>
              <a:rPr lang="en-US" sz="2800" dirty="0"/>
              <a:t> − It points to the beginning of the string to be read.</a:t>
            </a:r>
          </a:p>
          <a:p>
            <a:r>
              <a:rPr lang="en-US" sz="2800" b="1" dirty="0"/>
              <a:t>Look Ahead Pointer (</a:t>
            </a:r>
            <a:r>
              <a:rPr lang="en-US" sz="2800" b="1" dirty="0" err="1"/>
              <a:t>lptr</a:t>
            </a:r>
            <a:r>
              <a:rPr lang="en-US" sz="2800" b="1" dirty="0"/>
              <a:t>)</a:t>
            </a:r>
            <a:r>
              <a:rPr lang="en-US" sz="2800" dirty="0"/>
              <a:t> − It moves ahead to search for the end of the token.</a:t>
            </a:r>
          </a:p>
          <a:p>
            <a:r>
              <a:rPr lang="en-US" sz="2800" b="1" dirty="0"/>
              <a:t>Example</a:t>
            </a:r>
            <a:r>
              <a:rPr lang="en-US" sz="2800" dirty="0"/>
              <a:t> − For statement </a:t>
            </a:r>
            <a:r>
              <a:rPr lang="en-US" sz="2800" dirty="0" err="1"/>
              <a:t>int</a:t>
            </a:r>
            <a:r>
              <a:rPr lang="en-US" sz="2800" dirty="0"/>
              <a:t> a, b;</a:t>
            </a:r>
          </a:p>
          <a:p>
            <a:r>
              <a:rPr lang="en-US" sz="2800" dirty="0"/>
              <a:t>Both pointers start at the beginning of the string, which is stored in the buffer</a:t>
            </a:r>
            <a:r>
              <a:rPr lang="en-US" dirty="0"/>
              <a:t>.</a:t>
            </a:r>
          </a:p>
          <a:p>
            <a:endParaRPr lang="en-US" dirty="0"/>
          </a:p>
        </p:txBody>
      </p:sp>
      <p:pic>
        <p:nvPicPr>
          <p:cNvPr id="2050" name="Picture 2" descr="https://www.tutorialspoint.com/assets/questions/media/58376/pointer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267200"/>
            <a:ext cx="6082438" cy="214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3086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7144" y="165849"/>
            <a:ext cx="8229600" cy="4525963"/>
          </a:xfrm>
        </p:spPr>
        <p:txBody>
          <a:bodyPr/>
          <a:lstStyle/>
          <a:p>
            <a:pPr marL="0" indent="0">
              <a:buNone/>
            </a:pPr>
            <a:r>
              <a:rPr lang="en-US" dirty="0"/>
              <a:t>Look Ahead Pointer scans buffer until the token is found.</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73217"/>
            <a:ext cx="8633637" cy="2027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67144" y="3195981"/>
            <a:ext cx="8557437" cy="1384995"/>
          </a:xfrm>
          <a:prstGeom prst="rect">
            <a:avLst/>
          </a:prstGeom>
        </p:spPr>
        <p:txBody>
          <a:bodyPr wrap="square">
            <a:spAutoFit/>
          </a:bodyPr>
          <a:lstStyle/>
          <a:p>
            <a:r>
              <a:rPr lang="en-US" sz="2800" dirty="0"/>
              <a:t>After processing token ("</a:t>
            </a:r>
            <a:r>
              <a:rPr lang="en-US" sz="2800" dirty="0" err="1"/>
              <a:t>int</a:t>
            </a:r>
            <a:r>
              <a:rPr lang="en-US" sz="2800" dirty="0"/>
              <a:t>") both pointers will set to the next token ('a'), &amp; this process will be repeated for the whole program.</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44" y="4495800"/>
            <a:ext cx="8319656"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7661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4525963"/>
          </a:xfrm>
        </p:spPr>
        <p:txBody>
          <a:bodyPr/>
          <a:lstStyle/>
          <a:p>
            <a:r>
              <a:rPr lang="en-US" dirty="0"/>
              <a:t>The input character is thus read from secondary storage, but reading in this way from secondary storage is costly. hence buffering technique is used.</a:t>
            </a:r>
          </a:p>
          <a:p>
            <a:r>
              <a:rPr lang="en-US" dirty="0"/>
              <a:t>A block of data is first read into a buffer, and then second by lexical analyzer.</a:t>
            </a:r>
          </a:p>
          <a:p>
            <a:r>
              <a:rPr lang="en-US" dirty="0"/>
              <a:t>There are two methods used in this context: One Buffer Scheme, and Two Buffer Scheme.</a:t>
            </a:r>
          </a:p>
        </p:txBody>
      </p:sp>
    </p:spTree>
    <p:extLst>
      <p:ext uri="{BB962C8B-B14F-4D97-AF65-F5344CB8AC3E}">
        <p14:creationId xmlns:p14="http://schemas.microsoft.com/office/powerpoint/2010/main" val="12717107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4525963"/>
          </a:xfrm>
        </p:spPr>
        <p:txBody>
          <a:bodyPr>
            <a:normAutofit/>
          </a:bodyPr>
          <a:lstStyle/>
          <a:p>
            <a:pPr marL="0" indent="0" fontAlgn="base">
              <a:buNone/>
            </a:pPr>
            <a:r>
              <a:rPr lang="en-US" dirty="0"/>
              <a:t>1.</a:t>
            </a:r>
            <a:r>
              <a:rPr lang="en-US" b="1" dirty="0"/>
              <a:t>One Buffer Scheme:</a:t>
            </a:r>
            <a:br>
              <a:rPr lang="en-US" dirty="0"/>
            </a:br>
            <a:r>
              <a:rPr lang="en-US" dirty="0"/>
              <a:t>In this scheme, only one buffer is used to store the input string but the problem with this scheme is that if lexeme is very long then it crosses the buffer boundary, to scan rest of the lexeme the buffer has to be refilled, that makes overwriting the first of lexeme.</a:t>
            </a:r>
          </a:p>
          <a:p>
            <a:pPr algn="just"/>
            <a:endParaRPr 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45" y="3962400"/>
            <a:ext cx="8243455" cy="263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73381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5562600"/>
          </a:xfrm>
        </p:spPr>
        <p:txBody>
          <a:bodyPr>
            <a:noAutofit/>
          </a:bodyPr>
          <a:lstStyle/>
          <a:p>
            <a:pPr marL="0" indent="0" fontAlgn="base">
              <a:buNone/>
            </a:pPr>
            <a:r>
              <a:rPr lang="en-US" sz="3600" dirty="0"/>
              <a:t>2.      </a:t>
            </a:r>
            <a:r>
              <a:rPr lang="en-US" sz="3600" b="1" dirty="0"/>
              <a:t>Two Buffer Scheme:</a:t>
            </a:r>
            <a:br>
              <a:rPr lang="en-US" sz="3600" dirty="0"/>
            </a:br>
            <a:r>
              <a:rPr lang="en-US" sz="3600" dirty="0"/>
              <a:t>To overcome the problem of one buffer scheme, in this method two buffers are used to store the input string. the first buffer and second buffer are scanned alternately. when end of current buffer is reached the other buffer is filled.</a:t>
            </a:r>
          </a:p>
          <a:p>
            <a:pPr marL="0" indent="0" fontAlgn="base">
              <a:buNone/>
            </a:pPr>
            <a:r>
              <a:rPr lang="en-US" sz="3600" dirty="0"/>
              <a:t>The only problem with this method is that if length of the lexeme is longer than </a:t>
            </a:r>
            <a:r>
              <a:rPr lang="en-US" sz="4000" dirty="0"/>
              <a:t>length</a:t>
            </a:r>
            <a:r>
              <a:rPr lang="en-US" sz="3600" dirty="0"/>
              <a:t> of the buffer then scanning input cannot be scanned completely.</a:t>
            </a:r>
          </a:p>
          <a:p>
            <a:pPr marL="0" indent="0" fontAlgn="base">
              <a:buNone/>
            </a:pPr>
            <a:r>
              <a:rPr lang="en-US" sz="3600" dirty="0"/>
              <a:t> </a:t>
            </a:r>
          </a:p>
          <a:p>
            <a:pPr marL="0" indent="0" fontAlgn="base">
              <a:buNone/>
            </a:pPr>
            <a:endParaRPr lang="en-US" sz="3600" dirty="0"/>
          </a:p>
        </p:txBody>
      </p:sp>
    </p:spTree>
    <p:extLst>
      <p:ext uri="{BB962C8B-B14F-4D97-AF65-F5344CB8AC3E}">
        <p14:creationId xmlns:p14="http://schemas.microsoft.com/office/powerpoint/2010/main" val="25315471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33400"/>
            <a:ext cx="77724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67781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229600" cy="5638800"/>
          </a:xfrm>
        </p:spPr>
        <p:txBody>
          <a:bodyPr>
            <a:noAutofit/>
          </a:bodyPr>
          <a:lstStyle/>
          <a:p>
            <a:r>
              <a:rPr lang="en-US" sz="3600" dirty="0"/>
              <a:t>Initially both the </a:t>
            </a:r>
            <a:r>
              <a:rPr lang="en-US" sz="3600" dirty="0" err="1"/>
              <a:t>bp</a:t>
            </a:r>
            <a:r>
              <a:rPr lang="en-US" sz="3600" dirty="0"/>
              <a:t> and </a:t>
            </a:r>
            <a:r>
              <a:rPr lang="en-US" sz="3600" dirty="0" err="1"/>
              <a:t>fp</a:t>
            </a:r>
            <a:r>
              <a:rPr lang="en-US" sz="3600" dirty="0"/>
              <a:t> are pointing to the first character of first buffer. Then the </a:t>
            </a:r>
            <a:r>
              <a:rPr lang="en-US" sz="3600" dirty="0" err="1"/>
              <a:t>fp</a:t>
            </a:r>
            <a:r>
              <a:rPr lang="en-US" sz="3600" dirty="0"/>
              <a:t> moves towards right in search of end of lexeme, as soon as blank character is recognized, the string between </a:t>
            </a:r>
            <a:r>
              <a:rPr lang="en-US" sz="3600" dirty="0" err="1"/>
              <a:t>bp</a:t>
            </a:r>
            <a:r>
              <a:rPr lang="en-US" sz="3600" dirty="0"/>
              <a:t> and </a:t>
            </a:r>
            <a:r>
              <a:rPr lang="en-US" sz="3600" dirty="0" err="1"/>
              <a:t>fp</a:t>
            </a:r>
            <a:r>
              <a:rPr lang="en-US" sz="3600" dirty="0"/>
              <a:t> is identified as corresponding token. to identify, the boundary of first buffer end of buffer character should be placed at the end first buffer.</a:t>
            </a:r>
          </a:p>
        </p:txBody>
      </p:sp>
    </p:spTree>
    <p:extLst>
      <p:ext uri="{BB962C8B-B14F-4D97-AF65-F5344CB8AC3E}">
        <p14:creationId xmlns:p14="http://schemas.microsoft.com/office/powerpoint/2010/main" val="24499923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229600" cy="5638800"/>
          </a:xfrm>
        </p:spPr>
        <p:txBody>
          <a:bodyPr>
            <a:noAutofit/>
          </a:bodyPr>
          <a:lstStyle/>
          <a:p>
            <a:r>
              <a:rPr lang="en-US" sz="3600" dirty="0"/>
              <a:t>Similarly end of second buffer is also recognized by the end of buffer mark present at the end of second buffer. when </a:t>
            </a:r>
            <a:r>
              <a:rPr lang="en-US" sz="3600" dirty="0" err="1"/>
              <a:t>fp</a:t>
            </a:r>
            <a:r>
              <a:rPr lang="en-US" sz="3600" dirty="0"/>
              <a:t> encounters first </a:t>
            </a:r>
            <a:r>
              <a:rPr lang="en-US" sz="3600" b="1" dirty="0" err="1"/>
              <a:t>eof</a:t>
            </a:r>
            <a:r>
              <a:rPr lang="en-US" sz="3600" dirty="0"/>
              <a:t>, then one can recognize end of first buffer and hence filling up second buffer is started. in the same way when second </a:t>
            </a:r>
            <a:r>
              <a:rPr lang="en-US" sz="3600" b="1" dirty="0" err="1"/>
              <a:t>eof</a:t>
            </a:r>
            <a:r>
              <a:rPr lang="en-US" sz="3600" dirty="0"/>
              <a:t> is obtained then it indicates of second buffer. </a:t>
            </a:r>
          </a:p>
        </p:txBody>
      </p:sp>
    </p:spTree>
    <p:extLst>
      <p:ext uri="{BB962C8B-B14F-4D97-AF65-F5344CB8AC3E}">
        <p14:creationId xmlns:p14="http://schemas.microsoft.com/office/powerpoint/2010/main" val="29964453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029200"/>
          </a:xfrm>
        </p:spPr>
        <p:txBody>
          <a:bodyPr>
            <a:noAutofit/>
          </a:bodyPr>
          <a:lstStyle/>
          <a:p>
            <a:r>
              <a:rPr lang="en-US" sz="4400" dirty="0"/>
              <a:t>Alternatively both the buffers can be filled up until end of the input program and stream of tokens is identified. This </a:t>
            </a:r>
            <a:r>
              <a:rPr lang="en-US" sz="4400" b="1" dirty="0" err="1"/>
              <a:t>eof</a:t>
            </a:r>
            <a:r>
              <a:rPr lang="en-US" sz="4400" dirty="0"/>
              <a:t> character introduced at the end is calling </a:t>
            </a:r>
            <a:r>
              <a:rPr lang="en-US" sz="4400" b="1" dirty="0"/>
              <a:t>Sentinel</a:t>
            </a:r>
            <a:r>
              <a:rPr lang="en-US" sz="4400" dirty="0"/>
              <a:t> which is used to identify the end of buffer.</a:t>
            </a:r>
          </a:p>
        </p:txBody>
      </p:sp>
    </p:spTree>
    <p:extLst>
      <p:ext uri="{BB962C8B-B14F-4D97-AF65-F5344CB8AC3E}">
        <p14:creationId xmlns:p14="http://schemas.microsoft.com/office/powerpoint/2010/main" val="24478373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Specification of Tokens</a:t>
            </a:r>
            <a:br>
              <a:rPr lang="en-US" dirty="0"/>
            </a:br>
            <a:endParaRPr lang="en-US" dirty="0"/>
          </a:p>
        </p:txBody>
      </p:sp>
      <p:sp>
        <p:nvSpPr>
          <p:cNvPr id="3" name="Content Placeholder 2"/>
          <p:cNvSpPr>
            <a:spLocks noGrp="1"/>
          </p:cNvSpPr>
          <p:nvPr>
            <p:ph idx="1"/>
          </p:nvPr>
        </p:nvSpPr>
        <p:spPr/>
        <p:txBody>
          <a:bodyPr>
            <a:normAutofit/>
          </a:bodyPr>
          <a:lstStyle/>
          <a:p>
            <a:r>
              <a:rPr lang="en-US" sz="4000" dirty="0"/>
              <a:t>Specification of tokens depends on the pattern of the lexeme. Here we will be using regular expressions to specify the different types of patterns that can actually form tokens.</a:t>
            </a:r>
            <a:br>
              <a:rPr lang="en-US" sz="4000" dirty="0"/>
            </a:br>
            <a:endParaRPr lang="en-US" sz="4000" dirty="0"/>
          </a:p>
          <a:p>
            <a:pPr marL="0" indent="0">
              <a:buNone/>
            </a:pPr>
            <a:endParaRPr lang="en-US" sz="4000" dirty="0"/>
          </a:p>
        </p:txBody>
      </p:sp>
    </p:spTree>
    <p:extLst>
      <p:ext uri="{BB962C8B-B14F-4D97-AF65-F5344CB8AC3E}">
        <p14:creationId xmlns:p14="http://schemas.microsoft.com/office/powerpoint/2010/main" val="42003968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 are 3 specifications of tokens:</a:t>
            </a:r>
          </a:p>
        </p:txBody>
      </p:sp>
      <p:sp>
        <p:nvSpPr>
          <p:cNvPr id="3" name="Content Placeholder 2"/>
          <p:cNvSpPr>
            <a:spLocks noGrp="1"/>
          </p:cNvSpPr>
          <p:nvPr>
            <p:ph idx="1"/>
          </p:nvPr>
        </p:nvSpPr>
        <p:spPr/>
        <p:txBody>
          <a:bodyPr>
            <a:noAutofit/>
          </a:bodyPr>
          <a:lstStyle/>
          <a:p>
            <a:pPr marL="0" indent="0">
              <a:buNone/>
            </a:pPr>
            <a:br>
              <a:rPr lang="en-US" sz="4000" dirty="0"/>
            </a:br>
            <a:endParaRPr lang="en-US" sz="4000" dirty="0"/>
          </a:p>
          <a:p>
            <a:pPr marL="0" indent="0">
              <a:buNone/>
            </a:pPr>
            <a:endParaRPr lang="en-US" sz="4000" dirty="0"/>
          </a:p>
        </p:txBody>
      </p:sp>
      <p:sp>
        <p:nvSpPr>
          <p:cNvPr id="4" name="Rectangle 3"/>
          <p:cNvSpPr/>
          <p:nvPr/>
        </p:nvSpPr>
        <p:spPr>
          <a:xfrm>
            <a:off x="1066800" y="1981200"/>
            <a:ext cx="6172200" cy="2308324"/>
          </a:xfrm>
          <a:prstGeom prst="rect">
            <a:avLst/>
          </a:prstGeom>
        </p:spPr>
        <p:txBody>
          <a:bodyPr wrap="square">
            <a:spAutoFit/>
          </a:bodyPr>
          <a:lstStyle/>
          <a:p>
            <a:pPr lvl="0"/>
            <a:r>
              <a:rPr lang="en-US" sz="4800" dirty="0"/>
              <a:t>String</a:t>
            </a:r>
          </a:p>
          <a:p>
            <a:pPr lvl="0"/>
            <a:r>
              <a:rPr lang="en-US" sz="4800" dirty="0"/>
              <a:t>Language</a:t>
            </a:r>
          </a:p>
          <a:p>
            <a:pPr lvl="0"/>
            <a:r>
              <a:rPr lang="en-US" sz="4800" dirty="0"/>
              <a:t>Regular Expression</a:t>
            </a:r>
          </a:p>
        </p:txBody>
      </p:sp>
    </p:spTree>
    <p:extLst>
      <p:ext uri="{BB962C8B-B14F-4D97-AF65-F5344CB8AC3E}">
        <p14:creationId xmlns:p14="http://schemas.microsoft.com/office/powerpoint/2010/main" val="19569339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 String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An </a:t>
            </a:r>
            <a:r>
              <a:rPr lang="en-US" b="1" dirty="0"/>
              <a:t>alphabet</a:t>
            </a:r>
            <a:r>
              <a:rPr lang="en-US" dirty="0"/>
              <a:t> or character class is a finite set of symbols.</a:t>
            </a:r>
          </a:p>
          <a:p>
            <a:pPr lvl="0"/>
            <a:r>
              <a:rPr lang="en-US" dirty="0"/>
              <a:t>A </a:t>
            </a:r>
            <a:r>
              <a:rPr lang="en-US" b="1" dirty="0"/>
              <a:t>string</a:t>
            </a:r>
            <a:r>
              <a:rPr lang="en-US" dirty="0"/>
              <a:t> over an alphabet is a finite sequence of symbols drawn from that alphabet.</a:t>
            </a:r>
          </a:p>
          <a:p>
            <a:pPr lvl="0"/>
            <a:r>
              <a:rPr lang="en-US" dirty="0"/>
              <a:t>In language theory, the term "word" is often used as synonyms for "string". </a:t>
            </a:r>
          </a:p>
          <a:p>
            <a:pPr lvl="0"/>
            <a:r>
              <a:rPr lang="en-US" dirty="0"/>
              <a:t>The length of a string s, usually written |s|, is the number of occurrences of symbols in s. For example, "banana" is a string of length six. </a:t>
            </a:r>
          </a:p>
          <a:p>
            <a:pPr lvl="0"/>
            <a:r>
              <a:rPr lang="en-US" dirty="0"/>
              <a:t>The empty string, denoted </a:t>
            </a:r>
            <a:r>
              <a:rPr lang="en-US" b="1" dirty="0"/>
              <a:t>ε</a:t>
            </a:r>
            <a:r>
              <a:rPr lang="en-US" dirty="0"/>
              <a:t>, is the string of length zero.</a:t>
            </a:r>
          </a:p>
          <a:p>
            <a:endParaRPr lang="en-US" dirty="0"/>
          </a:p>
        </p:txBody>
      </p:sp>
    </p:spTree>
    <p:extLst>
      <p:ext uri="{BB962C8B-B14F-4D97-AF65-F5344CB8AC3E}">
        <p14:creationId xmlns:p14="http://schemas.microsoft.com/office/powerpoint/2010/main" val="11090820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Operations on String:</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1. Prefix of String</a:t>
            </a:r>
            <a:endParaRPr lang="en-US" dirty="0"/>
          </a:p>
          <a:p>
            <a:r>
              <a:rPr lang="en-US" dirty="0"/>
              <a:t>The prefix of the string is the preceding symbols present in the string and the string(s) itself.</a:t>
            </a:r>
          </a:p>
          <a:p>
            <a:pPr marL="0" indent="0">
              <a:buNone/>
            </a:pPr>
            <a:br>
              <a:rPr lang="en-US" dirty="0"/>
            </a:br>
            <a:r>
              <a:rPr lang="en-US" i="1" dirty="0"/>
              <a:t>For Example: </a:t>
            </a:r>
            <a:r>
              <a:rPr lang="en-US" dirty="0"/>
              <a:t>s = </a:t>
            </a:r>
            <a:r>
              <a:rPr lang="en-US" dirty="0" err="1"/>
              <a:t>abcd</a:t>
            </a:r>
            <a:endParaRPr lang="en-US" dirty="0"/>
          </a:p>
          <a:p>
            <a:pPr marL="0" indent="0">
              <a:buNone/>
            </a:pPr>
            <a:br>
              <a:rPr lang="en-US" dirty="0"/>
            </a:br>
            <a:r>
              <a:rPr lang="en-US" dirty="0"/>
              <a:t>The prefix of the string </a:t>
            </a:r>
            <a:r>
              <a:rPr lang="en-US" dirty="0" err="1"/>
              <a:t>abcd</a:t>
            </a:r>
            <a:r>
              <a:rPr lang="en-US" dirty="0"/>
              <a:t>: ∈, a, </a:t>
            </a:r>
            <a:r>
              <a:rPr lang="en-US" dirty="0" err="1"/>
              <a:t>ab</a:t>
            </a:r>
            <a:r>
              <a:rPr lang="en-US" dirty="0"/>
              <a:t>, </a:t>
            </a:r>
            <a:r>
              <a:rPr lang="en-US" dirty="0" err="1"/>
              <a:t>abc</a:t>
            </a:r>
            <a:r>
              <a:rPr lang="en-US" dirty="0"/>
              <a:t>, </a:t>
            </a:r>
            <a:r>
              <a:rPr lang="en-US" dirty="0" err="1"/>
              <a:t>abcd</a:t>
            </a:r>
            <a:br>
              <a:rPr lang="en-US" dirty="0"/>
            </a:br>
            <a:endParaRPr lang="en-US" dirty="0"/>
          </a:p>
        </p:txBody>
      </p:sp>
    </p:spTree>
    <p:extLst>
      <p:ext uri="{BB962C8B-B14F-4D97-AF65-F5344CB8AC3E}">
        <p14:creationId xmlns:p14="http://schemas.microsoft.com/office/powerpoint/2010/main" val="5593945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fontScale="92500" lnSpcReduction="10000"/>
          </a:bodyPr>
          <a:lstStyle/>
          <a:p>
            <a:pPr marL="0" indent="0">
              <a:buNone/>
            </a:pPr>
            <a:r>
              <a:rPr lang="en-US" b="1" dirty="0"/>
              <a:t>2. Suffix of String</a:t>
            </a:r>
            <a:endParaRPr lang="en-US" dirty="0"/>
          </a:p>
          <a:p>
            <a:pPr marL="0" indent="0">
              <a:buNone/>
            </a:pPr>
            <a:endParaRPr lang="en-US" b="1" dirty="0"/>
          </a:p>
          <a:p>
            <a:r>
              <a:rPr lang="en-US" dirty="0"/>
              <a:t>Suffix of the string is the ending symbols of the string and the string(s) itself.</a:t>
            </a:r>
          </a:p>
          <a:p>
            <a:r>
              <a:rPr lang="en-US" dirty="0"/>
              <a:t> </a:t>
            </a:r>
          </a:p>
          <a:p>
            <a:r>
              <a:rPr lang="en-US" i="1" dirty="0"/>
              <a:t>For Example: </a:t>
            </a:r>
            <a:r>
              <a:rPr lang="en-US" dirty="0"/>
              <a:t>s = </a:t>
            </a:r>
            <a:r>
              <a:rPr lang="en-US" dirty="0" err="1"/>
              <a:t>abcd</a:t>
            </a:r>
            <a:endParaRPr lang="en-US" dirty="0"/>
          </a:p>
          <a:p>
            <a:r>
              <a:rPr lang="en-US" dirty="0"/>
              <a:t> </a:t>
            </a:r>
          </a:p>
          <a:p>
            <a:r>
              <a:rPr lang="en-US" dirty="0"/>
              <a:t>Suffix of the string </a:t>
            </a:r>
            <a:r>
              <a:rPr lang="en-US" dirty="0" err="1"/>
              <a:t>abcd</a:t>
            </a:r>
            <a:r>
              <a:rPr lang="en-US" dirty="0"/>
              <a:t>: ∈, d, cd, </a:t>
            </a:r>
            <a:r>
              <a:rPr lang="en-US" dirty="0" err="1"/>
              <a:t>bcd</a:t>
            </a:r>
            <a:r>
              <a:rPr lang="en-US" dirty="0"/>
              <a:t>, </a:t>
            </a:r>
            <a:r>
              <a:rPr lang="en-US" dirty="0" err="1"/>
              <a:t>abcd</a:t>
            </a:r>
            <a:br>
              <a:rPr lang="en-US" dirty="0"/>
            </a:br>
            <a:r>
              <a:rPr lang="en-US" dirty="0"/>
              <a:t> </a:t>
            </a:r>
          </a:p>
        </p:txBody>
      </p:sp>
    </p:spTree>
    <p:extLst>
      <p:ext uri="{BB962C8B-B14F-4D97-AF65-F5344CB8AC3E}">
        <p14:creationId xmlns:p14="http://schemas.microsoft.com/office/powerpoint/2010/main" val="40699097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a:bodyPr>
          <a:lstStyle/>
          <a:p>
            <a:pPr marL="0" indent="0">
              <a:buNone/>
            </a:pPr>
            <a:r>
              <a:rPr lang="en-US" b="1" dirty="0"/>
              <a:t>3. Proper Prefix of String</a:t>
            </a:r>
            <a:endParaRPr lang="en-US" dirty="0"/>
          </a:p>
          <a:p>
            <a:r>
              <a:rPr lang="en-US" dirty="0"/>
              <a:t>The proper prefix of the string includes all the prefixes of the string excluding ∈ and the string(s) itself.</a:t>
            </a:r>
          </a:p>
          <a:p>
            <a:br>
              <a:rPr lang="en-US" dirty="0"/>
            </a:br>
            <a:r>
              <a:rPr lang="en-US" dirty="0"/>
              <a:t>Proper Prefix of the string </a:t>
            </a:r>
            <a:r>
              <a:rPr lang="en-US" dirty="0" err="1"/>
              <a:t>abcd</a:t>
            </a:r>
            <a:r>
              <a:rPr lang="en-US" dirty="0"/>
              <a:t>: a, </a:t>
            </a:r>
            <a:r>
              <a:rPr lang="en-US" dirty="0" err="1"/>
              <a:t>ab</a:t>
            </a:r>
            <a:r>
              <a:rPr lang="en-US" dirty="0"/>
              <a:t>, </a:t>
            </a:r>
            <a:r>
              <a:rPr lang="en-US" dirty="0" err="1"/>
              <a:t>abc</a:t>
            </a:r>
            <a:br>
              <a:rPr lang="en-US" dirty="0"/>
            </a:br>
            <a:br>
              <a:rPr lang="en-US" dirty="0"/>
            </a:br>
            <a:r>
              <a:rPr lang="en-US" dirty="0"/>
              <a:t> </a:t>
            </a:r>
          </a:p>
        </p:txBody>
      </p:sp>
    </p:spTree>
    <p:extLst>
      <p:ext uri="{BB962C8B-B14F-4D97-AF65-F5344CB8AC3E}">
        <p14:creationId xmlns:p14="http://schemas.microsoft.com/office/powerpoint/2010/main" val="40654999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a:bodyPr>
          <a:lstStyle/>
          <a:p>
            <a:pPr marL="0" indent="0">
              <a:buNone/>
            </a:pPr>
            <a:r>
              <a:rPr lang="en-US" b="1" dirty="0"/>
              <a:t>4. Proper Suffix of String</a:t>
            </a:r>
            <a:br>
              <a:rPr lang="en-US" dirty="0"/>
            </a:br>
            <a:r>
              <a:rPr lang="en-US" dirty="0"/>
              <a:t>The proper suffix of the string includes all the suffixes excluding ∈ and the string(s) itself.</a:t>
            </a:r>
            <a:br>
              <a:rPr lang="en-US" dirty="0"/>
            </a:br>
            <a:br>
              <a:rPr lang="en-US" dirty="0"/>
            </a:br>
            <a:r>
              <a:rPr lang="en-US" dirty="0"/>
              <a:t>Proper Suffix of the string </a:t>
            </a:r>
            <a:r>
              <a:rPr lang="en-US" dirty="0" err="1"/>
              <a:t>abcd</a:t>
            </a:r>
            <a:r>
              <a:rPr lang="en-US" dirty="0"/>
              <a:t>: d, cd, </a:t>
            </a:r>
            <a:r>
              <a:rPr lang="en-US" dirty="0" err="1"/>
              <a:t>bcd</a:t>
            </a:r>
            <a:br>
              <a:rPr lang="en-US" dirty="0"/>
            </a:br>
            <a:br>
              <a:rPr lang="en-US" dirty="0"/>
            </a:br>
            <a:r>
              <a:rPr lang="en-US" dirty="0"/>
              <a:t> </a:t>
            </a:r>
          </a:p>
        </p:txBody>
      </p:sp>
    </p:spTree>
    <p:extLst>
      <p:ext uri="{BB962C8B-B14F-4D97-AF65-F5344CB8AC3E}">
        <p14:creationId xmlns:p14="http://schemas.microsoft.com/office/powerpoint/2010/main" val="36227187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lnSpcReduction="10000"/>
          </a:bodyPr>
          <a:lstStyle/>
          <a:p>
            <a:pPr marL="0" indent="0">
              <a:buNone/>
            </a:pPr>
            <a:r>
              <a:rPr lang="en-US" b="1" dirty="0"/>
              <a:t>5. Substring of String</a:t>
            </a:r>
            <a:endParaRPr lang="en-US" dirty="0"/>
          </a:p>
          <a:p>
            <a:r>
              <a:rPr lang="en-US" dirty="0"/>
              <a:t>The substring of a string s is obtained by deleting any prefix or suffix from the string.</a:t>
            </a:r>
            <a:br>
              <a:rPr lang="en-US" dirty="0"/>
            </a:br>
            <a:br>
              <a:rPr lang="en-US" dirty="0"/>
            </a:br>
            <a:r>
              <a:rPr lang="en-US" dirty="0"/>
              <a:t>Substring of the string </a:t>
            </a:r>
            <a:r>
              <a:rPr lang="en-US" dirty="0" err="1"/>
              <a:t>abcd</a:t>
            </a:r>
            <a:r>
              <a:rPr lang="en-US" dirty="0"/>
              <a:t>: ∈, </a:t>
            </a:r>
            <a:r>
              <a:rPr lang="en-US" dirty="0" err="1"/>
              <a:t>abcd</a:t>
            </a:r>
            <a:r>
              <a:rPr lang="en-US" dirty="0"/>
              <a:t>, </a:t>
            </a:r>
            <a:r>
              <a:rPr lang="en-US" dirty="0" err="1"/>
              <a:t>bcd</a:t>
            </a:r>
            <a:r>
              <a:rPr lang="en-US" dirty="0"/>
              <a:t>, </a:t>
            </a:r>
            <a:r>
              <a:rPr lang="en-US" dirty="0" err="1"/>
              <a:t>abc</a:t>
            </a:r>
            <a:r>
              <a:rPr lang="en-US" dirty="0"/>
              <a:t>, …</a:t>
            </a:r>
            <a:br>
              <a:rPr lang="en-US" dirty="0"/>
            </a:br>
            <a:br>
              <a:rPr lang="en-US" dirty="0"/>
            </a:br>
            <a:br>
              <a:rPr lang="en-US" dirty="0"/>
            </a:br>
            <a:r>
              <a:rPr lang="en-US" dirty="0"/>
              <a:t> </a:t>
            </a:r>
          </a:p>
        </p:txBody>
      </p:sp>
    </p:spTree>
    <p:extLst>
      <p:ext uri="{BB962C8B-B14F-4D97-AF65-F5344CB8AC3E}">
        <p14:creationId xmlns:p14="http://schemas.microsoft.com/office/powerpoint/2010/main" val="22551742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a:bodyPr>
          <a:lstStyle/>
          <a:p>
            <a:pPr marL="0" indent="0">
              <a:buNone/>
            </a:pPr>
            <a:r>
              <a:rPr lang="en-US" b="1" dirty="0"/>
              <a:t>6. Proper Substring of String</a:t>
            </a:r>
            <a:br>
              <a:rPr lang="en-US" dirty="0"/>
            </a:br>
            <a:r>
              <a:rPr lang="en-US" dirty="0"/>
              <a:t>The proper substring of a string s includes all the substrings of s excluding ∈ and the string(s) itself.</a:t>
            </a:r>
            <a:br>
              <a:rPr lang="en-US" dirty="0"/>
            </a:br>
            <a:br>
              <a:rPr lang="en-US" dirty="0"/>
            </a:br>
            <a:r>
              <a:rPr lang="en-US" dirty="0"/>
              <a:t>Proper Substring of the string </a:t>
            </a:r>
            <a:r>
              <a:rPr lang="en-US" dirty="0" err="1"/>
              <a:t>abcd</a:t>
            </a:r>
            <a:r>
              <a:rPr lang="en-US" dirty="0"/>
              <a:t>: </a:t>
            </a:r>
            <a:r>
              <a:rPr lang="en-US" dirty="0" err="1"/>
              <a:t>bcd</a:t>
            </a:r>
            <a:r>
              <a:rPr lang="en-US" dirty="0"/>
              <a:t>, </a:t>
            </a:r>
            <a:r>
              <a:rPr lang="en-US" dirty="0" err="1"/>
              <a:t>abc</a:t>
            </a:r>
            <a:r>
              <a:rPr lang="en-US" dirty="0"/>
              <a:t>, cd, </a:t>
            </a:r>
            <a:r>
              <a:rPr lang="en-US" dirty="0" err="1"/>
              <a:t>ab</a:t>
            </a:r>
            <a:r>
              <a:rPr lang="en-US" dirty="0"/>
              <a:t>…</a:t>
            </a:r>
            <a:br>
              <a:rPr lang="en-US" dirty="0"/>
            </a:br>
            <a:br>
              <a:rPr lang="en-US" dirty="0"/>
            </a:br>
            <a:r>
              <a:rPr lang="en-US" dirty="0"/>
              <a:t> </a:t>
            </a:r>
          </a:p>
        </p:txBody>
      </p:sp>
    </p:spTree>
    <p:extLst>
      <p:ext uri="{BB962C8B-B14F-4D97-AF65-F5344CB8AC3E}">
        <p14:creationId xmlns:p14="http://schemas.microsoft.com/office/powerpoint/2010/main" val="11155155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a:bodyPr>
          <a:lstStyle/>
          <a:p>
            <a:pPr marL="0" indent="0">
              <a:buNone/>
            </a:pPr>
            <a:r>
              <a:rPr lang="en-US" b="1" dirty="0"/>
              <a:t>7. Subsequence of String</a:t>
            </a:r>
            <a:br>
              <a:rPr lang="en-US" dirty="0"/>
            </a:br>
            <a:r>
              <a:rPr lang="en-US" dirty="0"/>
              <a:t>The subsequence of the string is obtained by eliminating zero or more (not necessarily consecutive) symbols from the string.</a:t>
            </a:r>
            <a:br>
              <a:rPr lang="en-US" dirty="0"/>
            </a:br>
            <a:br>
              <a:rPr lang="en-US" dirty="0"/>
            </a:br>
            <a:r>
              <a:rPr lang="en-US" dirty="0"/>
              <a:t>A subsequence of the string </a:t>
            </a:r>
            <a:r>
              <a:rPr lang="en-US" dirty="0" err="1"/>
              <a:t>abcd</a:t>
            </a:r>
            <a:r>
              <a:rPr lang="en-US" dirty="0"/>
              <a:t>: </a:t>
            </a:r>
            <a:r>
              <a:rPr lang="en-US" dirty="0" err="1"/>
              <a:t>abd</a:t>
            </a:r>
            <a:r>
              <a:rPr lang="en-US" dirty="0"/>
              <a:t>, </a:t>
            </a:r>
            <a:r>
              <a:rPr lang="en-US" dirty="0" err="1"/>
              <a:t>bcd</a:t>
            </a:r>
            <a:r>
              <a:rPr lang="en-US" dirty="0"/>
              <a:t>, </a:t>
            </a:r>
            <a:r>
              <a:rPr lang="en-US" dirty="0" err="1"/>
              <a:t>bd</a:t>
            </a:r>
            <a:r>
              <a:rPr lang="en-US" dirty="0"/>
              <a:t>, …</a:t>
            </a:r>
            <a:br>
              <a:rPr lang="en-US" dirty="0"/>
            </a:br>
            <a:br>
              <a:rPr lang="en-US" dirty="0"/>
            </a:br>
            <a:r>
              <a:rPr lang="en-US" dirty="0"/>
              <a:t> </a:t>
            </a:r>
          </a:p>
        </p:txBody>
      </p:sp>
    </p:spTree>
    <p:extLst>
      <p:ext uri="{BB962C8B-B14F-4D97-AF65-F5344CB8AC3E}">
        <p14:creationId xmlns:p14="http://schemas.microsoft.com/office/powerpoint/2010/main" val="39507869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lnSpcReduction="10000"/>
          </a:bodyPr>
          <a:lstStyle/>
          <a:p>
            <a:pPr marL="0" indent="0">
              <a:buNone/>
            </a:pPr>
            <a:r>
              <a:rPr lang="en-US" b="1" dirty="0"/>
              <a:t>8. Concatenation of  String</a:t>
            </a:r>
            <a:br>
              <a:rPr lang="en-US" dirty="0"/>
            </a:br>
            <a:r>
              <a:rPr lang="en-US" dirty="0"/>
              <a:t>If s and t are two strings, then </a:t>
            </a:r>
            <a:r>
              <a:rPr lang="en-US" dirty="0" err="1"/>
              <a:t>st</a:t>
            </a:r>
            <a:r>
              <a:rPr lang="en-US" dirty="0"/>
              <a:t> denotes concatenation.</a:t>
            </a:r>
            <a:br>
              <a:rPr lang="en-US" dirty="0"/>
            </a:br>
            <a:br>
              <a:rPr lang="en-US" dirty="0"/>
            </a:br>
            <a:r>
              <a:rPr lang="en-US" dirty="0"/>
              <a:t>s = </a:t>
            </a:r>
            <a:r>
              <a:rPr lang="en-US" dirty="0" err="1"/>
              <a:t>abc</a:t>
            </a:r>
            <a:r>
              <a:rPr lang="en-US" dirty="0"/>
              <a:t>  t = </a:t>
            </a:r>
            <a:r>
              <a:rPr lang="en-US" dirty="0" err="1"/>
              <a:t>def</a:t>
            </a:r>
            <a:br>
              <a:rPr lang="en-US" dirty="0"/>
            </a:br>
            <a:br>
              <a:rPr lang="en-US" dirty="0"/>
            </a:br>
            <a:r>
              <a:rPr lang="en-US" dirty="0"/>
              <a:t>Concatenation of string s and t i.e. </a:t>
            </a:r>
            <a:r>
              <a:rPr lang="en-US" dirty="0" err="1"/>
              <a:t>st</a:t>
            </a:r>
            <a:r>
              <a:rPr lang="en-US" dirty="0"/>
              <a:t> = </a:t>
            </a:r>
            <a:r>
              <a:rPr lang="en-US" dirty="0" err="1"/>
              <a:t>abcdef</a:t>
            </a:r>
            <a:endParaRPr lang="en-US" dirty="0"/>
          </a:p>
          <a:p>
            <a:pPr marL="0" indent="0">
              <a:buNone/>
            </a:pPr>
            <a:br>
              <a:rPr lang="en-US" dirty="0"/>
            </a:br>
            <a:r>
              <a:rPr lang="en-US" dirty="0"/>
              <a:t> </a:t>
            </a:r>
          </a:p>
        </p:txBody>
      </p:sp>
    </p:spTree>
    <p:extLst>
      <p:ext uri="{BB962C8B-B14F-4D97-AF65-F5344CB8AC3E}">
        <p14:creationId xmlns:p14="http://schemas.microsoft.com/office/powerpoint/2010/main" val="1369727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fontScale="85000" lnSpcReduction="10000"/>
          </a:bodyPr>
          <a:lstStyle/>
          <a:p>
            <a:pPr marL="0" indent="0">
              <a:buNone/>
            </a:pPr>
            <a:r>
              <a:rPr lang="en-US" sz="3900" b="1" dirty="0"/>
              <a:t>2. Language</a:t>
            </a:r>
            <a:endParaRPr lang="en-US" sz="3900" dirty="0"/>
          </a:p>
          <a:p>
            <a:r>
              <a:rPr lang="en-US" dirty="0"/>
              <a:t>A </a:t>
            </a:r>
            <a:r>
              <a:rPr lang="en-US" b="1" dirty="0"/>
              <a:t>language</a:t>
            </a:r>
            <a:r>
              <a:rPr lang="en-US" dirty="0"/>
              <a:t> is any countable set of strings over some fixed alphabet.</a:t>
            </a:r>
          </a:p>
          <a:p>
            <a:pPr marL="0" indent="0">
              <a:buNone/>
            </a:pPr>
            <a:endParaRPr lang="en-US" dirty="0"/>
          </a:p>
          <a:p>
            <a:r>
              <a:rPr lang="en-US" sz="3800" b="1" dirty="0"/>
              <a:t>Operation on Language</a:t>
            </a:r>
            <a:endParaRPr lang="en-US" sz="3800" dirty="0"/>
          </a:p>
          <a:p>
            <a:r>
              <a:rPr lang="en-US" dirty="0"/>
              <a:t>As we have learnt language is a set of strings that are constructed over some fixed alphabets. Now the operation that can be performed on languages are:</a:t>
            </a:r>
          </a:p>
          <a:p>
            <a:pPr marL="0" indent="0">
              <a:buNone/>
            </a:pPr>
            <a:br>
              <a:rPr lang="en-US" dirty="0"/>
            </a:br>
            <a:r>
              <a:rPr lang="en-US" dirty="0"/>
              <a:t> </a:t>
            </a:r>
          </a:p>
        </p:txBody>
      </p:sp>
    </p:spTree>
    <p:extLst>
      <p:ext uri="{BB962C8B-B14F-4D97-AF65-F5344CB8AC3E}">
        <p14:creationId xmlns:p14="http://schemas.microsoft.com/office/powerpoint/2010/main" val="17607026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fontScale="77500" lnSpcReduction="20000"/>
          </a:bodyPr>
          <a:lstStyle/>
          <a:p>
            <a:pPr marL="0" indent="0">
              <a:buNone/>
            </a:pPr>
            <a:r>
              <a:rPr lang="en-US" sz="4600" b="1" dirty="0"/>
              <a:t>1. Union</a:t>
            </a:r>
            <a:br>
              <a:rPr lang="en-US" dirty="0"/>
            </a:br>
            <a:r>
              <a:rPr lang="en-US" dirty="0" err="1"/>
              <a:t>Union</a:t>
            </a:r>
            <a:r>
              <a:rPr lang="en-US" dirty="0"/>
              <a:t> is the most common set operation. Consider the two languages L and M. Then the union of these two languages is denoted by:</a:t>
            </a:r>
          </a:p>
          <a:p>
            <a:br>
              <a:rPr lang="en-US" dirty="0"/>
            </a:br>
            <a:r>
              <a:rPr lang="en-US" dirty="0"/>
              <a:t>L ∪ M = { s | s is in L or s is in M}</a:t>
            </a:r>
          </a:p>
          <a:p>
            <a:br>
              <a:rPr lang="en-US" dirty="0"/>
            </a:br>
            <a:r>
              <a:rPr lang="en-US" dirty="0"/>
              <a:t>That means the string s from the union of two languages can either be from language L or from language M.</a:t>
            </a:r>
            <a:br>
              <a:rPr lang="en-US" dirty="0"/>
            </a:br>
            <a:br>
              <a:rPr lang="en-US" dirty="0"/>
            </a:br>
            <a:r>
              <a:rPr lang="en-US" dirty="0"/>
              <a:t>If  L = {a, b} and M = {c, d} Then L ∪ M = {a, b, c, d}</a:t>
            </a:r>
            <a:br>
              <a:rPr lang="en-US" dirty="0"/>
            </a:br>
            <a:br>
              <a:rPr lang="en-US" dirty="0"/>
            </a:br>
            <a:r>
              <a:rPr lang="en-US" dirty="0"/>
              <a:t> </a:t>
            </a:r>
          </a:p>
        </p:txBody>
      </p:sp>
    </p:spTree>
    <p:extLst>
      <p:ext uri="{BB962C8B-B14F-4D97-AF65-F5344CB8AC3E}">
        <p14:creationId xmlns:p14="http://schemas.microsoft.com/office/powerpoint/2010/main" val="26026501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Autofit/>
          </a:bodyPr>
          <a:lstStyle/>
          <a:p>
            <a:pPr marL="0" indent="0">
              <a:buNone/>
            </a:pPr>
            <a:r>
              <a:rPr lang="en-US" sz="4000" b="1" dirty="0"/>
              <a:t>2. Concatenation</a:t>
            </a:r>
            <a:br>
              <a:rPr lang="en-US" sz="2400" dirty="0"/>
            </a:br>
            <a:r>
              <a:rPr lang="en-US" dirty="0" err="1"/>
              <a:t>Concatenation</a:t>
            </a:r>
            <a:r>
              <a:rPr lang="en-US" dirty="0"/>
              <a:t> links the string from one language to the string of another language in a series in all possible ways. The concatenation of two different languages is denoted by:</a:t>
            </a:r>
            <a:br>
              <a:rPr lang="en-US" dirty="0"/>
            </a:br>
            <a:br>
              <a:rPr lang="en-US" dirty="0"/>
            </a:br>
            <a:r>
              <a:rPr lang="en-US" dirty="0"/>
              <a:t>L ⋅ M = {</a:t>
            </a:r>
            <a:r>
              <a:rPr lang="en-US" dirty="0" err="1"/>
              <a:t>st</a:t>
            </a:r>
            <a:r>
              <a:rPr lang="en-US" dirty="0"/>
              <a:t> | s is in L and t is in M} If  L = {a, b} and M = {c, d}</a:t>
            </a:r>
            <a:br>
              <a:rPr lang="en-US" dirty="0"/>
            </a:br>
            <a:br>
              <a:rPr lang="en-US" dirty="0"/>
            </a:br>
            <a:r>
              <a:rPr lang="en-US" dirty="0"/>
              <a:t>Then L ⋅ M = {ac, ad, </a:t>
            </a:r>
            <a:r>
              <a:rPr lang="en-US" dirty="0" err="1"/>
              <a:t>bc</a:t>
            </a:r>
            <a:r>
              <a:rPr lang="en-US" dirty="0"/>
              <a:t>, </a:t>
            </a:r>
            <a:r>
              <a:rPr lang="en-US" dirty="0" err="1"/>
              <a:t>bd</a:t>
            </a:r>
            <a:r>
              <a:rPr lang="en-US" dirty="0"/>
              <a:t>}</a:t>
            </a:r>
            <a:br>
              <a:rPr lang="en-US" dirty="0"/>
            </a:br>
            <a:br>
              <a:rPr lang="en-US" sz="2400" dirty="0"/>
            </a:br>
            <a:br>
              <a:rPr lang="en-US" sz="2400" dirty="0"/>
            </a:br>
            <a:r>
              <a:rPr lang="en-US" sz="2400" dirty="0"/>
              <a:t> </a:t>
            </a:r>
          </a:p>
        </p:txBody>
      </p:sp>
    </p:spTree>
    <p:extLst>
      <p:ext uri="{BB962C8B-B14F-4D97-AF65-F5344CB8AC3E}">
        <p14:creationId xmlns:p14="http://schemas.microsoft.com/office/powerpoint/2010/main" val="35074828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4525963"/>
          </a:xfrm>
        </p:spPr>
        <p:txBody>
          <a:bodyPr>
            <a:noAutofit/>
          </a:bodyPr>
          <a:lstStyle/>
          <a:p>
            <a:pPr marL="0" indent="0">
              <a:buNone/>
            </a:pPr>
            <a:r>
              <a:rPr lang="en-US" sz="3600" b="1" dirty="0"/>
              <a:t>3. </a:t>
            </a:r>
            <a:r>
              <a:rPr lang="en-US" sz="3600" b="1" dirty="0" err="1"/>
              <a:t>Kleene</a:t>
            </a:r>
            <a:r>
              <a:rPr lang="en-US" sz="3600" b="1" dirty="0"/>
              <a:t> Closure</a:t>
            </a:r>
            <a:br>
              <a:rPr lang="en-US" sz="3600" b="1" dirty="0"/>
            </a:br>
            <a:r>
              <a:rPr lang="en-US" sz="3600" dirty="0" err="1"/>
              <a:t>Kleene</a:t>
            </a:r>
            <a:r>
              <a:rPr lang="en-US" sz="3600" dirty="0"/>
              <a:t> closure of a language L provides you with a set of strings. This set of strings is obtained by concatenating L zero or more time. The </a:t>
            </a:r>
            <a:r>
              <a:rPr lang="en-US" sz="3600" dirty="0" err="1"/>
              <a:t>Kleene</a:t>
            </a:r>
            <a:r>
              <a:rPr lang="en-US" sz="3600" dirty="0"/>
              <a:t> closure of the language L is denoted by:</a:t>
            </a:r>
            <a:br>
              <a:rPr lang="en-US" sz="3600" dirty="0"/>
            </a:br>
            <a:br>
              <a:rPr lang="en-US" sz="3600" dirty="0"/>
            </a:br>
            <a:r>
              <a:rPr lang="en-US" sz="3600" dirty="0"/>
              <a:t>If  L = {a, b} then L* = {∈, a, b, </a:t>
            </a:r>
            <a:r>
              <a:rPr lang="en-US" sz="3600" dirty="0" err="1"/>
              <a:t>aa</a:t>
            </a:r>
            <a:r>
              <a:rPr lang="en-US" sz="3600" dirty="0"/>
              <a:t>, bb, </a:t>
            </a:r>
            <a:r>
              <a:rPr lang="en-US" sz="3600" dirty="0" err="1"/>
              <a:t>aaa</a:t>
            </a:r>
            <a:r>
              <a:rPr lang="en-US" sz="3600" dirty="0"/>
              <a:t>, </a:t>
            </a:r>
            <a:r>
              <a:rPr lang="en-US" sz="3600" dirty="0" err="1"/>
              <a:t>bbb</a:t>
            </a:r>
            <a:r>
              <a:rPr lang="en-US" sz="3600" dirty="0"/>
              <a:t>, …}</a:t>
            </a:r>
            <a:br>
              <a:rPr lang="en-US" sz="3600" dirty="0"/>
            </a:br>
            <a:r>
              <a:rPr lang="en-US" sz="3600" dirty="0"/>
              <a:t> </a:t>
            </a:r>
          </a:p>
        </p:txBody>
      </p:sp>
    </p:spTree>
    <p:extLst>
      <p:ext uri="{BB962C8B-B14F-4D97-AF65-F5344CB8AC3E}">
        <p14:creationId xmlns:p14="http://schemas.microsoft.com/office/powerpoint/2010/main" val="21170825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229600" cy="4525963"/>
          </a:xfrm>
        </p:spPr>
        <p:txBody>
          <a:bodyPr>
            <a:noAutofit/>
          </a:bodyPr>
          <a:lstStyle/>
          <a:p>
            <a:r>
              <a:rPr lang="en-US" b="1" dirty="0"/>
              <a:t>4. Positive Closure</a:t>
            </a:r>
            <a:br>
              <a:rPr lang="en-US" b="1" dirty="0"/>
            </a:br>
            <a:r>
              <a:rPr lang="en-US" b="1" dirty="0"/>
              <a:t>L+ </a:t>
            </a:r>
            <a:r>
              <a:rPr lang="en-US" dirty="0"/>
              <a:t>denotes the Positive closure of a language </a:t>
            </a:r>
            <a:r>
              <a:rPr lang="en-US" b="1" dirty="0"/>
              <a:t>L</a:t>
            </a:r>
            <a:r>
              <a:rPr lang="en-US" dirty="0"/>
              <a:t> and provides a set of all the strings that can be obtained by concatenating </a:t>
            </a:r>
            <a:r>
              <a:rPr lang="en-US" b="1" dirty="0"/>
              <a:t>L </a:t>
            </a:r>
            <a:r>
              <a:rPr lang="en-US" dirty="0"/>
              <a:t>one or more times.</a:t>
            </a:r>
          </a:p>
          <a:p>
            <a:r>
              <a:rPr lang="en-US" dirty="0"/>
              <a:t>If </a:t>
            </a:r>
            <a:r>
              <a:rPr lang="en-US" b="1" dirty="0"/>
              <a:t> L</a:t>
            </a:r>
            <a:r>
              <a:rPr lang="en-US" dirty="0"/>
              <a:t> = </a:t>
            </a:r>
            <a:r>
              <a:rPr lang="en-US" b="1" dirty="0"/>
              <a:t>{a, b}</a:t>
            </a:r>
            <a:endParaRPr lang="en-US" dirty="0"/>
          </a:p>
          <a:p>
            <a:r>
              <a:rPr lang="en-US" dirty="0"/>
              <a:t>then </a:t>
            </a:r>
            <a:r>
              <a:rPr lang="en-US" b="1" dirty="0"/>
              <a:t>L+</a:t>
            </a:r>
            <a:r>
              <a:rPr lang="en-US" dirty="0"/>
              <a:t>  = </a:t>
            </a:r>
            <a:r>
              <a:rPr lang="en-US" b="1" dirty="0"/>
              <a:t>{a, b, </a:t>
            </a:r>
            <a:r>
              <a:rPr lang="en-US" b="1" dirty="0" err="1"/>
              <a:t>aa</a:t>
            </a:r>
            <a:r>
              <a:rPr lang="en-US" b="1" dirty="0"/>
              <a:t>, bb, </a:t>
            </a:r>
            <a:r>
              <a:rPr lang="en-US" b="1" dirty="0" err="1"/>
              <a:t>aaa</a:t>
            </a:r>
            <a:r>
              <a:rPr lang="en-US" b="1" dirty="0"/>
              <a:t>, </a:t>
            </a:r>
            <a:r>
              <a:rPr lang="en-US" b="1" dirty="0" err="1"/>
              <a:t>bbb</a:t>
            </a:r>
            <a:r>
              <a:rPr lang="en-US" b="1" dirty="0"/>
              <a:t>, …}</a:t>
            </a:r>
            <a:endParaRPr lang="en-US" dirty="0"/>
          </a:p>
          <a:p>
            <a:pPr marL="0" indent="0">
              <a:buNone/>
            </a:pPr>
            <a:br>
              <a:rPr lang="en-US" dirty="0"/>
            </a:br>
            <a:endParaRPr lang="en-US" dirty="0"/>
          </a:p>
        </p:txBody>
      </p:sp>
    </p:spTree>
    <p:extLst>
      <p:ext uri="{BB962C8B-B14F-4D97-AF65-F5344CB8AC3E}">
        <p14:creationId xmlns:p14="http://schemas.microsoft.com/office/powerpoint/2010/main" val="30225959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15000"/>
          </a:xfrm>
        </p:spPr>
        <p:txBody>
          <a:bodyPr>
            <a:noAutofit/>
          </a:bodyPr>
          <a:lstStyle/>
          <a:p>
            <a:pPr marL="0" indent="0">
              <a:buNone/>
            </a:pPr>
            <a:r>
              <a:rPr lang="en-US" b="1" dirty="0"/>
              <a:t>3. Regular Expression</a:t>
            </a:r>
          </a:p>
          <a:p>
            <a:r>
              <a:rPr lang="en-US" dirty="0"/>
              <a:t>Regular expressions are strings of characters that define a searching pattern with the help of which we can form a language, and each regular expression represents a language.</a:t>
            </a:r>
          </a:p>
          <a:p>
            <a:r>
              <a:rPr lang="en-US" dirty="0"/>
              <a:t>A regular expression</a:t>
            </a:r>
            <a:r>
              <a:rPr lang="en-US" b="1" dirty="0"/>
              <a:t> r </a:t>
            </a:r>
            <a:r>
              <a:rPr lang="en-US" dirty="0"/>
              <a:t>can denote a language </a:t>
            </a:r>
            <a:r>
              <a:rPr lang="en-US" b="1" dirty="0"/>
              <a:t>L(r)</a:t>
            </a:r>
            <a:r>
              <a:rPr lang="en-US" dirty="0"/>
              <a:t> which can be built recursively over the smaller regular expression by following some rules.</a:t>
            </a:r>
          </a:p>
        </p:txBody>
      </p:sp>
    </p:spTree>
    <p:extLst>
      <p:ext uri="{BB962C8B-B14F-4D97-AF65-F5344CB8AC3E}">
        <p14:creationId xmlns:p14="http://schemas.microsoft.com/office/powerpoint/2010/main" val="15618284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r>
              <a:rPr lang="en-US" sz="3600" b="1" dirty="0"/>
              <a:t>Writing Regular Expressions</a:t>
            </a:r>
            <a:endParaRPr lang="en-US" sz="3600" dirty="0"/>
          </a:p>
          <a:p>
            <a:r>
              <a:rPr lang="en-US" sz="3600" dirty="0"/>
              <a:t>Following symbols are used very frequently to write regular expressions .</a:t>
            </a:r>
          </a:p>
          <a:p>
            <a:pPr fontAlgn="base"/>
            <a:r>
              <a:rPr lang="en-US" sz="3600" b="1" dirty="0"/>
              <a:t>Repeaters (  *, +, and { } )  </a:t>
            </a:r>
          </a:p>
          <a:p>
            <a:pPr marL="0" indent="0" fontAlgn="base">
              <a:buNone/>
            </a:pPr>
            <a:r>
              <a:rPr lang="en-US" sz="3600" dirty="0"/>
              <a:t>These symbols act as repeaters and tell the computer that the preceding character is to be used for more than just one time.</a:t>
            </a:r>
          </a:p>
          <a:p>
            <a:endParaRPr lang="en-US" sz="3600" dirty="0"/>
          </a:p>
        </p:txBody>
      </p:sp>
    </p:spTree>
    <p:extLst>
      <p:ext uri="{BB962C8B-B14F-4D97-AF65-F5344CB8AC3E}">
        <p14:creationId xmlns:p14="http://schemas.microsoft.com/office/powerpoint/2010/main" val="29893971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marL="0" indent="0" fontAlgn="base">
              <a:buNone/>
            </a:pPr>
            <a:r>
              <a:rPr lang="en-US" sz="2400" b="1" dirty="0"/>
              <a:t>The asterisk symbol ( * ): </a:t>
            </a:r>
            <a:r>
              <a:rPr lang="en-US" sz="2400" dirty="0"/>
              <a:t>It tells the computer to match the preceding character (or set of characters) for 0 or more times (</a:t>
            </a:r>
            <a:r>
              <a:rPr lang="en-US" sz="2400" dirty="0" err="1"/>
              <a:t>upto</a:t>
            </a:r>
            <a:r>
              <a:rPr lang="en-US" sz="2400" dirty="0"/>
              <a:t> infinite).</a:t>
            </a:r>
          </a:p>
          <a:p>
            <a:r>
              <a:rPr lang="en-US" sz="2400" b="1" dirty="0"/>
              <a:t>Example :</a:t>
            </a:r>
            <a:r>
              <a:rPr lang="en-US" sz="2400" dirty="0"/>
              <a:t> The regular expression </a:t>
            </a:r>
            <a:r>
              <a:rPr lang="en-US" sz="2400" b="1" dirty="0" err="1"/>
              <a:t>ab</a:t>
            </a:r>
            <a:r>
              <a:rPr lang="en-US" sz="2400" b="1" dirty="0"/>
              <a:t>*c </a:t>
            </a:r>
            <a:r>
              <a:rPr lang="en-US" sz="2400" dirty="0"/>
              <a:t> gives the following string-</a:t>
            </a:r>
            <a:r>
              <a:rPr lang="en-US" sz="2400" b="1" dirty="0"/>
              <a:t> </a:t>
            </a:r>
          </a:p>
          <a:p>
            <a:r>
              <a:rPr lang="en-US" sz="2400" b="1" dirty="0"/>
              <a:t>ac, </a:t>
            </a:r>
            <a:r>
              <a:rPr lang="en-US" sz="2400" b="1" dirty="0" err="1"/>
              <a:t>abc</a:t>
            </a:r>
            <a:r>
              <a:rPr lang="en-US" sz="2400" b="1" dirty="0"/>
              <a:t>, </a:t>
            </a:r>
            <a:r>
              <a:rPr lang="en-US" sz="2400" b="1" dirty="0" err="1"/>
              <a:t>abbc</a:t>
            </a:r>
            <a:r>
              <a:rPr lang="en-US" sz="2400" b="1" dirty="0"/>
              <a:t>, </a:t>
            </a:r>
            <a:r>
              <a:rPr lang="en-US" sz="2400" b="1" dirty="0" err="1"/>
              <a:t>abbbc</a:t>
            </a:r>
            <a:r>
              <a:rPr lang="en-US" sz="2400" b="1" dirty="0"/>
              <a:t>, </a:t>
            </a:r>
            <a:r>
              <a:rPr lang="en-US" sz="2400" b="1" dirty="0" err="1"/>
              <a:t>abbbbbc</a:t>
            </a:r>
            <a:r>
              <a:rPr lang="en-US" sz="2400" b="1" dirty="0"/>
              <a:t>.. </a:t>
            </a:r>
            <a:r>
              <a:rPr lang="en-US" sz="2400" dirty="0"/>
              <a:t>and so on.</a:t>
            </a:r>
          </a:p>
          <a:p>
            <a:pPr marL="0" indent="0">
              <a:buNone/>
            </a:pPr>
            <a:endParaRPr lang="en-US" sz="2400" dirty="0"/>
          </a:p>
          <a:p>
            <a:pPr marL="0" indent="0" fontAlgn="base">
              <a:buNone/>
            </a:pPr>
            <a:r>
              <a:rPr lang="en-US" sz="2400" dirty="0"/>
              <a:t> </a:t>
            </a:r>
            <a:r>
              <a:rPr lang="en-US" sz="2400" b="1" dirty="0"/>
              <a:t>The Plus symbol ( + ) </a:t>
            </a:r>
          </a:p>
          <a:p>
            <a:pPr fontAlgn="base"/>
            <a:r>
              <a:rPr lang="en-US" sz="2400" dirty="0"/>
              <a:t>It tells the computer to repeat the preceding character (or set of characters) at </a:t>
            </a:r>
            <a:r>
              <a:rPr lang="en-US" sz="2400" dirty="0" err="1"/>
              <a:t>atleast</a:t>
            </a:r>
            <a:r>
              <a:rPr lang="en-US" sz="2400" dirty="0"/>
              <a:t> one or more times(up to infinite).</a:t>
            </a:r>
          </a:p>
          <a:p>
            <a:r>
              <a:rPr lang="en-US" sz="2400" b="1" dirty="0"/>
              <a:t>Example :</a:t>
            </a:r>
            <a:r>
              <a:rPr lang="en-US" sz="2400" dirty="0"/>
              <a:t> The regular expression </a:t>
            </a:r>
            <a:r>
              <a:rPr lang="en-US" sz="2400" dirty="0" err="1"/>
              <a:t>ab+c</a:t>
            </a:r>
            <a:r>
              <a:rPr lang="en-US" sz="2400" dirty="0"/>
              <a:t> will give </a:t>
            </a:r>
            <a:r>
              <a:rPr lang="en-US" sz="2400" dirty="0" err="1"/>
              <a:t>abc</a:t>
            </a:r>
            <a:r>
              <a:rPr lang="en-US" sz="2400" dirty="0"/>
              <a:t>, </a:t>
            </a:r>
            <a:r>
              <a:rPr lang="en-US" sz="2400" dirty="0" err="1"/>
              <a:t>abbc</a:t>
            </a:r>
            <a:r>
              <a:rPr lang="en-US" sz="2400" dirty="0"/>
              <a:t>,</a:t>
            </a:r>
            <a:br>
              <a:rPr lang="en-US" sz="2400" dirty="0"/>
            </a:br>
            <a:r>
              <a:rPr lang="en-US" sz="2400" dirty="0" err="1"/>
              <a:t>abbbc</a:t>
            </a:r>
            <a:r>
              <a:rPr lang="en-US" sz="2400" dirty="0"/>
              <a:t>, … and so on. </a:t>
            </a:r>
          </a:p>
        </p:txBody>
      </p:sp>
    </p:spTree>
    <p:extLst>
      <p:ext uri="{BB962C8B-B14F-4D97-AF65-F5344CB8AC3E}">
        <p14:creationId xmlns:p14="http://schemas.microsoft.com/office/powerpoint/2010/main" val="40212388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2800" b="1" dirty="0"/>
              <a:t>The curly braces { … } </a:t>
            </a:r>
          </a:p>
          <a:p>
            <a:pPr fontAlgn="base"/>
            <a:r>
              <a:rPr lang="en-US" sz="2800" dirty="0"/>
              <a:t>It tells the computer to repeat the preceding character (or set of characters) for as many times as the value inside this bracket.</a:t>
            </a:r>
          </a:p>
          <a:p>
            <a:r>
              <a:rPr lang="en-US" sz="2800" b="1" dirty="0"/>
              <a:t>Example : </a:t>
            </a:r>
            <a:r>
              <a:rPr lang="en-US" sz="2800" dirty="0"/>
              <a:t>{2} means that the preceding character is to be repeated 2 </a:t>
            </a:r>
            <a:br>
              <a:rPr lang="en-US" sz="2800" dirty="0"/>
            </a:br>
            <a:r>
              <a:rPr lang="en-US" sz="2800" dirty="0"/>
              <a:t>times, {min,} means the preceding character is matches min or more </a:t>
            </a:r>
            <a:br>
              <a:rPr lang="en-US" sz="2800" dirty="0"/>
            </a:br>
            <a:r>
              <a:rPr lang="en-US" sz="2800" dirty="0"/>
              <a:t>times. {</a:t>
            </a:r>
            <a:r>
              <a:rPr lang="en-US" sz="2800" dirty="0" err="1"/>
              <a:t>min,max</a:t>
            </a:r>
            <a:r>
              <a:rPr lang="en-US" sz="2800" dirty="0"/>
              <a:t>} means that the preceding character is repeated at</a:t>
            </a:r>
            <a:br>
              <a:rPr lang="en-US" sz="2800" dirty="0"/>
            </a:br>
            <a:r>
              <a:rPr lang="en-US" sz="2800" dirty="0"/>
              <a:t>least min &amp; at most max times.</a:t>
            </a:r>
          </a:p>
        </p:txBody>
      </p:sp>
    </p:spTree>
    <p:extLst>
      <p:ext uri="{BB962C8B-B14F-4D97-AF65-F5344CB8AC3E}">
        <p14:creationId xmlns:p14="http://schemas.microsoft.com/office/powerpoint/2010/main" val="17287097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3600" b="1" dirty="0"/>
              <a:t>Wildcard ( . ) </a:t>
            </a:r>
          </a:p>
          <a:p>
            <a:pPr fontAlgn="base"/>
            <a:r>
              <a:rPr lang="en-US" sz="3600" dirty="0"/>
              <a:t>The dot symbol can take the place of any other symbol, that is why it is called the wildcard character.</a:t>
            </a:r>
          </a:p>
          <a:p>
            <a:r>
              <a:rPr lang="en-US" sz="3600" b="1" dirty="0"/>
              <a:t>Example :</a:t>
            </a:r>
            <a:r>
              <a:rPr lang="en-US" sz="3600" dirty="0"/>
              <a:t> </a:t>
            </a:r>
            <a:br>
              <a:rPr lang="en-US" sz="3600" dirty="0"/>
            </a:br>
            <a:r>
              <a:rPr lang="en-US" sz="3600" dirty="0"/>
              <a:t>The Regular expression .* will tell the computer that any character</a:t>
            </a:r>
            <a:br>
              <a:rPr lang="en-US" sz="3600" dirty="0"/>
            </a:br>
            <a:r>
              <a:rPr lang="en-US" sz="3600" dirty="0"/>
              <a:t>can be used any number of times.</a:t>
            </a:r>
          </a:p>
        </p:txBody>
      </p:sp>
    </p:spTree>
    <p:extLst>
      <p:ext uri="{BB962C8B-B14F-4D97-AF65-F5344CB8AC3E}">
        <p14:creationId xmlns:p14="http://schemas.microsoft.com/office/powerpoint/2010/main" val="23925755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3600" b="1" dirty="0"/>
              <a:t>Optional character ( ? ) </a:t>
            </a:r>
          </a:p>
          <a:p>
            <a:pPr fontAlgn="base"/>
            <a:r>
              <a:rPr lang="en-US" sz="3600" dirty="0"/>
              <a:t>This symbol tells the computer that the preceding character may or may not be present in the string to be matched.</a:t>
            </a:r>
          </a:p>
          <a:p>
            <a:r>
              <a:rPr lang="en-US" sz="3600" b="1" dirty="0"/>
              <a:t>Example :</a:t>
            </a:r>
            <a:r>
              <a:rPr lang="en-US" sz="3600" dirty="0"/>
              <a:t> </a:t>
            </a:r>
            <a:br>
              <a:rPr lang="en-US" sz="3600" dirty="0"/>
            </a:br>
            <a:r>
              <a:rPr lang="en-US" sz="3600" dirty="0"/>
              <a:t>We may write the format for document file as – “</a:t>
            </a:r>
            <a:r>
              <a:rPr lang="en-US" sz="3600" dirty="0" err="1"/>
              <a:t>docx</a:t>
            </a:r>
            <a:r>
              <a:rPr lang="en-US" sz="3600" dirty="0"/>
              <a:t>?”</a:t>
            </a:r>
            <a:br>
              <a:rPr lang="en-US" sz="3600" dirty="0"/>
            </a:br>
            <a:r>
              <a:rPr lang="en-US" sz="3600" dirty="0"/>
              <a:t>The ‘?’ tells the computer that x may or may not be </a:t>
            </a:r>
            <a:br>
              <a:rPr lang="en-US" sz="3600" dirty="0"/>
            </a:br>
            <a:r>
              <a:rPr lang="en-US" sz="3600" dirty="0"/>
              <a:t>present in the name of file format.</a:t>
            </a:r>
          </a:p>
        </p:txBody>
      </p:sp>
    </p:spTree>
    <p:extLst>
      <p:ext uri="{BB962C8B-B14F-4D97-AF65-F5344CB8AC3E}">
        <p14:creationId xmlns:p14="http://schemas.microsoft.com/office/powerpoint/2010/main" val="38142305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2400" b="1" dirty="0"/>
              <a:t>Character Classes</a:t>
            </a:r>
            <a:r>
              <a:rPr lang="en-US" sz="2400" dirty="0"/>
              <a:t> </a:t>
            </a:r>
          </a:p>
          <a:p>
            <a:pPr fontAlgn="base"/>
            <a:r>
              <a:rPr lang="en-US" sz="2400" dirty="0"/>
              <a:t>A character class matches any one of a set of characters. It is used to match the most basic element of a language like a letter, a digit, a space, a symbol, etc. </a:t>
            </a:r>
          </a:p>
          <a:p>
            <a:pPr fontAlgn="base"/>
            <a:r>
              <a:rPr lang="en-US" sz="2400" b="1" dirty="0"/>
              <a:t>\s</a:t>
            </a:r>
            <a:r>
              <a:rPr lang="en-US" sz="2400" dirty="0"/>
              <a:t>: matches any whitespace characters such as space and tab.</a:t>
            </a:r>
            <a:br>
              <a:rPr lang="en-US" sz="2400" dirty="0"/>
            </a:br>
            <a:r>
              <a:rPr lang="en-US" sz="2400" b="1" dirty="0"/>
              <a:t>\S</a:t>
            </a:r>
            <a:r>
              <a:rPr lang="en-US" sz="2400" dirty="0"/>
              <a:t>: matches any non-whitespace characters.</a:t>
            </a:r>
            <a:br>
              <a:rPr lang="en-US" sz="2400" dirty="0"/>
            </a:br>
            <a:r>
              <a:rPr lang="en-US" sz="2400" b="1" dirty="0"/>
              <a:t>\d</a:t>
            </a:r>
            <a:r>
              <a:rPr lang="en-US" sz="2400" dirty="0"/>
              <a:t>: matches any digit character.</a:t>
            </a:r>
            <a:br>
              <a:rPr lang="en-US" sz="2400" dirty="0"/>
            </a:br>
            <a:r>
              <a:rPr lang="en-US" sz="2400" b="1" dirty="0"/>
              <a:t>\D: </a:t>
            </a:r>
            <a:r>
              <a:rPr lang="en-US" sz="2400" dirty="0"/>
              <a:t>matches any non-digit characters.</a:t>
            </a:r>
            <a:br>
              <a:rPr lang="en-US" sz="2400" dirty="0"/>
            </a:br>
            <a:r>
              <a:rPr lang="en-US" sz="2400" b="1" dirty="0"/>
              <a:t>\w</a:t>
            </a:r>
            <a:r>
              <a:rPr lang="en-US" sz="2400" dirty="0"/>
              <a:t> : matches any word character (basically alpha-numeric)</a:t>
            </a:r>
            <a:br>
              <a:rPr lang="en-US" sz="2400" dirty="0"/>
            </a:br>
            <a:r>
              <a:rPr lang="en-US" sz="2400" b="1" dirty="0"/>
              <a:t>\W</a:t>
            </a:r>
            <a:r>
              <a:rPr lang="en-US" sz="2400" dirty="0"/>
              <a:t>: matches any non-word character.</a:t>
            </a:r>
            <a:br>
              <a:rPr lang="en-US" sz="2400" dirty="0"/>
            </a:br>
            <a:r>
              <a:rPr lang="en-US" sz="2400" b="1" dirty="0"/>
              <a:t>\b</a:t>
            </a:r>
            <a:r>
              <a:rPr lang="en-US" sz="2400" dirty="0"/>
              <a:t>: matches any word boundary (this would include spaces, dashes, commas, semi-colons, etc.</a:t>
            </a:r>
            <a:br>
              <a:rPr lang="en-US" sz="2400" dirty="0"/>
            </a:br>
            <a:r>
              <a:rPr lang="en-US" sz="2400" b="1" dirty="0"/>
              <a:t>[</a:t>
            </a:r>
            <a:r>
              <a:rPr lang="en-US" sz="2400" b="1" dirty="0" err="1"/>
              <a:t>set_of_characters</a:t>
            </a:r>
            <a:r>
              <a:rPr lang="en-US" sz="2400" b="1" dirty="0"/>
              <a:t>]:</a:t>
            </a:r>
            <a:r>
              <a:rPr lang="en-US" sz="2400" dirty="0"/>
              <a:t> Matches any single character in </a:t>
            </a:r>
            <a:r>
              <a:rPr lang="en-US" sz="2400" dirty="0" err="1"/>
              <a:t>set_of_characters</a:t>
            </a:r>
            <a:r>
              <a:rPr lang="en-US" sz="2400" dirty="0"/>
              <a:t>. By default, the match is case-sensitive.</a:t>
            </a:r>
          </a:p>
          <a:p>
            <a:br>
              <a:rPr lang="en-US" sz="2400" dirty="0"/>
            </a:br>
            <a:endParaRPr lang="en-US" sz="2400" dirty="0"/>
          </a:p>
        </p:txBody>
      </p:sp>
    </p:spTree>
    <p:extLst>
      <p:ext uri="{BB962C8B-B14F-4D97-AF65-F5344CB8AC3E}">
        <p14:creationId xmlns:p14="http://schemas.microsoft.com/office/powerpoint/2010/main" val="21506099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3600" b="1" dirty="0"/>
              <a:t> [^</a:t>
            </a:r>
            <a:r>
              <a:rPr lang="en-US" sz="3600" b="1" dirty="0" err="1"/>
              <a:t>set_of_characters</a:t>
            </a:r>
            <a:r>
              <a:rPr lang="en-US" sz="3600" b="1" dirty="0"/>
              <a:t>] </a:t>
            </a:r>
            <a:r>
              <a:rPr lang="en-US" sz="3600" b="1" i="1" dirty="0"/>
              <a:t>Negation:</a:t>
            </a:r>
            <a:r>
              <a:rPr lang="en-US" sz="3600" b="1" dirty="0"/>
              <a:t> </a:t>
            </a:r>
          </a:p>
          <a:p>
            <a:pPr fontAlgn="base"/>
            <a:r>
              <a:rPr lang="en-US" sz="3600" dirty="0"/>
              <a:t>Matches any single character that is not in </a:t>
            </a:r>
            <a:r>
              <a:rPr lang="en-US" sz="3600" dirty="0" err="1"/>
              <a:t>set_of_characters</a:t>
            </a:r>
            <a:r>
              <a:rPr lang="en-US" sz="3600" dirty="0"/>
              <a:t>. By default, the match is case-sensitive.</a:t>
            </a:r>
          </a:p>
          <a:p>
            <a:r>
              <a:rPr lang="en-US" sz="3600" b="1" dirty="0"/>
              <a:t>Example :</a:t>
            </a:r>
            <a:r>
              <a:rPr lang="en-US" sz="3600" dirty="0"/>
              <a:t> [^</a:t>
            </a:r>
            <a:r>
              <a:rPr lang="en-US" sz="3600" dirty="0" err="1"/>
              <a:t>abc</a:t>
            </a:r>
            <a:r>
              <a:rPr lang="en-US" sz="3600" dirty="0"/>
              <a:t>] will match any character except </a:t>
            </a:r>
            <a:r>
              <a:rPr lang="en-US" sz="3600" dirty="0" err="1"/>
              <a:t>a,b,c</a:t>
            </a:r>
            <a:r>
              <a:rPr lang="en-US" sz="3600" dirty="0"/>
              <a:t> .</a:t>
            </a:r>
          </a:p>
          <a:p>
            <a:pPr marL="0" indent="0" fontAlgn="base">
              <a:buNone/>
            </a:pPr>
            <a:r>
              <a:rPr lang="en-US" sz="3600" b="1" dirty="0"/>
              <a:t> </a:t>
            </a:r>
            <a:endParaRPr lang="en-US" sz="3600" dirty="0"/>
          </a:p>
        </p:txBody>
      </p:sp>
    </p:spTree>
    <p:extLst>
      <p:ext uri="{BB962C8B-B14F-4D97-AF65-F5344CB8AC3E}">
        <p14:creationId xmlns:p14="http://schemas.microsoft.com/office/powerpoint/2010/main" val="39944735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8229600" cy="4525963"/>
          </a:xfrm>
        </p:spPr>
        <p:txBody>
          <a:bodyPr>
            <a:noAutofit/>
          </a:bodyPr>
          <a:lstStyle/>
          <a:p>
            <a:pPr fontAlgn="base"/>
            <a:r>
              <a:rPr lang="en-US" sz="2800" b="1" dirty="0"/>
              <a:t>[first-last] </a:t>
            </a:r>
            <a:r>
              <a:rPr lang="en-US" sz="2800" b="1" i="1" dirty="0"/>
              <a:t>Character range:</a:t>
            </a:r>
            <a:r>
              <a:rPr lang="en-US" sz="2800" b="1" dirty="0"/>
              <a:t> </a:t>
            </a:r>
          </a:p>
          <a:p>
            <a:pPr fontAlgn="base"/>
            <a:r>
              <a:rPr lang="en-US" sz="2800" dirty="0"/>
              <a:t>Matches any single character in the range from first to last.</a:t>
            </a:r>
          </a:p>
          <a:p>
            <a:r>
              <a:rPr lang="en-US" sz="2800" b="1" dirty="0"/>
              <a:t>Example :</a:t>
            </a:r>
            <a:r>
              <a:rPr lang="en-US" sz="2800" dirty="0"/>
              <a:t> [a-</a:t>
            </a:r>
            <a:r>
              <a:rPr lang="en-US" sz="2800" dirty="0" err="1"/>
              <a:t>zA</a:t>
            </a:r>
            <a:r>
              <a:rPr lang="en-US" sz="2800" dirty="0"/>
              <a:t>-z] will match any character from a to z or A to Z.</a:t>
            </a:r>
          </a:p>
          <a:p>
            <a:pPr marL="0" indent="0">
              <a:buNone/>
            </a:pPr>
            <a:endParaRPr lang="en-US" sz="2800" dirty="0"/>
          </a:p>
          <a:p>
            <a:pPr fontAlgn="base"/>
            <a:r>
              <a:rPr lang="en-US" sz="2800" b="1" dirty="0"/>
              <a:t>Vertical Bar (  |  ) </a:t>
            </a:r>
          </a:p>
          <a:p>
            <a:pPr fontAlgn="base"/>
            <a:r>
              <a:rPr lang="en-US" sz="2800" dirty="0"/>
              <a:t>Matches any one element separated by the vertical bar (|) character.</a:t>
            </a:r>
          </a:p>
          <a:p>
            <a:r>
              <a:rPr lang="en-US" sz="2800" b="1" dirty="0"/>
              <a:t>Example :</a:t>
            </a:r>
            <a:r>
              <a:rPr lang="en-US" sz="2800" dirty="0"/>
              <a:t> </a:t>
            </a:r>
            <a:r>
              <a:rPr lang="en-US" sz="2800" dirty="0" err="1"/>
              <a:t>th</a:t>
            </a:r>
            <a:r>
              <a:rPr lang="en-US" sz="2800" dirty="0"/>
              <a:t>(</a:t>
            </a:r>
            <a:r>
              <a:rPr lang="en-US" sz="2800" dirty="0" err="1"/>
              <a:t>e|is|at</a:t>
            </a:r>
            <a:r>
              <a:rPr lang="en-US" sz="2800" dirty="0"/>
              <a:t>) will match words - the, this and that.</a:t>
            </a:r>
          </a:p>
        </p:txBody>
      </p:sp>
    </p:spTree>
    <p:extLst>
      <p:ext uri="{BB962C8B-B14F-4D97-AF65-F5344CB8AC3E}">
        <p14:creationId xmlns:p14="http://schemas.microsoft.com/office/powerpoint/2010/main" val="17870650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19200"/>
            <a:ext cx="8229600" cy="5029200"/>
          </a:xfrm>
        </p:spPr>
        <p:txBody>
          <a:bodyPr>
            <a:noAutofit/>
          </a:bodyPr>
          <a:lstStyle/>
          <a:p>
            <a:r>
              <a:rPr lang="en-US" sz="4000" dirty="0"/>
              <a:t>The following rules are used to define a regular expression </a:t>
            </a:r>
            <a:r>
              <a:rPr lang="en-US" sz="4000" b="1" dirty="0"/>
              <a:t>r</a:t>
            </a:r>
            <a:r>
              <a:rPr lang="en-US" sz="4000" dirty="0"/>
              <a:t> over some alphabet </a:t>
            </a:r>
            <a:r>
              <a:rPr lang="en-US" sz="4000" b="1" dirty="0"/>
              <a:t>Σ</a:t>
            </a:r>
            <a:r>
              <a:rPr lang="en-US" sz="4000" dirty="0"/>
              <a:t> and the languages denoted by these regular expressions.</a:t>
            </a:r>
          </a:p>
        </p:txBody>
      </p:sp>
    </p:spTree>
    <p:extLst>
      <p:ext uri="{BB962C8B-B14F-4D97-AF65-F5344CB8AC3E}">
        <p14:creationId xmlns:p14="http://schemas.microsoft.com/office/powerpoint/2010/main" val="372394897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029200"/>
          </a:xfrm>
        </p:spPr>
        <p:txBody>
          <a:bodyPr>
            <a:noAutofit/>
          </a:bodyPr>
          <a:lstStyle/>
          <a:p>
            <a:pPr lvl="0"/>
            <a:r>
              <a:rPr lang="en-US" sz="4000" dirty="0"/>
              <a:t>If </a:t>
            </a:r>
            <a:r>
              <a:rPr lang="en-US" sz="4000" b="1" dirty="0"/>
              <a:t>ε </a:t>
            </a:r>
            <a:r>
              <a:rPr lang="en-US" sz="4000" dirty="0"/>
              <a:t>is a regular expression that denotes a language L(</a:t>
            </a:r>
            <a:r>
              <a:rPr lang="en-US" sz="4000" b="1" dirty="0"/>
              <a:t>ε</a:t>
            </a:r>
            <a:r>
              <a:rPr lang="en-US" sz="4000" dirty="0"/>
              <a:t>). The language L(</a:t>
            </a:r>
            <a:r>
              <a:rPr lang="en-US" sz="4000" b="1" dirty="0"/>
              <a:t>ε</a:t>
            </a:r>
            <a:r>
              <a:rPr lang="en-US" sz="4000" dirty="0"/>
              <a:t>) has a set of strings {</a:t>
            </a:r>
            <a:r>
              <a:rPr lang="en-US" sz="4000" b="1" dirty="0"/>
              <a:t>ε</a:t>
            </a:r>
            <a:r>
              <a:rPr lang="en-US" sz="4000" dirty="0"/>
              <a:t>} which means that this language has a single string which is the empty String.</a:t>
            </a:r>
          </a:p>
        </p:txBody>
      </p:sp>
    </p:spTree>
    <p:extLst>
      <p:ext uri="{BB962C8B-B14F-4D97-AF65-F5344CB8AC3E}">
        <p14:creationId xmlns:p14="http://schemas.microsoft.com/office/powerpoint/2010/main" val="17842465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029200"/>
          </a:xfrm>
        </p:spPr>
        <p:txBody>
          <a:bodyPr>
            <a:noAutofit/>
          </a:bodyPr>
          <a:lstStyle/>
          <a:p>
            <a:pPr lvl="0"/>
            <a:r>
              <a:rPr lang="en-US" sz="4000" dirty="0"/>
              <a:t>If there is a symbol 'a' in Σ, then 'a' is a regular expression that denotes a language </a:t>
            </a:r>
            <a:r>
              <a:rPr lang="en-US" sz="4000" b="1" dirty="0"/>
              <a:t>L(a)</a:t>
            </a:r>
            <a:r>
              <a:rPr lang="en-US" sz="4000" dirty="0"/>
              <a:t>. The language L(a) = {a}, i.e., the language has only one String of length, and the String holds 'a' in the first position.</a:t>
            </a:r>
          </a:p>
        </p:txBody>
      </p:sp>
    </p:spTree>
    <p:extLst>
      <p:ext uri="{BB962C8B-B14F-4D97-AF65-F5344CB8AC3E}">
        <p14:creationId xmlns:p14="http://schemas.microsoft.com/office/powerpoint/2010/main" val="22516362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82" y="53182"/>
            <a:ext cx="9073090" cy="6804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22698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029200"/>
          </a:xfrm>
        </p:spPr>
        <p:txBody>
          <a:bodyPr>
            <a:noAutofit/>
          </a:bodyPr>
          <a:lstStyle/>
          <a:p>
            <a:pPr lvl="0"/>
            <a:r>
              <a:rPr lang="en-US" sz="4000" dirty="0"/>
              <a:t>Consider the two regular expressions r and s then:</a:t>
            </a:r>
          </a:p>
          <a:p>
            <a:r>
              <a:rPr lang="en-US" sz="4000" dirty="0" err="1"/>
              <a:t>r|s</a:t>
            </a:r>
            <a:r>
              <a:rPr lang="en-US" sz="4000" dirty="0"/>
              <a:t> denotes the language L(r) ∪ L(s).</a:t>
            </a:r>
          </a:p>
          <a:p>
            <a:r>
              <a:rPr lang="en-US" sz="4000" dirty="0"/>
              <a:t>(r) (s) denotes the language L(r) ⋅ L(s).</a:t>
            </a:r>
          </a:p>
          <a:p>
            <a:r>
              <a:rPr lang="en-US" sz="4000" dirty="0"/>
              <a:t>(r)* denotes the language (L(r))*.</a:t>
            </a:r>
          </a:p>
          <a:p>
            <a:r>
              <a:rPr lang="en-US" sz="4000" dirty="0"/>
              <a:t>(r)+ denotes the language L(r)</a:t>
            </a:r>
          </a:p>
          <a:p>
            <a:pPr marL="0" indent="0">
              <a:buNone/>
            </a:pPr>
            <a:endParaRPr lang="en-US" sz="4000" dirty="0"/>
          </a:p>
        </p:txBody>
      </p:sp>
    </p:spTree>
    <p:extLst>
      <p:ext uri="{BB962C8B-B14F-4D97-AF65-F5344CB8AC3E}">
        <p14:creationId xmlns:p14="http://schemas.microsoft.com/office/powerpoint/2010/main" val="11733005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4800" b="1" dirty="0"/>
              <a:t>RECOGNITION OF TOKENS</a:t>
            </a:r>
          </a:p>
        </p:txBody>
      </p:sp>
      <p:sp>
        <p:nvSpPr>
          <p:cNvPr id="3" name="Content Placeholder 2"/>
          <p:cNvSpPr>
            <a:spLocks noGrp="1"/>
          </p:cNvSpPr>
          <p:nvPr>
            <p:ph idx="1"/>
          </p:nvPr>
        </p:nvSpPr>
        <p:spPr>
          <a:xfrm>
            <a:off x="457200" y="1219200"/>
            <a:ext cx="8229600" cy="4525963"/>
          </a:xfrm>
        </p:spPr>
        <p:txBody>
          <a:bodyPr>
            <a:noAutofit/>
          </a:bodyPr>
          <a:lstStyle/>
          <a:p>
            <a:r>
              <a:rPr lang="en-US" sz="2800" dirty="0"/>
              <a:t>Tokens obtained during lexical analysis are </a:t>
            </a:r>
            <a:r>
              <a:rPr lang="en-US" sz="2800" b="1" dirty="0"/>
              <a:t>recognized by Finite Automata</a:t>
            </a:r>
            <a:r>
              <a:rPr lang="en-US" sz="2800" dirty="0"/>
              <a:t>.</a:t>
            </a:r>
          </a:p>
          <a:p>
            <a:r>
              <a:rPr lang="en-US" sz="2800" dirty="0"/>
              <a:t>Finite Automata (FA) is a simple idealized machine that can be used to recognize patterns within input taken from a character set or alphabet (denoted as C). The primary task of an FA is to accept or reject an input based on whether the defined pattern occurs within the input.</a:t>
            </a:r>
          </a:p>
          <a:p>
            <a:r>
              <a:rPr lang="en-US" sz="2800" dirty="0"/>
              <a:t>There are two notations for representing Finite Automata. They are: </a:t>
            </a:r>
          </a:p>
          <a:p>
            <a:r>
              <a:rPr lang="en-US" sz="2800" b="1" dirty="0"/>
              <a:t>Transition Table </a:t>
            </a:r>
            <a:endParaRPr lang="en-US" sz="2800" dirty="0"/>
          </a:p>
          <a:p>
            <a:r>
              <a:rPr lang="en-US" sz="2800" b="1" dirty="0"/>
              <a:t>Transition Diagram </a:t>
            </a:r>
            <a:r>
              <a:rPr lang="en-US" sz="2800" dirty="0"/>
              <a:t> </a:t>
            </a:r>
          </a:p>
          <a:p>
            <a:endParaRPr lang="en-US" sz="2800" dirty="0"/>
          </a:p>
        </p:txBody>
      </p:sp>
    </p:spTree>
    <p:extLst>
      <p:ext uri="{BB962C8B-B14F-4D97-AF65-F5344CB8AC3E}">
        <p14:creationId xmlns:p14="http://schemas.microsoft.com/office/powerpoint/2010/main" val="40264058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4800" b="1" dirty="0"/>
              <a:t>1. Transition Table</a:t>
            </a:r>
          </a:p>
        </p:txBody>
      </p:sp>
      <p:sp>
        <p:nvSpPr>
          <p:cNvPr id="3" name="Content Placeholder 2"/>
          <p:cNvSpPr>
            <a:spLocks noGrp="1"/>
          </p:cNvSpPr>
          <p:nvPr>
            <p:ph idx="1"/>
          </p:nvPr>
        </p:nvSpPr>
        <p:spPr>
          <a:xfrm>
            <a:off x="457200" y="1219200"/>
            <a:ext cx="8229600" cy="4525963"/>
          </a:xfrm>
        </p:spPr>
        <p:txBody>
          <a:bodyPr>
            <a:noAutofit/>
          </a:bodyPr>
          <a:lstStyle/>
          <a:p>
            <a:r>
              <a:rPr lang="en-US" sz="2800" dirty="0"/>
              <a:t>It is a tabular representation that lists all possible transitions for each state and input symbol combination.</a:t>
            </a:r>
          </a:p>
          <a:p>
            <a:r>
              <a:rPr lang="en-US" sz="2800" b="1" dirty="0"/>
              <a:t>EXAMPLE</a:t>
            </a:r>
            <a:br>
              <a:rPr lang="en-US" sz="2800" dirty="0"/>
            </a:br>
            <a:r>
              <a:rPr lang="en-US" sz="2800" dirty="0"/>
              <a:t>Assume the following grammar fragment to generate a specific language.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114800"/>
            <a:ext cx="83820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1290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4525963"/>
          </a:xfrm>
        </p:spPr>
        <p:txBody>
          <a:bodyPr>
            <a:noAutofit/>
          </a:bodyPr>
          <a:lstStyle/>
          <a:p>
            <a:r>
              <a:rPr lang="en-US" sz="2800" dirty="0"/>
              <a:t>where the terminals </a:t>
            </a:r>
            <a:r>
              <a:rPr lang="en-US" sz="2800" b="1" dirty="0"/>
              <a:t>if</a:t>
            </a:r>
            <a:r>
              <a:rPr lang="en-US" sz="2800" dirty="0"/>
              <a:t>, </a:t>
            </a:r>
            <a:r>
              <a:rPr lang="en-US" sz="2800" b="1" dirty="0"/>
              <a:t>then</a:t>
            </a:r>
            <a:r>
              <a:rPr lang="en-US" sz="2800" dirty="0"/>
              <a:t>, </a:t>
            </a:r>
            <a:r>
              <a:rPr lang="en-US" sz="2800" b="1" dirty="0"/>
              <a:t>else</a:t>
            </a:r>
            <a:r>
              <a:rPr lang="en-US" sz="2800" dirty="0"/>
              <a:t>, </a:t>
            </a:r>
            <a:r>
              <a:rPr lang="en-US" sz="2800" b="1" dirty="0" err="1"/>
              <a:t>relop</a:t>
            </a:r>
            <a:r>
              <a:rPr lang="en-US" sz="2800" dirty="0"/>
              <a:t>, </a:t>
            </a:r>
            <a:r>
              <a:rPr lang="en-US" sz="2800" b="1" dirty="0"/>
              <a:t>id</a:t>
            </a:r>
            <a:r>
              <a:rPr lang="en-US" sz="2800" dirty="0"/>
              <a:t> and </a:t>
            </a:r>
            <a:r>
              <a:rPr lang="en-US" sz="2800" b="1" dirty="0" err="1"/>
              <a:t>num</a:t>
            </a:r>
            <a:r>
              <a:rPr lang="en-US" sz="2800" dirty="0"/>
              <a:t> generates sets of strings given by following regular definitions.</a:t>
            </a:r>
          </a:p>
          <a:p>
            <a:br>
              <a:rPr lang="en-US" sz="2800" dirty="0"/>
            </a:br>
            <a:endParaRPr lang="en-US" sz="2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93972"/>
            <a:ext cx="7543800" cy="3721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22015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486400"/>
          </a:xfrm>
        </p:spPr>
        <p:txBody>
          <a:bodyPr>
            <a:noAutofit/>
          </a:bodyPr>
          <a:lstStyle/>
          <a:p>
            <a:r>
              <a:rPr lang="en-US" dirty="0"/>
              <a:t>where letter and digits are defined as - (</a:t>
            </a:r>
            <a:r>
              <a:rPr lang="en-US" b="1" dirty="0"/>
              <a:t>letter → [A-Z a-z]</a:t>
            </a:r>
            <a:r>
              <a:rPr lang="en-US" dirty="0"/>
              <a:t> &amp; </a:t>
            </a:r>
            <a:r>
              <a:rPr lang="en-US" b="1" dirty="0"/>
              <a:t>digit → [0-9]</a:t>
            </a:r>
            <a:r>
              <a:rPr lang="en-US" dirty="0"/>
              <a:t>)</a:t>
            </a:r>
          </a:p>
          <a:p>
            <a:r>
              <a:rPr lang="en-US" dirty="0"/>
              <a:t>For this language, the lexical analyzer will recognize the keywords </a:t>
            </a:r>
            <a:r>
              <a:rPr lang="en-US" b="1" dirty="0"/>
              <a:t>if</a:t>
            </a:r>
            <a:r>
              <a:rPr lang="en-US" dirty="0"/>
              <a:t>, </a:t>
            </a:r>
            <a:r>
              <a:rPr lang="en-US" b="1" dirty="0"/>
              <a:t>then</a:t>
            </a:r>
            <a:r>
              <a:rPr lang="en-US" dirty="0"/>
              <a:t>, and </a:t>
            </a:r>
            <a:r>
              <a:rPr lang="en-US" b="1" dirty="0"/>
              <a:t>else</a:t>
            </a:r>
            <a:r>
              <a:rPr lang="en-US" dirty="0"/>
              <a:t>, as well as lexemes that match the patterns for </a:t>
            </a:r>
            <a:r>
              <a:rPr lang="en-US" b="1" dirty="0" err="1"/>
              <a:t>relop</a:t>
            </a:r>
            <a:r>
              <a:rPr lang="en-US" dirty="0"/>
              <a:t>, </a:t>
            </a:r>
            <a:r>
              <a:rPr lang="en-US" b="1" dirty="0"/>
              <a:t>id</a:t>
            </a:r>
            <a:r>
              <a:rPr lang="en-US" dirty="0"/>
              <a:t>, and </a:t>
            </a:r>
            <a:r>
              <a:rPr lang="en-US" b="1" dirty="0"/>
              <a:t>number</a:t>
            </a:r>
            <a:r>
              <a:rPr lang="en-US" dirty="0"/>
              <a:t>.</a:t>
            </a:r>
          </a:p>
          <a:p>
            <a:r>
              <a:rPr lang="en-US" dirty="0"/>
              <a:t>To simplify matters, we make the common assumption that keywords are also reserved words: that is they cannot be used as identifiers.</a:t>
            </a:r>
          </a:p>
        </p:txBody>
      </p:sp>
    </p:spTree>
    <p:extLst>
      <p:ext uri="{BB962C8B-B14F-4D97-AF65-F5344CB8AC3E}">
        <p14:creationId xmlns:p14="http://schemas.microsoft.com/office/powerpoint/2010/main" val="225908546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486400"/>
          </a:xfrm>
        </p:spPr>
        <p:txBody>
          <a:bodyPr>
            <a:noAutofit/>
          </a:bodyPr>
          <a:lstStyle/>
          <a:p>
            <a:r>
              <a:rPr lang="en-US" dirty="0"/>
              <a:t>The </a:t>
            </a:r>
            <a:r>
              <a:rPr lang="en-US" dirty="0" err="1"/>
              <a:t>num</a:t>
            </a:r>
            <a:r>
              <a:rPr lang="en-US" dirty="0"/>
              <a:t> represents the unsigned integer and real numbers of Pascal.</a:t>
            </a:r>
          </a:p>
          <a:p>
            <a:r>
              <a:rPr lang="en-US" dirty="0"/>
              <a:t>In addition, we assume lexemes are separated by white space, consisting of </a:t>
            </a:r>
            <a:r>
              <a:rPr lang="en-US" dirty="0" err="1"/>
              <a:t>nonnull</a:t>
            </a:r>
            <a:r>
              <a:rPr lang="en-US" dirty="0"/>
              <a:t> sequences of blanks, tabs, and newlines.</a:t>
            </a:r>
          </a:p>
          <a:p>
            <a:r>
              <a:rPr lang="en-US" dirty="0"/>
              <a:t>Our lexical analyzer will strip out white space. It will do so by comparing a string against the regular definition </a:t>
            </a:r>
            <a:r>
              <a:rPr lang="en-US" b="1" dirty="0" err="1"/>
              <a:t>ws</a:t>
            </a:r>
            <a:r>
              <a:rPr lang="en-US" dirty="0"/>
              <a:t>, below.</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4800600"/>
            <a:ext cx="5977021"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66197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r>
              <a:rPr lang="en-US" b="1" dirty="0"/>
              <a:t>2. Transition Diagram</a:t>
            </a:r>
            <a:br>
              <a:rPr lang="en-US" b="1" dirty="0"/>
            </a:br>
            <a:endParaRPr lang="en-US" dirty="0"/>
          </a:p>
        </p:txBody>
      </p:sp>
      <p:sp>
        <p:nvSpPr>
          <p:cNvPr id="3" name="Content Placeholder 2"/>
          <p:cNvSpPr>
            <a:spLocks noGrp="1"/>
          </p:cNvSpPr>
          <p:nvPr>
            <p:ph idx="1"/>
          </p:nvPr>
        </p:nvSpPr>
        <p:spPr>
          <a:xfrm>
            <a:off x="381000" y="1447800"/>
            <a:ext cx="8229600" cy="4525963"/>
          </a:xfrm>
        </p:spPr>
        <p:txBody>
          <a:bodyPr>
            <a:normAutofit/>
          </a:bodyPr>
          <a:lstStyle/>
          <a:p>
            <a:r>
              <a:rPr lang="en-US" sz="4400" dirty="0"/>
              <a:t>It is a directed labeled graph consisting of nodes and edges. Nodes represent states, while edges represent state transitions.</a:t>
            </a:r>
          </a:p>
        </p:txBody>
      </p:sp>
    </p:spTree>
    <p:extLst>
      <p:ext uri="{BB962C8B-B14F-4D97-AF65-F5344CB8AC3E}">
        <p14:creationId xmlns:p14="http://schemas.microsoft.com/office/powerpoint/2010/main" val="16568863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4525963"/>
          </a:xfrm>
        </p:spPr>
        <p:txBody>
          <a:bodyPr>
            <a:noAutofit/>
          </a:bodyPr>
          <a:lstStyle/>
          <a:p>
            <a:r>
              <a:rPr lang="en-US" b="1" dirty="0"/>
              <a:t>Components of Transition Diagram</a:t>
            </a:r>
          </a:p>
          <a:p>
            <a:r>
              <a:rPr lang="en-US" sz="2800" dirty="0"/>
              <a:t>One state is </a:t>
            </a:r>
            <a:r>
              <a:rPr lang="en-US" sz="2800" dirty="0" err="1"/>
              <a:t>labelled</a:t>
            </a:r>
            <a:r>
              <a:rPr lang="en-US" sz="2800" dirty="0"/>
              <a:t> the </a:t>
            </a:r>
            <a:r>
              <a:rPr lang="en-US" sz="2800" b="1" dirty="0"/>
              <a:t>Start State. </a:t>
            </a:r>
            <a:r>
              <a:rPr lang="en-US" sz="2800" dirty="0"/>
              <a:t>It is the initial state of transition diagram where control resides when we begin to recognize a token.</a:t>
            </a:r>
          </a:p>
          <a:p>
            <a:endParaRPr lang="en-US" sz="2800" dirty="0"/>
          </a:p>
          <a:p>
            <a:endParaRPr lang="en-US" sz="2800" dirty="0"/>
          </a:p>
          <a:p>
            <a:r>
              <a:rPr lang="en-US" sz="2800" dirty="0"/>
              <a:t>Position is a transition diagram are drawn as circles and are called states.</a:t>
            </a:r>
          </a:p>
          <a:p>
            <a:endParaRPr lang="en-US" sz="2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514600"/>
            <a:ext cx="2362200" cy="98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668" y="4800600"/>
            <a:ext cx="13335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860219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4525963"/>
          </a:xfrm>
        </p:spPr>
        <p:txBody>
          <a:bodyPr>
            <a:noAutofit/>
          </a:bodyPr>
          <a:lstStyle/>
          <a:p>
            <a:r>
              <a:rPr lang="en-US" dirty="0"/>
              <a:t>The states are connected by </a:t>
            </a:r>
            <a:r>
              <a:rPr lang="en-US" b="1" dirty="0"/>
              <a:t>Arrows</a:t>
            </a:r>
            <a:r>
              <a:rPr lang="en-US" dirty="0"/>
              <a:t> called edges. Labels on edges are indicating the input characters.</a:t>
            </a:r>
          </a:p>
          <a:p>
            <a:endParaRPr lang="en-US" dirty="0"/>
          </a:p>
          <a:p>
            <a:r>
              <a:rPr lang="en-US" dirty="0"/>
              <a:t>Zero or more </a:t>
            </a:r>
            <a:r>
              <a:rPr lang="en-US" b="1" dirty="0"/>
              <a:t>final</a:t>
            </a:r>
            <a:r>
              <a:rPr lang="en-US" dirty="0"/>
              <a:t> states or </a:t>
            </a:r>
            <a:r>
              <a:rPr lang="en-US" b="1" dirty="0"/>
              <a:t>Accepting</a:t>
            </a:r>
            <a:r>
              <a:rPr lang="en-US" dirty="0"/>
              <a:t> states are represented by double circle in which the tokens has been found.</a:t>
            </a:r>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286000"/>
            <a:ext cx="14922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4648200"/>
            <a:ext cx="1143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79301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4525963"/>
          </a:xfrm>
        </p:spPr>
        <p:txBody>
          <a:bodyPr>
            <a:noAutofit/>
          </a:bodyPr>
          <a:lstStyle/>
          <a:p>
            <a:r>
              <a:rPr lang="en-US" b="1" dirty="0"/>
              <a:t>Example: </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431791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4676"/>
            <a:ext cx="8001000" cy="6556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98663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8" y="381000"/>
            <a:ext cx="8886825"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90414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65" y="0"/>
            <a:ext cx="8939365"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61027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838200"/>
            <a:ext cx="8971547"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760449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br>
              <a:rPr lang="en-US" b="1" dirty="0"/>
            </a:br>
            <a:r>
              <a:rPr lang="en-US" b="1" dirty="0"/>
              <a:t>What is LEX in Compiler Design?</a:t>
            </a:r>
            <a:br>
              <a:rPr lang="en-US" b="1" dirty="0"/>
            </a:b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err="1"/>
              <a:t>Lex</a:t>
            </a:r>
            <a:r>
              <a:rPr lang="en-US" dirty="0"/>
              <a:t> is a tool or program that creates a lexical analyzer and helps us perform the task of </a:t>
            </a:r>
            <a:r>
              <a:rPr lang="en-US" u="sng" dirty="0">
                <a:hlinkClick r:id="rId2"/>
              </a:rPr>
              <a:t>lexical analysis</a:t>
            </a:r>
            <a:r>
              <a:rPr lang="en-US" dirty="0"/>
              <a:t> (It converts characters stream into tokens). </a:t>
            </a:r>
          </a:p>
          <a:p>
            <a:r>
              <a:rPr lang="en-US" dirty="0"/>
              <a:t>The </a:t>
            </a:r>
            <a:r>
              <a:rPr lang="en-US" dirty="0" err="1"/>
              <a:t>Lex</a:t>
            </a:r>
            <a:r>
              <a:rPr lang="en-US" dirty="0"/>
              <a:t> tool is a compiler itself. The </a:t>
            </a:r>
            <a:r>
              <a:rPr lang="en-US" dirty="0" err="1"/>
              <a:t>Lex</a:t>
            </a:r>
            <a:r>
              <a:rPr lang="en-US" dirty="0"/>
              <a:t> compiler transforms the input into input patterns.</a:t>
            </a:r>
          </a:p>
          <a:p>
            <a:r>
              <a:rPr lang="en-US" dirty="0"/>
              <a:t>It is commonly used with </a:t>
            </a:r>
            <a:r>
              <a:rPr lang="en-US" u="sng" dirty="0">
                <a:hlinkClick r:id="rId3"/>
              </a:rPr>
              <a:t>YACC</a:t>
            </a:r>
            <a:r>
              <a:rPr lang="en-US" dirty="0"/>
              <a:t>(Yet Another Compiler Compiler). </a:t>
            </a:r>
          </a:p>
        </p:txBody>
      </p:sp>
    </p:spTree>
    <p:extLst>
      <p:ext uri="{BB962C8B-B14F-4D97-AF65-F5344CB8AC3E}">
        <p14:creationId xmlns:p14="http://schemas.microsoft.com/office/powerpoint/2010/main" val="41637642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Function of </a:t>
            </a:r>
            <a:r>
              <a:rPr lang="en-US" b="1" dirty="0" err="1"/>
              <a:t>Lex</a:t>
            </a:r>
            <a:br>
              <a:rPr lang="en-US" b="1" dirty="0"/>
            </a:br>
            <a:endParaRPr lang="en-US" dirty="0"/>
          </a:p>
        </p:txBody>
      </p:sp>
      <p:sp>
        <p:nvSpPr>
          <p:cNvPr id="3" name="Content Placeholder 2"/>
          <p:cNvSpPr>
            <a:spLocks noGrp="1"/>
          </p:cNvSpPr>
          <p:nvPr>
            <p:ph idx="1"/>
          </p:nvPr>
        </p:nvSpPr>
        <p:spPr>
          <a:xfrm>
            <a:off x="457200" y="990600"/>
            <a:ext cx="8229600" cy="5135563"/>
          </a:xfrm>
        </p:spPr>
        <p:txBody>
          <a:bodyPr>
            <a:normAutofit fontScale="77500" lnSpcReduction="20000"/>
          </a:bodyPr>
          <a:lstStyle/>
          <a:p>
            <a:r>
              <a:rPr lang="en-US" b="1" dirty="0"/>
              <a:t>Lexical Analyzer Creation: </a:t>
            </a:r>
            <a:r>
              <a:rPr lang="en-US" dirty="0"/>
              <a:t>The process begins by creating a program called </a:t>
            </a:r>
            <a:r>
              <a:rPr lang="en-US" dirty="0" err="1"/>
              <a:t>lex.l</a:t>
            </a:r>
            <a:r>
              <a:rPr lang="en-US" dirty="0"/>
              <a:t> using </a:t>
            </a:r>
            <a:r>
              <a:rPr lang="en-US" dirty="0" err="1"/>
              <a:t>Lex's</a:t>
            </a:r>
            <a:r>
              <a:rPr lang="en-US" dirty="0"/>
              <a:t> language. This program defines the rules and patterns for recognizing tokens in the source code</a:t>
            </a:r>
          </a:p>
          <a:p>
            <a:r>
              <a:rPr lang="en-US" b="1" dirty="0" err="1"/>
              <a:t>Lex</a:t>
            </a:r>
            <a:r>
              <a:rPr lang="en-US" b="1" dirty="0"/>
              <a:t> Compiler Execution:</a:t>
            </a:r>
            <a:r>
              <a:rPr lang="en-US" dirty="0"/>
              <a:t> The </a:t>
            </a:r>
            <a:r>
              <a:rPr lang="en-US" dirty="0" err="1"/>
              <a:t>lex.l</a:t>
            </a:r>
            <a:r>
              <a:rPr lang="en-US" dirty="0"/>
              <a:t> program is then executed using the </a:t>
            </a:r>
            <a:r>
              <a:rPr lang="en-US" dirty="0" err="1"/>
              <a:t>Lex</a:t>
            </a:r>
            <a:r>
              <a:rPr lang="en-US" dirty="0"/>
              <a:t> compiler. This step generates a C program named </a:t>
            </a:r>
            <a:r>
              <a:rPr lang="en-US" dirty="0" err="1"/>
              <a:t>lex.yy.c</a:t>
            </a:r>
            <a:endParaRPr lang="en-US" dirty="0"/>
          </a:p>
          <a:p>
            <a:r>
              <a:rPr lang="en-US" b="1" dirty="0"/>
              <a:t>C Compiler Execution: </a:t>
            </a:r>
            <a:r>
              <a:rPr lang="en-US" dirty="0"/>
              <a:t>The C compiler is then used to compile the generated </a:t>
            </a:r>
            <a:r>
              <a:rPr lang="en-US" dirty="0" err="1"/>
              <a:t>lex.yy.c</a:t>
            </a:r>
            <a:r>
              <a:rPr lang="en-US" dirty="0"/>
              <a:t> program. The result is an object program referred to as </a:t>
            </a:r>
            <a:r>
              <a:rPr lang="en-US" dirty="0" err="1"/>
              <a:t>a.out</a:t>
            </a:r>
            <a:endParaRPr lang="en-US" dirty="0"/>
          </a:p>
          <a:p>
            <a:r>
              <a:rPr lang="en-US" b="1" dirty="0"/>
              <a:t>Lexical Analysis: </a:t>
            </a:r>
            <a:r>
              <a:rPr lang="en-US" dirty="0"/>
              <a:t>The </a:t>
            </a:r>
            <a:r>
              <a:rPr lang="en-US" dirty="0" err="1"/>
              <a:t>a.out</a:t>
            </a:r>
            <a:r>
              <a:rPr lang="en-US" dirty="0"/>
              <a:t> object program is essentially a lexical analyzer. When this program is run, it takes an input stream of source code and transforms it into a sequence of tokens based on the rules defined in the original </a:t>
            </a:r>
            <a:r>
              <a:rPr lang="en-US" dirty="0" err="1"/>
              <a:t>lex.l</a:t>
            </a:r>
            <a:r>
              <a:rPr lang="en-US" dirty="0"/>
              <a:t> program</a:t>
            </a:r>
          </a:p>
          <a:p>
            <a:endParaRPr lang="en-US" dirty="0"/>
          </a:p>
        </p:txBody>
      </p:sp>
    </p:spTree>
    <p:extLst>
      <p:ext uri="{BB962C8B-B14F-4D97-AF65-F5344CB8AC3E}">
        <p14:creationId xmlns:p14="http://schemas.microsoft.com/office/powerpoint/2010/main" val="135652872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229600" cy="4525963"/>
          </a:xfrm>
        </p:spPr>
        <p:txBody>
          <a:bodyPr>
            <a:normAutofit/>
          </a:bodyPr>
          <a:lstStyle/>
          <a:p>
            <a:pPr marL="0" indent="0">
              <a:buNone/>
            </a:pPr>
            <a:r>
              <a:rPr lang="en-US" sz="4400" dirty="0" err="1"/>
              <a:t>lex.yy.c</a:t>
            </a:r>
            <a:r>
              <a:rPr lang="en-US" sz="4400" dirty="0"/>
              <a:t>: It is a C program.</a:t>
            </a:r>
          </a:p>
          <a:p>
            <a:pPr marL="0" indent="0">
              <a:buNone/>
            </a:pPr>
            <a:br>
              <a:rPr lang="en-US" sz="4400" dirty="0"/>
            </a:br>
            <a:r>
              <a:rPr lang="en-US" sz="4400" dirty="0" err="1"/>
              <a:t>File.l</a:t>
            </a:r>
            <a:r>
              <a:rPr lang="en-US" sz="4400" dirty="0"/>
              <a:t>: It is a </a:t>
            </a:r>
            <a:r>
              <a:rPr lang="en-US" sz="4400" dirty="0" err="1"/>
              <a:t>Lex</a:t>
            </a:r>
            <a:r>
              <a:rPr lang="en-US" sz="4400" dirty="0"/>
              <a:t> source program</a:t>
            </a:r>
          </a:p>
          <a:p>
            <a:pPr marL="0" indent="0">
              <a:buNone/>
            </a:pPr>
            <a:br>
              <a:rPr lang="en-US" sz="4400" dirty="0"/>
            </a:br>
            <a:r>
              <a:rPr lang="en-US" sz="4400" dirty="0" err="1"/>
              <a:t>a.out</a:t>
            </a:r>
            <a:r>
              <a:rPr lang="en-US" sz="4400" dirty="0"/>
              <a:t>: It is a Lexical analyzer</a:t>
            </a:r>
          </a:p>
        </p:txBody>
      </p:sp>
    </p:spTree>
    <p:extLst>
      <p:ext uri="{BB962C8B-B14F-4D97-AF65-F5344CB8AC3E}">
        <p14:creationId xmlns:p14="http://schemas.microsoft.com/office/powerpoint/2010/main" val="110787943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br>
              <a:rPr lang="en-US" b="1" dirty="0"/>
            </a:br>
            <a:r>
              <a:rPr lang="en-US" b="1" dirty="0"/>
              <a:t>LEX Source Program</a:t>
            </a:r>
            <a:br>
              <a:rPr lang="en-US" b="1" dirty="0"/>
            </a:br>
            <a:endParaRPr lang="en-US" dirty="0"/>
          </a:p>
        </p:txBody>
      </p:sp>
      <p:sp>
        <p:nvSpPr>
          <p:cNvPr id="3" name="Content Placeholder 2"/>
          <p:cNvSpPr>
            <a:spLocks noGrp="1"/>
          </p:cNvSpPr>
          <p:nvPr>
            <p:ph idx="1"/>
          </p:nvPr>
        </p:nvSpPr>
        <p:spPr>
          <a:xfrm>
            <a:off x="457200" y="1066800"/>
            <a:ext cx="8229600" cy="5135563"/>
          </a:xfrm>
        </p:spPr>
        <p:txBody>
          <a:bodyPr/>
          <a:lstStyle/>
          <a:p>
            <a:r>
              <a:rPr lang="en-US" dirty="0"/>
              <a:t>A LEX source program is a collection of instructions and patterns. </a:t>
            </a:r>
          </a:p>
          <a:p>
            <a:r>
              <a:rPr lang="en-US" dirty="0"/>
              <a:t>These instructions and patterns are written in the LEX programming language. </a:t>
            </a:r>
          </a:p>
          <a:p>
            <a:r>
              <a:rPr lang="en-US" dirty="0"/>
              <a:t>LEX is a tool used for generating lexical analyzers. It tokenizes input source code into meaningful units called tokens. </a:t>
            </a:r>
          </a:p>
        </p:txBody>
      </p:sp>
    </p:spTree>
    <p:extLst>
      <p:ext uri="{BB962C8B-B14F-4D97-AF65-F5344CB8AC3E}">
        <p14:creationId xmlns:p14="http://schemas.microsoft.com/office/powerpoint/2010/main" val="17020197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US" dirty="0"/>
              <a:t>The LEX source program defines how these tokens are recognized and processed. </a:t>
            </a:r>
          </a:p>
          <a:p>
            <a:r>
              <a:rPr lang="en-US" dirty="0"/>
              <a:t>It consists of regular expressions that describe the patterns of tokens and corresponding actions to be taken when those patterns are encountered in the source code.</a:t>
            </a:r>
          </a:p>
          <a:p>
            <a:r>
              <a:rPr lang="en-US" dirty="0"/>
              <a:t>This program serves as a set of rules that instructs LEX on how to break down a stream of characters from the input source code into tokens. </a:t>
            </a:r>
          </a:p>
          <a:p>
            <a:r>
              <a:rPr lang="en-US" dirty="0"/>
              <a:t>There are two main components of this </a:t>
            </a:r>
            <a:r>
              <a:rPr lang="en-US" dirty="0" err="1"/>
              <a:t>Lex</a:t>
            </a:r>
            <a:r>
              <a:rPr lang="en-US" dirty="0"/>
              <a:t> source program:</a:t>
            </a:r>
          </a:p>
        </p:txBody>
      </p:sp>
    </p:spTree>
    <p:extLst>
      <p:ext uri="{BB962C8B-B14F-4D97-AF65-F5344CB8AC3E}">
        <p14:creationId xmlns:p14="http://schemas.microsoft.com/office/powerpoint/2010/main" val="22949694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b="1" dirty="0"/>
              <a:t>1)</a:t>
            </a:r>
            <a:r>
              <a:rPr lang="en-US" b="1" dirty="0" err="1"/>
              <a:t>Auxilary</a:t>
            </a:r>
            <a:r>
              <a:rPr lang="en-US" b="1" dirty="0"/>
              <a:t> Definitions: </a:t>
            </a:r>
            <a:r>
              <a:rPr lang="en-US" dirty="0"/>
              <a:t>These are often located in the </a:t>
            </a:r>
            <a:r>
              <a:rPr lang="en-US" b="1" dirty="0"/>
              <a:t>"Definitions Section" </a:t>
            </a:r>
            <a:r>
              <a:rPr lang="en-US" dirty="0"/>
              <a:t>of the LEX source program. These are user-defined macros or variables that simplify the expression of regular expressions .</a:t>
            </a:r>
            <a:br>
              <a:rPr lang="en-US" dirty="0"/>
            </a:br>
            <a:r>
              <a:rPr lang="en-US" dirty="0"/>
              <a:t> </a:t>
            </a:r>
          </a:p>
          <a:p>
            <a:r>
              <a:rPr lang="en-US" b="1" dirty="0"/>
              <a:t>2) Translation Rules: </a:t>
            </a:r>
            <a:r>
              <a:rPr lang="en-US" dirty="0"/>
              <a:t>These are commonly found in the </a:t>
            </a:r>
            <a:r>
              <a:rPr lang="en-US" b="1" dirty="0"/>
              <a:t>"Rules Section"</a:t>
            </a:r>
            <a:r>
              <a:rPr lang="en-US" dirty="0"/>
              <a:t> of the LEX source program. They establish the mapping between patterns and actions. Each translation rule consists of a regular expression pattern followed by the action to be executed when that pattern is matched in the input source code</a:t>
            </a:r>
          </a:p>
        </p:txBody>
      </p:sp>
    </p:spTree>
    <p:extLst>
      <p:ext uri="{BB962C8B-B14F-4D97-AF65-F5344CB8AC3E}">
        <p14:creationId xmlns:p14="http://schemas.microsoft.com/office/powerpoint/2010/main" val="24890168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Working of </a:t>
            </a:r>
            <a:r>
              <a:rPr lang="en-US" b="1" dirty="0" err="1"/>
              <a:t>Lex</a:t>
            </a:r>
            <a:br>
              <a:rPr lang="en-US" b="1" dirty="0"/>
            </a:b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dirty="0"/>
              <a:t>Firstly we create a file that describes the generation of the </a:t>
            </a:r>
            <a:r>
              <a:rPr lang="en-US" dirty="0" err="1"/>
              <a:t>lex</a:t>
            </a:r>
            <a:r>
              <a:rPr lang="en-US" dirty="0"/>
              <a:t> analyzer. This file is written in </a:t>
            </a:r>
            <a:r>
              <a:rPr lang="en-US" dirty="0" err="1"/>
              <a:t>Lex</a:t>
            </a:r>
            <a:r>
              <a:rPr lang="en-US" dirty="0"/>
              <a:t> language and has a </a:t>
            </a:r>
            <a:r>
              <a:rPr lang="en-US" b="1" dirty="0"/>
              <a:t>.l </a:t>
            </a:r>
            <a:r>
              <a:rPr lang="en-US" dirty="0"/>
              <a:t>extension.</a:t>
            </a:r>
          </a:p>
          <a:p>
            <a:r>
              <a:rPr lang="en-US" dirty="0"/>
              <a:t> The </a:t>
            </a:r>
            <a:r>
              <a:rPr lang="en-US" dirty="0" err="1"/>
              <a:t>lex</a:t>
            </a:r>
            <a:r>
              <a:rPr lang="en-US" dirty="0"/>
              <a:t> compiler converts this program into a C file called </a:t>
            </a:r>
            <a:r>
              <a:rPr lang="en-US" b="1" dirty="0" err="1"/>
              <a:t>lex.yy.c</a:t>
            </a:r>
            <a:r>
              <a:rPr lang="en-US" dirty="0"/>
              <a:t>. </a:t>
            </a:r>
          </a:p>
          <a:p>
            <a:r>
              <a:rPr lang="en-US" dirty="0"/>
              <a:t>The C compiler then runs this C file, and it is compiled into </a:t>
            </a:r>
            <a:r>
              <a:rPr lang="en-US" b="1" dirty="0" err="1"/>
              <a:t>a.out</a:t>
            </a:r>
            <a:r>
              <a:rPr lang="en-US" dirty="0"/>
              <a:t> file. </a:t>
            </a:r>
          </a:p>
          <a:p>
            <a:r>
              <a:rPr lang="en-US" dirty="0"/>
              <a:t>This </a:t>
            </a:r>
            <a:r>
              <a:rPr lang="en-US" b="1" dirty="0" err="1"/>
              <a:t>a.out</a:t>
            </a:r>
            <a:r>
              <a:rPr lang="en-US" b="1" dirty="0"/>
              <a:t> </a:t>
            </a:r>
            <a:r>
              <a:rPr lang="en-US" dirty="0"/>
              <a:t>file is our working Lexical Analyzer which will produce the stream of tokens based on the input text.</a:t>
            </a:r>
          </a:p>
        </p:txBody>
      </p:sp>
    </p:spTree>
    <p:extLst>
      <p:ext uri="{BB962C8B-B14F-4D97-AF65-F5344CB8AC3E}">
        <p14:creationId xmlns:p14="http://schemas.microsoft.com/office/powerpoint/2010/main" val="9685038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0"/>
            <a:ext cx="912474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08012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br>
              <a:rPr lang="en-US" b="1" dirty="0"/>
            </a:br>
            <a:r>
              <a:rPr lang="en-US" b="1" dirty="0" err="1"/>
              <a:t>Lex</a:t>
            </a:r>
            <a:r>
              <a:rPr lang="en-US" b="1" dirty="0"/>
              <a:t> File Format</a:t>
            </a:r>
            <a:br>
              <a:rPr lang="en-US" b="1" dirty="0"/>
            </a:b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pPr marL="0" indent="0">
              <a:buNone/>
            </a:pPr>
            <a:r>
              <a:rPr lang="en-US" dirty="0"/>
              <a:t>Any </a:t>
            </a:r>
            <a:r>
              <a:rPr lang="en-US" dirty="0" err="1"/>
              <a:t>lex</a:t>
            </a:r>
            <a:r>
              <a:rPr lang="en-US" dirty="0"/>
              <a:t> file consists of the following three parts-</a:t>
            </a:r>
          </a:p>
          <a:p>
            <a:r>
              <a:rPr lang="en-US" b="1" dirty="0"/>
              <a:t>Definitions/Declarations</a:t>
            </a:r>
            <a:r>
              <a:rPr lang="en-US" dirty="0"/>
              <a:t>: This section of </a:t>
            </a:r>
            <a:r>
              <a:rPr lang="en-US" dirty="0" err="1"/>
              <a:t>lex</a:t>
            </a:r>
            <a:r>
              <a:rPr lang="en-US" dirty="0"/>
              <a:t> files contains declarations of constant, variable, and regular definitions.</a:t>
            </a:r>
          </a:p>
          <a:p>
            <a:r>
              <a:rPr lang="en-US" b="1" dirty="0"/>
              <a:t> Translation Rules</a:t>
            </a:r>
            <a:r>
              <a:rPr lang="en-US" dirty="0"/>
              <a:t>: This section of the </a:t>
            </a:r>
            <a:r>
              <a:rPr lang="en-US" dirty="0" err="1"/>
              <a:t>lex</a:t>
            </a:r>
            <a:r>
              <a:rPr lang="en-US" dirty="0"/>
              <a:t> files defines the rules in the form of the regular expressions and corresponding actions that the </a:t>
            </a:r>
            <a:r>
              <a:rPr lang="en-US" dirty="0" err="1"/>
              <a:t>lexer</a:t>
            </a:r>
            <a:r>
              <a:rPr lang="en-US" dirty="0"/>
              <a:t> should take to identify tokens in the input stream. Each rule consists of a regular expression followed by a code block that specifies the action to take when the regular expression matches. </a:t>
            </a:r>
          </a:p>
          <a:p>
            <a:r>
              <a:rPr lang="en-US" b="1" dirty="0"/>
              <a:t>User Subroutines</a:t>
            </a:r>
            <a:r>
              <a:rPr lang="en-US" dirty="0"/>
              <a:t>: This section contains the user-defined functions that can be used by the action code block in the rules section of the </a:t>
            </a:r>
            <a:r>
              <a:rPr lang="en-US" dirty="0" err="1"/>
              <a:t>lex</a:t>
            </a:r>
            <a:r>
              <a:rPr lang="en-US" dirty="0"/>
              <a:t> file.</a:t>
            </a:r>
          </a:p>
          <a:p>
            <a:endParaRPr lang="en-US" dirty="0"/>
          </a:p>
        </p:txBody>
      </p:sp>
    </p:spTree>
    <p:extLst>
      <p:ext uri="{BB962C8B-B14F-4D97-AF65-F5344CB8AC3E}">
        <p14:creationId xmlns:p14="http://schemas.microsoft.com/office/powerpoint/2010/main" val="33355423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19200"/>
            <a:ext cx="8229600" cy="1143000"/>
          </a:xfrm>
        </p:spPr>
        <p:txBody>
          <a:bodyPr>
            <a:normAutofit fontScale="90000"/>
          </a:bodyPr>
          <a:lstStyle/>
          <a:p>
            <a:r>
              <a:rPr lang="en-US" dirty="0"/>
              <a:t>The formal </a:t>
            </a:r>
            <a:r>
              <a:rPr lang="en-US" dirty="0" err="1"/>
              <a:t>lex</a:t>
            </a:r>
            <a:r>
              <a:rPr lang="en-US" dirty="0"/>
              <a:t> file has the following format-</a:t>
            </a:r>
            <a:br>
              <a:rPr lang="en-US" dirty="0"/>
            </a:br>
            <a:r>
              <a:rPr lang="en-US" dirty="0"/>
              <a:t>(separated by % delimiters)</a:t>
            </a:r>
            <a:br>
              <a:rPr lang="en-US" dirty="0"/>
            </a:br>
            <a:br>
              <a:rPr lang="en-US" dirty="0"/>
            </a:br>
            <a:endParaRPr lang="en-US" dirty="0"/>
          </a:p>
        </p:txBody>
      </p:sp>
      <p:sp>
        <p:nvSpPr>
          <p:cNvPr id="3" name="Content Placeholder 2"/>
          <p:cNvSpPr>
            <a:spLocks noGrp="1"/>
          </p:cNvSpPr>
          <p:nvPr>
            <p:ph idx="1"/>
          </p:nvPr>
        </p:nvSpPr>
        <p:spPr>
          <a:xfrm>
            <a:off x="457200" y="2438400"/>
            <a:ext cx="8229600" cy="4525963"/>
          </a:xfrm>
        </p:spPr>
        <p:txBody>
          <a:bodyPr/>
          <a:lstStyle/>
          <a:p>
            <a:pPr marL="0" indent="0">
              <a:buNone/>
            </a:pPr>
            <a:r>
              <a:rPr lang="en-US" dirty="0"/>
              <a:t>{ definitions }</a:t>
            </a:r>
          </a:p>
          <a:p>
            <a:pPr marL="0" indent="0">
              <a:buNone/>
            </a:pPr>
            <a:r>
              <a:rPr lang="en-US" dirty="0"/>
              <a:t> %% </a:t>
            </a:r>
          </a:p>
          <a:p>
            <a:pPr marL="0" indent="0">
              <a:buNone/>
            </a:pPr>
            <a:r>
              <a:rPr lang="en-US" dirty="0"/>
              <a:t>{ rules }</a:t>
            </a:r>
          </a:p>
          <a:p>
            <a:pPr marL="0" indent="0">
              <a:buNone/>
            </a:pPr>
            <a:r>
              <a:rPr lang="en-US" dirty="0"/>
              <a:t> %% </a:t>
            </a:r>
          </a:p>
          <a:p>
            <a:pPr marL="0" indent="0">
              <a:buNone/>
            </a:pPr>
            <a:r>
              <a:rPr lang="en-US" dirty="0"/>
              <a:t>{ user subroutines }</a:t>
            </a:r>
          </a:p>
        </p:txBody>
      </p:sp>
    </p:spTree>
    <p:extLst>
      <p:ext uri="{BB962C8B-B14F-4D97-AF65-F5344CB8AC3E}">
        <p14:creationId xmlns:p14="http://schemas.microsoft.com/office/powerpoint/2010/main" val="41333351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525963"/>
          </a:xfrm>
        </p:spPr>
        <p:txBody>
          <a:bodyPr>
            <a:normAutofit/>
          </a:bodyPr>
          <a:lstStyle/>
          <a:p>
            <a:pPr marL="0" indent="0">
              <a:buNone/>
            </a:pPr>
            <a:r>
              <a:rPr lang="en-US" sz="3600" b="1" dirty="0"/>
              <a:t>declaration</a:t>
            </a:r>
            <a:br>
              <a:rPr lang="en-US" sz="3600" dirty="0"/>
            </a:br>
            <a:r>
              <a:rPr lang="en-US" sz="3600" dirty="0"/>
              <a:t>number[0-9]</a:t>
            </a:r>
            <a:br>
              <a:rPr lang="en-US" sz="3600" dirty="0"/>
            </a:br>
            <a:r>
              <a:rPr lang="en-US" sz="3600" dirty="0"/>
              <a:t>%%</a:t>
            </a:r>
            <a:br>
              <a:rPr lang="en-US" sz="3600" dirty="0"/>
            </a:br>
            <a:r>
              <a:rPr lang="en-US" sz="3600" b="1" dirty="0"/>
              <a:t>translation</a:t>
            </a:r>
            <a:br>
              <a:rPr lang="en-US" sz="3600" dirty="0"/>
            </a:br>
            <a:r>
              <a:rPr lang="en-US" sz="3600" dirty="0"/>
              <a:t>if {return (IF);}</a:t>
            </a:r>
            <a:br>
              <a:rPr lang="en-US" sz="3600" dirty="0"/>
            </a:br>
            <a:r>
              <a:rPr lang="en-US" sz="3600" dirty="0"/>
              <a:t>%%</a:t>
            </a:r>
            <a:br>
              <a:rPr lang="en-US" sz="3600" dirty="0"/>
            </a:br>
            <a:r>
              <a:rPr lang="en-US" sz="3600" b="1" dirty="0"/>
              <a:t>auxiliary function</a:t>
            </a:r>
            <a:br>
              <a:rPr lang="en-US" sz="3600" dirty="0"/>
            </a:br>
            <a:r>
              <a:rPr lang="en-US" sz="3600" dirty="0" err="1"/>
              <a:t>int</a:t>
            </a:r>
            <a:r>
              <a:rPr lang="en-US" sz="3600" dirty="0"/>
              <a:t> </a:t>
            </a:r>
            <a:r>
              <a:rPr lang="en-US" sz="3600" dirty="0" err="1"/>
              <a:t>numberSum</a:t>
            </a:r>
            <a:r>
              <a:rPr lang="en-US" sz="3600" dirty="0"/>
              <a:t>()</a:t>
            </a:r>
          </a:p>
        </p:txBody>
      </p:sp>
    </p:spTree>
    <p:extLst>
      <p:ext uri="{BB962C8B-B14F-4D97-AF65-F5344CB8AC3E}">
        <p14:creationId xmlns:p14="http://schemas.microsoft.com/office/powerpoint/2010/main" val="165200506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838200"/>
          </a:xfrm>
        </p:spPr>
        <p:txBody>
          <a:bodyPr>
            <a:noAutofit/>
          </a:bodyPr>
          <a:lstStyle/>
          <a:p>
            <a:br>
              <a:rPr lang="en-US" sz="2800" b="1" dirty="0"/>
            </a:br>
            <a:r>
              <a:rPr lang="en-US" sz="2800" b="1" dirty="0"/>
              <a:t>An example implementation of a Lexical </a:t>
            </a:r>
            <a:r>
              <a:rPr lang="en-US" sz="2800" b="1" dirty="0" err="1"/>
              <a:t>Analyser</a:t>
            </a:r>
            <a:r>
              <a:rPr lang="en-US" sz="2800" b="1" dirty="0"/>
              <a:t> using </a:t>
            </a:r>
            <a:r>
              <a:rPr lang="en-US" sz="2800" b="1" dirty="0" err="1"/>
              <a:t>Lex</a:t>
            </a:r>
            <a:br>
              <a:rPr lang="en-US" sz="2800" b="1" dirty="0"/>
            </a:br>
            <a:endParaRPr lang="en-US" sz="2800" dirty="0"/>
          </a:p>
        </p:txBody>
      </p:sp>
      <p:sp>
        <p:nvSpPr>
          <p:cNvPr id="3" name="Content Placeholder 2"/>
          <p:cNvSpPr>
            <a:spLocks noGrp="1"/>
          </p:cNvSpPr>
          <p:nvPr>
            <p:ph idx="1"/>
          </p:nvPr>
        </p:nvSpPr>
        <p:spPr>
          <a:xfrm>
            <a:off x="457200" y="685800"/>
            <a:ext cx="8229600" cy="5440363"/>
          </a:xfrm>
        </p:spPr>
        <p:txBody>
          <a:bodyPr/>
          <a:lstStyle/>
          <a:p>
            <a:r>
              <a:rPr lang="en-US" dirty="0"/>
              <a:t>The following </a:t>
            </a:r>
            <a:r>
              <a:rPr lang="en-US" dirty="0" err="1"/>
              <a:t>Lex</a:t>
            </a:r>
            <a:r>
              <a:rPr lang="en-US" dirty="0"/>
              <a:t> Program counts the number of words-</a:t>
            </a:r>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399"/>
            <a:ext cx="8589963" cy="510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1390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b="1" dirty="0"/>
              <a:t>DFA(Deterministic finite automaton )</a:t>
            </a:r>
          </a:p>
        </p:txBody>
      </p:sp>
      <p:sp>
        <p:nvSpPr>
          <p:cNvPr id="3" name="Content Placeholder 2"/>
          <p:cNvSpPr>
            <a:spLocks noGrp="1"/>
          </p:cNvSpPr>
          <p:nvPr>
            <p:ph idx="1"/>
          </p:nvPr>
        </p:nvSpPr>
        <p:spPr/>
        <p:txBody>
          <a:bodyPr>
            <a:normAutofit fontScale="92500" lnSpcReduction="10000"/>
          </a:bodyPr>
          <a:lstStyle/>
          <a:p>
            <a:r>
              <a:rPr lang="en-US" dirty="0"/>
              <a:t>A DFA is a </a:t>
            </a:r>
            <a:r>
              <a:rPr lang="en-US" dirty="0">
                <a:hlinkClick r:id="rId2"/>
              </a:rPr>
              <a:t>finite-state machine</a:t>
            </a:r>
            <a:r>
              <a:rPr lang="en-US" dirty="0"/>
              <a:t> that accepts or rejects a given string of symbols by running through a state sequence that is uniquely determined by the string.</a:t>
            </a:r>
          </a:p>
          <a:p>
            <a:r>
              <a:rPr lang="en-US" dirty="0"/>
              <a:t>For each input symbol, the state to which the machine will move can be determined using DFA.</a:t>
            </a:r>
          </a:p>
          <a:p>
            <a:r>
              <a:rPr lang="en-US" dirty="0"/>
              <a:t>It's called as a Deterministic Automaton as a result of this. As it contains a finite number of states, the machine is called a Deterministic Finite Machine or Deterministic Finite Automaton.</a:t>
            </a:r>
          </a:p>
        </p:txBody>
      </p:sp>
    </p:spTree>
    <p:extLst>
      <p:ext uri="{BB962C8B-B14F-4D97-AF65-F5344CB8AC3E}">
        <p14:creationId xmlns:p14="http://schemas.microsoft.com/office/powerpoint/2010/main" val="340409447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Representation of DFA</a:t>
            </a:r>
            <a:br>
              <a:rPr lang="en-US" b="1" dirty="0"/>
            </a:b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It is represented as 5 tuples (Q, ∑, δ, q0, F) where:</a:t>
            </a:r>
          </a:p>
          <a:p>
            <a:r>
              <a:rPr lang="en-US" dirty="0"/>
              <a:t>Q represents the finite states</a:t>
            </a:r>
          </a:p>
          <a:p>
            <a:r>
              <a:rPr lang="en-US" dirty="0"/>
              <a:t>∑ represents the is a finite set of symbols, also called the alphabet</a:t>
            </a:r>
          </a:p>
          <a:p>
            <a:r>
              <a:rPr lang="en-US" dirty="0"/>
              <a:t>δ represents the transition function</a:t>
            </a:r>
          </a:p>
          <a:p>
            <a:pPr marL="0" indent="0">
              <a:buNone/>
            </a:pPr>
            <a:r>
              <a:rPr lang="en-US" dirty="0"/>
              <a:t>    where δ: Q × ∑ → Q</a:t>
            </a:r>
          </a:p>
          <a:p>
            <a:r>
              <a:rPr lang="en-US" dirty="0"/>
              <a:t>q0 represents the initial state from where any input is processed</a:t>
            </a:r>
          </a:p>
          <a:p>
            <a:r>
              <a:rPr lang="en-US" dirty="0"/>
              <a:t>F represents the set of final state of Q.</a:t>
            </a:r>
          </a:p>
          <a:p>
            <a:endParaRPr lang="en-US" dirty="0"/>
          </a:p>
        </p:txBody>
      </p:sp>
    </p:spTree>
    <p:extLst>
      <p:ext uri="{BB962C8B-B14F-4D97-AF65-F5344CB8AC3E}">
        <p14:creationId xmlns:p14="http://schemas.microsoft.com/office/powerpoint/2010/main" val="100718896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6324600"/>
          </a:xfrm>
        </p:spPr>
        <p:txBody>
          <a:bodyPr>
            <a:normAutofit/>
          </a:bodyPr>
          <a:lstStyle/>
          <a:p>
            <a:r>
              <a:rPr lang="en-US" b="1" dirty="0"/>
              <a:t>Example:</a:t>
            </a:r>
            <a:endParaRPr lang="en-US" dirty="0"/>
          </a:p>
          <a:p>
            <a:r>
              <a:rPr lang="en-US" sz="2800" dirty="0"/>
              <a:t>The following is an example of a DFA M with a binary alphabet that accepts an even number of 0s in the input.</a:t>
            </a:r>
          </a:p>
          <a:p>
            <a:r>
              <a:rPr lang="en-US" sz="2800" dirty="0"/>
              <a:t>M = (Q, Σ, δ, q</a:t>
            </a:r>
            <a:r>
              <a:rPr lang="en-US" sz="2800" baseline="-25000" dirty="0"/>
              <a:t>0</a:t>
            </a:r>
            <a:r>
              <a:rPr lang="en-US" sz="2800" dirty="0"/>
              <a:t>, F) where</a:t>
            </a:r>
          </a:p>
          <a:p>
            <a:r>
              <a:rPr lang="en-US" sz="2800" dirty="0"/>
              <a:t>Q = {S</a:t>
            </a:r>
            <a:r>
              <a:rPr lang="en-US" sz="2800" baseline="-25000" dirty="0"/>
              <a:t>1</a:t>
            </a:r>
            <a:r>
              <a:rPr lang="en-US" sz="2800" dirty="0"/>
              <a:t>, S</a:t>
            </a:r>
            <a:r>
              <a:rPr lang="en-US" sz="2800" baseline="-25000" dirty="0"/>
              <a:t>2</a:t>
            </a:r>
            <a:r>
              <a:rPr lang="en-US" sz="2800" dirty="0"/>
              <a:t>}</a:t>
            </a:r>
          </a:p>
          <a:p>
            <a:r>
              <a:rPr lang="en-US" sz="2800" dirty="0"/>
              <a:t>q</a:t>
            </a:r>
            <a:r>
              <a:rPr lang="en-US" sz="2800" baseline="-25000" dirty="0"/>
              <a:t>0</a:t>
            </a:r>
            <a:r>
              <a:rPr lang="en-US" sz="2800" dirty="0"/>
              <a:t> = S</a:t>
            </a:r>
            <a:r>
              <a:rPr lang="en-US" sz="2800" baseline="-25000" dirty="0"/>
              <a:t>1</a:t>
            </a:r>
            <a:endParaRPr lang="en-US" sz="2800" dirty="0"/>
          </a:p>
          <a:p>
            <a:r>
              <a:rPr lang="en-US" sz="2800" dirty="0"/>
              <a:t>Σ = {0, 1}</a:t>
            </a:r>
          </a:p>
          <a:p>
            <a:r>
              <a:rPr lang="en-US" sz="2800" dirty="0"/>
              <a:t>F = {S</a:t>
            </a:r>
            <a:r>
              <a:rPr lang="en-US" sz="2800" baseline="-25000" dirty="0"/>
              <a:t>1</a:t>
            </a:r>
            <a:r>
              <a:rPr lang="en-US" sz="2800" dirty="0"/>
              <a:t>}</a:t>
            </a:r>
          </a:p>
          <a:p>
            <a:r>
              <a:rPr lang="en-US" sz="2800" dirty="0"/>
              <a:t>δ is represented by the following table.</a:t>
            </a:r>
          </a:p>
          <a:p>
            <a:endParaRPr lang="en-US" sz="2800" dirty="0"/>
          </a:p>
          <a:p>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3514287432"/>
              </p:ext>
            </p:extLst>
          </p:nvPr>
        </p:nvGraphicFramePr>
        <p:xfrm>
          <a:off x="762000" y="5257800"/>
          <a:ext cx="6915150" cy="1341120"/>
        </p:xfrm>
        <a:graphic>
          <a:graphicData uri="http://schemas.openxmlformats.org/drawingml/2006/table">
            <a:tbl>
              <a:tblPr/>
              <a:tblGrid>
                <a:gridCol w="2305050">
                  <a:extLst>
                    <a:ext uri="{9D8B030D-6E8A-4147-A177-3AD203B41FA5}">
                      <a16:colId xmlns:a16="http://schemas.microsoft.com/office/drawing/2014/main" val="20000"/>
                    </a:ext>
                  </a:extLst>
                </a:gridCol>
                <a:gridCol w="2305050">
                  <a:extLst>
                    <a:ext uri="{9D8B030D-6E8A-4147-A177-3AD203B41FA5}">
                      <a16:colId xmlns:a16="http://schemas.microsoft.com/office/drawing/2014/main" val="20001"/>
                    </a:ext>
                  </a:extLst>
                </a:gridCol>
                <a:gridCol w="2305050">
                  <a:extLst>
                    <a:ext uri="{9D8B030D-6E8A-4147-A177-3AD203B41FA5}">
                      <a16:colId xmlns:a16="http://schemas.microsoft.com/office/drawing/2014/main" val="20002"/>
                    </a:ext>
                  </a:extLst>
                </a:gridCol>
              </a:tblGrid>
              <a:tr h="0">
                <a:tc>
                  <a:txBody>
                    <a:bodyPr/>
                    <a:lstStyle/>
                    <a:p>
                      <a:r>
                        <a:rPr lang="en-US" dirty="0">
                          <a:effectLst/>
                        </a:rPr>
                        <a:t>From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a:effectLst/>
                        </a:rPr>
                        <a:t>Next State from input 0</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a:effectLst/>
                        </a:rPr>
                        <a:t>Next State from input 1</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extLst>
                  <a:ext uri="{0D108BD9-81ED-4DB2-BD59-A6C34878D82A}">
                    <a16:rowId xmlns:a16="http://schemas.microsoft.com/office/drawing/2014/main" val="10000"/>
                  </a:ext>
                </a:extLst>
              </a:tr>
              <a:tr h="0">
                <a:tc>
                  <a:txBody>
                    <a:bodyPr/>
                    <a:lstStyle/>
                    <a:p>
                      <a:r>
                        <a:rPr lang="en-US">
                          <a:effectLst/>
                        </a:rPr>
                        <a:t>s1</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a:effectLst/>
                        </a:rPr>
                        <a:t>s2</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a:effectLst/>
                        </a:rPr>
                        <a:t>s1</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extLst>
                  <a:ext uri="{0D108BD9-81ED-4DB2-BD59-A6C34878D82A}">
                    <a16:rowId xmlns:a16="http://schemas.microsoft.com/office/drawing/2014/main" val="10001"/>
                  </a:ext>
                </a:extLst>
              </a:tr>
              <a:tr h="0">
                <a:tc>
                  <a:txBody>
                    <a:bodyPr/>
                    <a:lstStyle/>
                    <a:p>
                      <a:r>
                        <a:rPr lang="en-US">
                          <a:effectLst/>
                        </a:rPr>
                        <a:t>s2</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a:effectLst/>
                        </a:rPr>
                        <a:t>s1</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tc>
                  <a:txBody>
                    <a:bodyPr/>
                    <a:lstStyle/>
                    <a:p>
                      <a:r>
                        <a:rPr lang="en-US" dirty="0">
                          <a:effectLst/>
                        </a:rPr>
                        <a:t>s2</a:t>
                      </a:r>
                    </a:p>
                  </a:txBody>
                  <a:tcPr marL="76200" marR="76200" marT="38100" marB="381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6E6E6"/>
                    </a:solidFill>
                  </a:tcPr>
                </a:tc>
                <a:extLst>
                  <a:ext uri="{0D108BD9-81ED-4DB2-BD59-A6C34878D82A}">
                    <a16:rowId xmlns:a16="http://schemas.microsoft.com/office/drawing/2014/main" val="10002"/>
                  </a:ext>
                </a:extLst>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2057400"/>
            <a:ext cx="4303059"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211947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Dead state in DFA</a:t>
            </a:r>
            <a:br>
              <a:rPr lang="en-US" b="1" dirty="0"/>
            </a:br>
            <a:br>
              <a:rPr lang="en-US" dirty="0"/>
            </a:br>
            <a:endParaRPr lang="en-US" dirty="0"/>
          </a:p>
        </p:txBody>
      </p:sp>
      <p:sp>
        <p:nvSpPr>
          <p:cNvPr id="3" name="Content Placeholder 2"/>
          <p:cNvSpPr>
            <a:spLocks noGrp="1"/>
          </p:cNvSpPr>
          <p:nvPr>
            <p:ph idx="1"/>
          </p:nvPr>
        </p:nvSpPr>
        <p:spPr>
          <a:xfrm>
            <a:off x="533400" y="914400"/>
            <a:ext cx="8229600" cy="4525963"/>
          </a:xfrm>
        </p:spPr>
        <p:txBody>
          <a:bodyPr/>
          <a:lstStyle/>
          <a:p>
            <a:r>
              <a:rPr lang="en-US" dirty="0"/>
              <a:t>If the machine has successfully progressed to the final string accepting state, we can say that the string has been accepted by the DFA.</a:t>
            </a:r>
          </a:p>
          <a:p>
            <a:r>
              <a:rPr lang="en-US" dirty="0"/>
              <a:t>However, if we arrive at a point where the machine can no longer progress to its final state, we have arrived at a dead state. A Dummy state is another name for a dead state.</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6223" y="4495800"/>
            <a:ext cx="5062134" cy="191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041994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Need of Deterministic Finite Automata</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DFAs are useful in the functionality of applications such as</a:t>
            </a:r>
          </a:p>
          <a:p>
            <a:r>
              <a:rPr lang="en-US" dirty="0"/>
              <a:t>Vending Machines</a:t>
            </a:r>
          </a:p>
          <a:p>
            <a:r>
              <a:rPr lang="en-US" dirty="0"/>
              <a:t>Traffic Lights</a:t>
            </a:r>
          </a:p>
          <a:p>
            <a:r>
              <a:rPr lang="en-US" dirty="0"/>
              <a:t>Video Games</a:t>
            </a:r>
          </a:p>
          <a:p>
            <a:r>
              <a:rPr lang="en-US" dirty="0"/>
              <a:t>Text Parsing</a:t>
            </a:r>
          </a:p>
          <a:p>
            <a:r>
              <a:rPr lang="en-US" dirty="0">
                <a:hlinkClick r:id="rId2"/>
              </a:rPr>
              <a:t>Regular Expression Matching</a:t>
            </a:r>
            <a:endParaRPr lang="en-US" dirty="0"/>
          </a:p>
          <a:p>
            <a:r>
              <a:rPr lang="en-US" dirty="0"/>
              <a:t>CPU Controllers</a:t>
            </a:r>
          </a:p>
          <a:p>
            <a:r>
              <a:rPr lang="en-US" dirty="0"/>
              <a:t>Protocol Analysis</a:t>
            </a:r>
          </a:p>
          <a:p>
            <a:r>
              <a:rPr lang="en-US" dirty="0"/>
              <a:t>Natural Language Processing</a:t>
            </a:r>
          </a:p>
          <a:p>
            <a:r>
              <a:rPr lang="en-US" dirty="0"/>
              <a:t>Speech Recognition</a:t>
            </a:r>
          </a:p>
          <a:p>
            <a:endParaRPr lang="en-US" dirty="0"/>
          </a:p>
        </p:txBody>
      </p:sp>
    </p:spTree>
    <p:extLst>
      <p:ext uri="{BB962C8B-B14F-4D97-AF65-F5344CB8AC3E}">
        <p14:creationId xmlns:p14="http://schemas.microsoft.com/office/powerpoint/2010/main" val="294528615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855"/>
            <a:ext cx="8229600" cy="1143000"/>
          </a:xfrm>
        </p:spPr>
        <p:txBody>
          <a:bodyPr>
            <a:noAutofit/>
          </a:bodyPr>
          <a:lstStyle/>
          <a:p>
            <a:br>
              <a:rPr lang="en-US" sz="3200" b="1" dirty="0"/>
            </a:br>
            <a:r>
              <a:rPr lang="en-US" sz="3200" b="1" dirty="0"/>
              <a:t>How Can I Use Deterministic Finite Automata?</a:t>
            </a:r>
            <a:br>
              <a:rPr lang="en-US" sz="3200" b="1" dirty="0"/>
            </a:br>
            <a:endParaRPr lang="en-US" sz="3200" dirty="0"/>
          </a:p>
        </p:txBody>
      </p:sp>
      <p:sp>
        <p:nvSpPr>
          <p:cNvPr id="3" name="Content Placeholder 2"/>
          <p:cNvSpPr>
            <a:spLocks noGrp="1"/>
          </p:cNvSpPr>
          <p:nvPr>
            <p:ph idx="1"/>
          </p:nvPr>
        </p:nvSpPr>
        <p:spPr>
          <a:xfrm>
            <a:off x="457200" y="1066800"/>
            <a:ext cx="8229600" cy="4678363"/>
          </a:xfrm>
        </p:spPr>
        <p:txBody>
          <a:bodyPr>
            <a:normAutofit fontScale="92500"/>
          </a:bodyPr>
          <a:lstStyle/>
          <a:p>
            <a:pPr marL="0" indent="0">
              <a:buNone/>
            </a:pPr>
            <a:r>
              <a:rPr lang="en-US" dirty="0"/>
              <a:t>DFA can be effectively utilized:</a:t>
            </a:r>
          </a:p>
          <a:p>
            <a:pPr marL="0" indent="0">
              <a:buNone/>
            </a:pPr>
            <a:r>
              <a:rPr lang="en-US" b="1" dirty="0"/>
              <a:t>1) Pattern Matching</a:t>
            </a:r>
            <a:r>
              <a:rPr lang="en-US" dirty="0"/>
              <a:t>: DFA can be employed to search for specific patterns within strings or texts efficiently.</a:t>
            </a:r>
          </a:p>
          <a:p>
            <a:pPr marL="0" indent="0">
              <a:buNone/>
            </a:pPr>
            <a:r>
              <a:rPr lang="en-US" b="1" dirty="0"/>
              <a:t>2) Lexical Analysis</a:t>
            </a:r>
            <a:r>
              <a:rPr lang="en-US" dirty="0"/>
              <a:t>: DFA are extensively used in compilers and interpreters for lexical analysis, also known as tokenization.</a:t>
            </a:r>
          </a:p>
          <a:p>
            <a:pPr marL="0" indent="0">
              <a:buNone/>
            </a:pPr>
            <a:r>
              <a:rPr lang="en-US" b="1" dirty="0"/>
              <a:t>3) String Validation</a:t>
            </a:r>
            <a:r>
              <a:rPr lang="en-US" dirty="0"/>
              <a:t>: DFA can verify whether a given string adheres to a specified format or syntax. </a:t>
            </a:r>
          </a:p>
        </p:txBody>
      </p:sp>
    </p:spTree>
    <p:extLst>
      <p:ext uri="{BB962C8B-B14F-4D97-AF65-F5344CB8AC3E}">
        <p14:creationId xmlns:p14="http://schemas.microsoft.com/office/powerpoint/2010/main" val="14634551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533400"/>
            <a:ext cx="8229600" cy="4678363"/>
          </a:xfrm>
        </p:spPr>
        <p:txBody>
          <a:bodyPr>
            <a:noAutofit/>
          </a:bodyPr>
          <a:lstStyle/>
          <a:p>
            <a:pPr marL="0" indent="0">
              <a:buNone/>
            </a:pPr>
            <a:endParaRPr lang="en-US" sz="2800" dirty="0"/>
          </a:p>
          <a:p>
            <a:pPr marL="0" indent="0">
              <a:buNone/>
            </a:pPr>
            <a:r>
              <a:rPr lang="en-US" sz="2800" b="1" dirty="0"/>
              <a:t>4) Finite State Machines (FSM)</a:t>
            </a:r>
            <a:r>
              <a:rPr lang="en-US" sz="2800" dirty="0"/>
              <a:t>: DFA serve as the fundamental building blocks for designing more complex finite state machines. FSMs are widely used in control systems, protocol design, circuit design, and modeling sequential logic.</a:t>
            </a:r>
            <a:br>
              <a:rPr lang="en-US" sz="2800" dirty="0"/>
            </a:br>
            <a:r>
              <a:rPr lang="en-US" sz="2800" dirty="0"/>
              <a:t> </a:t>
            </a:r>
          </a:p>
          <a:p>
            <a:pPr marL="0" indent="0">
              <a:buNone/>
            </a:pPr>
            <a:r>
              <a:rPr lang="en-US" sz="2800" b="1" dirty="0"/>
              <a:t>5) Regular Expression Matching</a:t>
            </a:r>
            <a:r>
              <a:rPr lang="en-US" sz="2800" dirty="0"/>
              <a:t>: DFA can be implemented as part of engines that process regular expressions. Regular expressions define patterns that describe sets of strings, and DFA can recognize these patterns efficiently.</a:t>
            </a:r>
          </a:p>
          <a:p>
            <a:pPr marL="0" indent="0">
              <a:buNone/>
            </a:pPr>
            <a:r>
              <a:rPr lang="en-US" sz="2800" dirty="0"/>
              <a:t> </a:t>
            </a:r>
          </a:p>
        </p:txBody>
      </p:sp>
    </p:spTree>
    <p:extLst>
      <p:ext uri="{BB962C8B-B14F-4D97-AF65-F5344CB8AC3E}">
        <p14:creationId xmlns:p14="http://schemas.microsoft.com/office/powerpoint/2010/main" val="201777093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Non-Deterministic Finite Automata</a:t>
            </a:r>
            <a:br>
              <a:rPr lang="en-US" b="1" dirty="0"/>
            </a:br>
            <a:endParaRPr lang="en-US" dirty="0"/>
          </a:p>
        </p:txBody>
      </p:sp>
      <p:sp>
        <p:nvSpPr>
          <p:cNvPr id="3" name="Content Placeholder 2"/>
          <p:cNvSpPr>
            <a:spLocks noGrp="1"/>
          </p:cNvSpPr>
          <p:nvPr>
            <p:ph idx="1"/>
          </p:nvPr>
        </p:nvSpPr>
        <p:spPr>
          <a:xfrm>
            <a:off x="457200" y="1143000"/>
            <a:ext cx="8229600" cy="4525963"/>
          </a:xfrm>
        </p:spPr>
        <p:txBody>
          <a:bodyPr>
            <a:noAutofit/>
          </a:bodyPr>
          <a:lstStyle/>
          <a:p>
            <a:pPr marL="0" indent="0">
              <a:buNone/>
            </a:pPr>
            <a:r>
              <a:rPr lang="en-US" dirty="0"/>
              <a:t>NFA means where the transition from a state can be multiple next states for each input symbol. We can define the non-deterministic finite automaton as a finite automaton variant with two characteristics:</a:t>
            </a:r>
          </a:p>
          <a:p>
            <a:r>
              <a:rPr lang="en-US" dirty="0"/>
              <a:t>ε-transition: state transition can be made without reading a symbol; and </a:t>
            </a:r>
          </a:p>
          <a:p>
            <a:r>
              <a:rPr lang="en-US" dirty="0" err="1"/>
              <a:t>Nondeterminism</a:t>
            </a:r>
            <a:r>
              <a:rPr lang="en-US" dirty="0"/>
              <a:t>: state transition can have zero or more than one possible value.</a:t>
            </a:r>
          </a:p>
          <a:p>
            <a:endParaRPr lang="en-US" dirty="0"/>
          </a:p>
        </p:txBody>
      </p:sp>
    </p:spTree>
    <p:extLst>
      <p:ext uri="{BB962C8B-B14F-4D97-AF65-F5344CB8AC3E}">
        <p14:creationId xmlns:p14="http://schemas.microsoft.com/office/powerpoint/2010/main" val="24588260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3600" b="1" dirty="0"/>
            </a:br>
            <a:r>
              <a:rPr lang="en-US" sz="3600" b="1" dirty="0"/>
              <a:t>Formal definition of Non-Deterministic Finite Automata</a:t>
            </a:r>
            <a:br>
              <a:rPr lang="en-US" sz="3600" b="1" dirty="0"/>
            </a:br>
            <a:endParaRPr lang="en-US" sz="3600" dirty="0"/>
          </a:p>
        </p:txBody>
      </p:sp>
      <p:sp>
        <p:nvSpPr>
          <p:cNvPr id="3" name="Content Placeholder 2"/>
          <p:cNvSpPr>
            <a:spLocks noGrp="1"/>
          </p:cNvSpPr>
          <p:nvPr>
            <p:ph idx="1"/>
          </p:nvPr>
        </p:nvSpPr>
        <p:spPr/>
        <p:txBody>
          <a:bodyPr>
            <a:normAutofit fontScale="77500" lnSpcReduction="20000"/>
          </a:bodyPr>
          <a:lstStyle/>
          <a:p>
            <a:r>
              <a:rPr lang="en-US" dirty="0"/>
              <a:t>The formal definition of NFA, like that of DFA, is: (Q, 𝚺, δ, q0, F), where </a:t>
            </a:r>
          </a:p>
          <a:p>
            <a:r>
              <a:rPr lang="en-US" dirty="0"/>
              <a:t>Q is a finite set of states.</a:t>
            </a:r>
          </a:p>
          <a:p>
            <a:r>
              <a:rPr lang="en-US" dirty="0"/>
              <a:t>𝚺 is a finite set of all alphabet symbols.</a:t>
            </a:r>
          </a:p>
          <a:p>
            <a:r>
              <a:rPr lang="en-US" dirty="0"/>
              <a:t>δ: Q x 𝚺 → Q is the transition function from state to state.</a:t>
            </a:r>
          </a:p>
          <a:p>
            <a:r>
              <a:rPr lang="en-US" dirty="0"/>
              <a:t>q0 ∈ Q is the starting state, and the starting state must be in the set Q </a:t>
            </a:r>
          </a:p>
          <a:p>
            <a:r>
              <a:rPr lang="en-US" dirty="0"/>
              <a:t>F ⊆ Q is the set of accepted states, all of which must be in the set Q.</a:t>
            </a:r>
          </a:p>
          <a:p>
            <a:r>
              <a:rPr lang="en-US" dirty="0"/>
              <a:t>NFA requires to include the empty string (ε) in the delta function along with the other symbols.</a:t>
            </a:r>
          </a:p>
        </p:txBody>
      </p:sp>
    </p:spTree>
    <p:extLst>
      <p:ext uri="{BB962C8B-B14F-4D97-AF65-F5344CB8AC3E}">
        <p14:creationId xmlns:p14="http://schemas.microsoft.com/office/powerpoint/2010/main" val="61440258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a:t>
            </a:r>
            <a:br>
              <a:rPr lang="en-US" dirty="0"/>
            </a:br>
            <a:endParaRPr lang="en-US" dirty="0"/>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284508" cy="5463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44180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p:spPr>
        <p:txBody>
          <a:bodyPr>
            <a:normAutofit fontScale="90000"/>
          </a:bodyPr>
          <a:lstStyle/>
          <a:p>
            <a:br>
              <a:rPr lang="en-US" dirty="0"/>
            </a:br>
            <a:r>
              <a:rPr lang="en-US" dirty="0"/>
              <a:t>DFA VS NFA</a:t>
            </a:r>
            <a:br>
              <a:rPr lang="en-US" dirty="0"/>
            </a:b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8095"/>
            <a:ext cx="9144000" cy="640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85462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Autofit/>
          </a:bodyPr>
          <a:lstStyle/>
          <a:p>
            <a:r>
              <a:rPr lang="en-US" sz="4000" b="1" dirty="0"/>
              <a:t>Conversion Of Regular Expressions to Finite Automata</a:t>
            </a:r>
            <a:br>
              <a:rPr lang="en-US" sz="4000" b="1" dirty="0"/>
            </a:br>
            <a:endParaRPr lang="en-US" sz="4000" dirty="0"/>
          </a:p>
        </p:txBody>
      </p:sp>
      <p:sp>
        <p:nvSpPr>
          <p:cNvPr id="3" name="Content Placeholder 2"/>
          <p:cNvSpPr>
            <a:spLocks noGrp="1"/>
          </p:cNvSpPr>
          <p:nvPr>
            <p:ph idx="1"/>
          </p:nvPr>
        </p:nvSpPr>
        <p:spPr>
          <a:xfrm>
            <a:off x="457200" y="1295400"/>
            <a:ext cx="8229600" cy="4830763"/>
          </a:xfrm>
        </p:spPr>
        <p:txBody>
          <a:bodyPr/>
          <a:lstStyle/>
          <a:p>
            <a:pPr marL="0" indent="0">
              <a:buNone/>
            </a:pPr>
            <a:r>
              <a:rPr lang="en-US" dirty="0"/>
              <a:t>Steps To Convert Regular Expressions To Finite Automata(The method that is popularly used is known as the </a:t>
            </a:r>
            <a:r>
              <a:rPr lang="en-US" b="1" dirty="0"/>
              <a:t>Subset method)</a:t>
            </a:r>
          </a:p>
          <a:p>
            <a:r>
              <a:rPr lang="en-US" b="1" dirty="0"/>
              <a:t>Step 1:</a:t>
            </a:r>
            <a:r>
              <a:rPr lang="en-US" dirty="0"/>
              <a:t> Make a transition diagram for a given regular expression, using NFA with ε moves.</a:t>
            </a:r>
          </a:p>
          <a:p>
            <a:r>
              <a:rPr lang="en-US" b="1" dirty="0"/>
              <a:t>Step 2:</a:t>
            </a:r>
            <a:r>
              <a:rPr lang="en-US" dirty="0"/>
              <a:t> Then, Convert this NFA with ε to NFA without ε.</a:t>
            </a:r>
          </a:p>
          <a:p>
            <a:r>
              <a:rPr lang="en-US" b="1" dirty="0"/>
              <a:t>Step 3:</a:t>
            </a:r>
            <a:r>
              <a:rPr lang="en-US" dirty="0"/>
              <a:t> Finally, Convert the obtained NFA to equivalent DFA.</a:t>
            </a:r>
          </a:p>
          <a:p>
            <a:pPr marL="0" indent="0">
              <a:buNone/>
            </a:pPr>
            <a:endParaRPr lang="en-US" dirty="0"/>
          </a:p>
          <a:p>
            <a:endParaRPr lang="en-US" dirty="0"/>
          </a:p>
        </p:txBody>
      </p:sp>
    </p:spTree>
    <p:extLst>
      <p:ext uri="{BB962C8B-B14F-4D97-AF65-F5344CB8AC3E}">
        <p14:creationId xmlns:p14="http://schemas.microsoft.com/office/powerpoint/2010/main" val="295972167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90500"/>
            <a:ext cx="8229600" cy="6172200"/>
          </a:xfrm>
        </p:spPr>
        <p:txBody>
          <a:bodyPr>
            <a:normAutofit/>
          </a:bodyPr>
          <a:lstStyle/>
          <a:p>
            <a:pPr marL="0" indent="0">
              <a:buNone/>
            </a:pPr>
            <a:r>
              <a:rPr lang="en-US" dirty="0"/>
              <a:t>Some standard rules help in the conversion of RE to NFA are:-</a:t>
            </a:r>
          </a:p>
          <a:p>
            <a:pPr marL="0" indent="0">
              <a:buNone/>
            </a:pPr>
            <a:r>
              <a:rPr lang="en-US" dirty="0"/>
              <a:t>1.) If RE is in the form </a:t>
            </a:r>
            <a:r>
              <a:rPr lang="en-US" b="1" dirty="0" err="1"/>
              <a:t>a+b</a:t>
            </a:r>
            <a:r>
              <a:rPr lang="en-US" b="1" dirty="0"/>
              <a:t>,</a:t>
            </a:r>
            <a:r>
              <a:rPr lang="en-US" dirty="0"/>
              <a:t> it can be represented as:</a:t>
            </a:r>
          </a:p>
          <a:p>
            <a:pPr marL="0" indent="0">
              <a:buNone/>
            </a:pPr>
            <a:endParaRPr lang="en-US" dirty="0"/>
          </a:p>
          <a:p>
            <a:pPr marL="0" indent="0">
              <a:buNone/>
            </a:pPr>
            <a:r>
              <a:rPr lang="en-US" dirty="0"/>
              <a:t> 2.) If RE is in the form </a:t>
            </a:r>
            <a:r>
              <a:rPr lang="en-US" b="1" dirty="0" err="1"/>
              <a:t>ab</a:t>
            </a:r>
            <a:r>
              <a:rPr lang="en-US" b="1" dirty="0"/>
              <a:t>, </a:t>
            </a:r>
            <a:r>
              <a:rPr lang="en-US" dirty="0"/>
              <a:t>it can be represented as:</a:t>
            </a:r>
          </a:p>
          <a:p>
            <a:pPr marL="0" indent="0">
              <a:buNone/>
            </a:pPr>
            <a:endParaRPr lang="en-US" dirty="0"/>
          </a:p>
          <a:p>
            <a:pPr marL="0" indent="0">
              <a:buNone/>
            </a:pPr>
            <a:r>
              <a:rPr lang="en-US" dirty="0"/>
              <a:t>3.) If RE is in the form of </a:t>
            </a:r>
            <a:r>
              <a:rPr lang="en-US" b="1" dirty="0"/>
              <a:t>a*, </a:t>
            </a:r>
            <a:r>
              <a:rPr lang="en-US" dirty="0"/>
              <a:t>it can be represented as:</a:t>
            </a:r>
          </a:p>
          <a:p>
            <a:pPr marL="0"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8325" y="1752600"/>
            <a:ext cx="4029075" cy="1166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2159" y="3352800"/>
            <a:ext cx="5695950" cy="127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5109069"/>
            <a:ext cx="1752600" cy="1506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842995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Example 1: </a:t>
            </a:r>
            <a:r>
              <a:rPr lang="en-US" sz="2800" dirty="0"/>
              <a:t>Design a Finite Automata from the given RE </a:t>
            </a:r>
            <a:r>
              <a:rPr lang="en-US" sz="2800" b="1" dirty="0"/>
              <a:t>[ </a:t>
            </a:r>
            <a:r>
              <a:rPr lang="en-US" sz="2800" b="1" dirty="0" err="1"/>
              <a:t>ab</a:t>
            </a:r>
            <a:r>
              <a:rPr lang="en-US" sz="2800" b="1" dirty="0"/>
              <a:t> + (b + </a:t>
            </a:r>
            <a:r>
              <a:rPr lang="en-US" sz="2800" b="1" dirty="0" err="1"/>
              <a:t>aa</a:t>
            </a:r>
            <a:r>
              <a:rPr lang="en-US" sz="2800" b="1" dirty="0"/>
              <a:t>)b* a ]</a:t>
            </a:r>
            <a:r>
              <a:rPr lang="en-US" sz="2800" dirty="0"/>
              <a:t>.</a:t>
            </a:r>
          </a:p>
        </p:txBody>
      </p:sp>
      <p:sp>
        <p:nvSpPr>
          <p:cNvPr id="3" name="Content Placeholder 2"/>
          <p:cNvSpPr>
            <a:spLocks noGrp="1"/>
          </p:cNvSpPr>
          <p:nvPr>
            <p:ph idx="1"/>
          </p:nvPr>
        </p:nvSpPr>
        <p:spPr/>
        <p:txBody>
          <a:bodyPr/>
          <a:lstStyle/>
          <a:p>
            <a:r>
              <a:rPr lang="en-US" b="1" dirty="0"/>
              <a:t>Solution. </a:t>
            </a:r>
            <a:r>
              <a:rPr lang="en-US" dirty="0"/>
              <a:t>At first, we will design the Transition diagram for the given expression.</a:t>
            </a:r>
          </a:p>
          <a:p>
            <a:r>
              <a:rPr lang="en-US" dirty="0"/>
              <a:t>STEP 1</a:t>
            </a:r>
          </a:p>
          <a:p>
            <a:endParaRPr lang="en-US" dirty="0"/>
          </a:p>
          <a:p>
            <a:r>
              <a:rPr lang="en-US" dirty="0"/>
              <a:t>STEP 2 </a:t>
            </a:r>
          </a:p>
          <a:p>
            <a:pPr marL="0" indent="0">
              <a:buNone/>
            </a:pPr>
            <a:endParaRPr lang="en-US" dirty="0"/>
          </a:p>
          <a:p>
            <a:endParaRPr 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590800"/>
            <a:ext cx="5758543" cy="1219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3810001"/>
            <a:ext cx="4263385" cy="2467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66838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STEP 3</a:t>
            </a:r>
          </a:p>
          <a:p>
            <a:endParaRPr lang="en-US" dirty="0"/>
          </a:p>
          <a:p>
            <a:endParaRPr lang="en-US" dirty="0"/>
          </a:p>
          <a:p>
            <a:endParaRPr lang="en-US" dirty="0"/>
          </a:p>
          <a:p>
            <a:r>
              <a:rPr lang="en-US" dirty="0"/>
              <a:t>STEP 4  </a:t>
            </a:r>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7365" y="228600"/>
            <a:ext cx="51816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7365" y="2895600"/>
            <a:ext cx="5121635" cy="3629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65620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STEP 5</a:t>
            </a:r>
          </a:p>
          <a:p>
            <a:endParaRPr lang="en-US" dirty="0"/>
          </a:p>
          <a:p>
            <a:endParaRPr lang="en-US" dirty="0"/>
          </a:p>
          <a:p>
            <a:endParaRPr lang="en-US" dirty="0"/>
          </a:p>
          <a:p>
            <a:pPr marL="0" indent="0">
              <a:buNone/>
            </a:pPr>
            <a:r>
              <a:rPr lang="en-US" dirty="0"/>
              <a:t>we have got NFA without ε. </a:t>
            </a:r>
          </a:p>
          <a:p>
            <a:pPr marL="0" indent="0">
              <a:buNone/>
            </a:pPr>
            <a:r>
              <a:rPr lang="en-US" dirty="0"/>
              <a:t>Transition Table For NFA:</a:t>
            </a:r>
          </a:p>
          <a:p>
            <a:pPr marL="0" indent="0">
              <a:buNone/>
            </a:pPr>
            <a:endParaRPr lang="en-US" dirty="0"/>
          </a:p>
          <a:p>
            <a:endParaRPr lang="en-US" dirty="0"/>
          </a:p>
          <a:p>
            <a:endParaRPr lang="en-US" dirty="0"/>
          </a:p>
          <a:p>
            <a:endParaRPr lang="en-US" dirty="0"/>
          </a:p>
          <a:p>
            <a:pPr marL="0" indent="0">
              <a:buNone/>
            </a:pPr>
            <a:endParaRPr lang="en-US"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0018" y="381000"/>
            <a:ext cx="4495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810000"/>
            <a:ext cx="8001000"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38382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Corresponding transition table for DFA is:</a:t>
            </a:r>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428969"/>
            <a:ext cx="7937485" cy="4971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925480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Example 2: </a:t>
            </a:r>
            <a:r>
              <a:rPr lang="en-US" sz="3600" dirty="0"/>
              <a:t>Design an NFA from the given RE </a:t>
            </a:r>
            <a:r>
              <a:rPr lang="en-US" sz="3600" b="1" dirty="0"/>
              <a:t>[ a (a* </a:t>
            </a:r>
            <a:r>
              <a:rPr lang="en-US" sz="3600" b="1" dirty="0" err="1"/>
              <a:t>ba</a:t>
            </a:r>
            <a:r>
              <a:rPr lang="en-US" sz="3600" b="1" dirty="0"/>
              <a:t>* </a:t>
            </a:r>
            <a:r>
              <a:rPr lang="en-US" sz="3600" b="1" dirty="0" err="1"/>
              <a:t>ba</a:t>
            </a:r>
            <a:r>
              <a:rPr lang="en-US" sz="3600" b="1" dirty="0"/>
              <a:t>*)* ]</a:t>
            </a:r>
            <a:r>
              <a:rPr lang="en-US" sz="3600" dirty="0"/>
              <a:t>.</a:t>
            </a:r>
          </a:p>
        </p:txBody>
      </p:sp>
      <p:sp>
        <p:nvSpPr>
          <p:cNvPr id="3" name="Content Placeholder 2"/>
          <p:cNvSpPr>
            <a:spLocks noGrp="1"/>
          </p:cNvSpPr>
          <p:nvPr>
            <p:ph idx="1"/>
          </p:nvPr>
        </p:nvSpPr>
        <p:spPr>
          <a:xfrm>
            <a:off x="457200" y="1295400"/>
            <a:ext cx="8229600" cy="4830763"/>
          </a:xfrm>
        </p:spPr>
        <p:txBody>
          <a:bodyPr/>
          <a:lstStyle/>
          <a:p>
            <a:pPr marL="0" indent="0">
              <a:buNone/>
            </a:pPr>
            <a:r>
              <a:rPr lang="en-US" dirty="0"/>
              <a:t>STEP 1</a:t>
            </a:r>
          </a:p>
          <a:p>
            <a:pPr marL="0" indent="0">
              <a:buNone/>
            </a:pPr>
            <a:endParaRPr lang="en-US" dirty="0"/>
          </a:p>
          <a:p>
            <a:pPr marL="0" indent="0">
              <a:buNone/>
            </a:pPr>
            <a:endParaRPr lang="en-US" dirty="0"/>
          </a:p>
          <a:p>
            <a:pPr marL="0" indent="0">
              <a:buNone/>
            </a:pPr>
            <a:r>
              <a:rPr lang="en-US" dirty="0"/>
              <a:t>STEP 2</a:t>
            </a:r>
          </a:p>
          <a:p>
            <a:pPr marL="0" indent="0">
              <a:buNone/>
            </a:pPr>
            <a:endParaRPr lang="en-US" dirty="0"/>
          </a:p>
          <a:p>
            <a:pPr marL="0" indent="0">
              <a:buNone/>
            </a:pPr>
            <a:endParaRPr lang="en-US" dirty="0"/>
          </a:p>
          <a:p>
            <a:pPr marL="0" indent="0">
              <a:buNone/>
            </a:pPr>
            <a:r>
              <a:rPr lang="en-US" dirty="0"/>
              <a:t>STEP 3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447800"/>
            <a:ext cx="7035166"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2805545"/>
            <a:ext cx="58293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14365" y="4710545"/>
            <a:ext cx="6019800" cy="2015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15150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Minimization of DFA</a:t>
            </a:r>
            <a:br>
              <a:rPr lang="en-US" b="1" dirty="0"/>
            </a:br>
            <a:endParaRPr lang="en-US" dirty="0"/>
          </a:p>
        </p:txBody>
      </p:sp>
      <p:sp>
        <p:nvSpPr>
          <p:cNvPr id="3" name="Content Placeholder 2"/>
          <p:cNvSpPr>
            <a:spLocks noGrp="1"/>
          </p:cNvSpPr>
          <p:nvPr>
            <p:ph idx="1"/>
          </p:nvPr>
        </p:nvSpPr>
        <p:spPr/>
        <p:txBody>
          <a:bodyPr>
            <a:noAutofit/>
          </a:bodyPr>
          <a:lstStyle/>
          <a:p>
            <a:r>
              <a:rPr lang="en-US" sz="4000" dirty="0"/>
              <a:t>The process of reducing a given DFA to its minimal form is called as minimization of DFA.</a:t>
            </a:r>
          </a:p>
          <a:p>
            <a:r>
              <a:rPr lang="en-US" sz="4000" dirty="0"/>
              <a:t>It contains the minimum number of states.</a:t>
            </a:r>
          </a:p>
          <a:p>
            <a:r>
              <a:rPr lang="en-US" sz="4000" dirty="0"/>
              <a:t>The DFA in its minimal form is called as a </a:t>
            </a:r>
            <a:r>
              <a:rPr lang="en-US" sz="4000" b="1" dirty="0"/>
              <a:t>Minimal DFA</a:t>
            </a:r>
            <a:r>
              <a:rPr lang="en-US" sz="4000" dirty="0"/>
              <a:t>.</a:t>
            </a:r>
          </a:p>
          <a:p>
            <a:pPr marL="0" indent="0">
              <a:buNone/>
            </a:pPr>
            <a:endParaRPr lang="en-US" sz="4000" dirty="0"/>
          </a:p>
        </p:txBody>
      </p:sp>
    </p:spTree>
    <p:extLst>
      <p:ext uri="{BB962C8B-B14F-4D97-AF65-F5344CB8AC3E}">
        <p14:creationId xmlns:p14="http://schemas.microsoft.com/office/powerpoint/2010/main" val="7682062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How To Minimize DFA?</a:t>
            </a:r>
            <a:endParaRPr lang="en-US" b="1" dirty="0"/>
          </a:p>
        </p:txBody>
      </p:sp>
      <p:sp>
        <p:nvSpPr>
          <p:cNvPr id="3" name="Content Placeholder 2"/>
          <p:cNvSpPr>
            <a:spLocks noGrp="1"/>
          </p:cNvSpPr>
          <p:nvPr>
            <p:ph idx="1"/>
          </p:nvPr>
        </p:nvSpPr>
        <p:spPr/>
        <p:txBody>
          <a:bodyPr>
            <a:noAutofit/>
          </a:bodyPr>
          <a:lstStyle/>
          <a:p>
            <a:r>
              <a:rPr lang="en-US" sz="4000" dirty="0"/>
              <a:t>The two popular methods for minimizing a DFA are-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923308"/>
            <a:ext cx="7738672" cy="3248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026631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Minimization of DFA Using Equivalence Theorem-</a:t>
            </a:r>
            <a:endParaRPr lang="en-US" b="1" dirty="0"/>
          </a:p>
        </p:txBody>
      </p:sp>
      <p:sp>
        <p:nvSpPr>
          <p:cNvPr id="3" name="Content Placeholder 2"/>
          <p:cNvSpPr>
            <a:spLocks noGrp="1"/>
          </p:cNvSpPr>
          <p:nvPr>
            <p:ph idx="1"/>
          </p:nvPr>
        </p:nvSpPr>
        <p:spPr>
          <a:xfrm>
            <a:off x="533400" y="1524000"/>
            <a:ext cx="8229600" cy="4525963"/>
          </a:xfrm>
        </p:spPr>
        <p:txBody>
          <a:bodyPr>
            <a:noAutofit/>
          </a:bodyPr>
          <a:lstStyle/>
          <a:p>
            <a:pPr marL="0" indent="0">
              <a:buNone/>
            </a:pPr>
            <a:r>
              <a:rPr lang="en-US" sz="2800" b="1" u="sng" dirty="0"/>
              <a:t>Step-01:</a:t>
            </a:r>
            <a:endParaRPr lang="en-US" sz="2800" b="1" dirty="0"/>
          </a:p>
          <a:p>
            <a:pPr marL="0" indent="0">
              <a:buNone/>
            </a:pPr>
            <a:r>
              <a:rPr lang="en-US" sz="2800" dirty="0"/>
              <a:t>Eliminate all the dead states and inaccessible states from the given DFA (if any).</a:t>
            </a:r>
          </a:p>
          <a:p>
            <a:pPr marL="0" indent="0">
              <a:buNone/>
            </a:pPr>
            <a:r>
              <a:rPr lang="en-US" sz="2800" b="1" dirty="0"/>
              <a:t>	</a:t>
            </a:r>
            <a:r>
              <a:rPr lang="en-US" sz="2800" b="1" u="sng" dirty="0"/>
              <a:t>Dead State</a:t>
            </a:r>
            <a:r>
              <a:rPr lang="en-US" sz="2800" dirty="0"/>
              <a:t> </a:t>
            </a:r>
          </a:p>
          <a:p>
            <a:pPr marL="0" indent="0">
              <a:buNone/>
            </a:pPr>
            <a:r>
              <a:rPr lang="en-US" sz="2800" dirty="0"/>
              <a:t>All those non-final states which transit to itself for all input symbols in ∑ are called as dead states. </a:t>
            </a:r>
          </a:p>
          <a:p>
            <a:pPr marL="0" indent="0">
              <a:buNone/>
            </a:pPr>
            <a:r>
              <a:rPr lang="en-US" sz="2800" b="1" dirty="0"/>
              <a:t>	</a:t>
            </a:r>
            <a:r>
              <a:rPr lang="en-US" sz="2800" b="1" u="sng" dirty="0"/>
              <a:t>Inaccessible State</a:t>
            </a:r>
            <a:r>
              <a:rPr lang="en-US" sz="2800" dirty="0"/>
              <a:t> </a:t>
            </a:r>
          </a:p>
          <a:p>
            <a:pPr marL="0" indent="0">
              <a:buNone/>
            </a:pPr>
            <a:r>
              <a:rPr lang="en-US" sz="2800" dirty="0"/>
              <a:t>All those states which can never be reached from the initial state are called as inaccessible states.</a:t>
            </a:r>
          </a:p>
          <a:p>
            <a:endParaRPr lang="en-US" sz="2800" dirty="0"/>
          </a:p>
        </p:txBody>
      </p:sp>
    </p:spTree>
    <p:extLst>
      <p:ext uri="{BB962C8B-B14F-4D97-AF65-F5344CB8AC3E}">
        <p14:creationId xmlns:p14="http://schemas.microsoft.com/office/powerpoint/2010/main" val="204314160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10000"/>
          </a:bodyPr>
          <a:lstStyle/>
          <a:p>
            <a:pPr marL="0" indent="0">
              <a:buNone/>
            </a:pPr>
            <a:r>
              <a:rPr lang="en-US" b="1" u="sng" dirty="0"/>
              <a:t>Step-02:</a:t>
            </a:r>
            <a:endParaRPr lang="en-US" b="1" dirty="0"/>
          </a:p>
          <a:p>
            <a:r>
              <a:rPr lang="en-US" dirty="0"/>
              <a:t>Draw a state transition table for the given DFA.</a:t>
            </a:r>
          </a:p>
          <a:p>
            <a:r>
              <a:rPr lang="en-US" dirty="0"/>
              <a:t>Transition table shows the transition of all states on all input symbols in Σ.</a:t>
            </a:r>
          </a:p>
          <a:p>
            <a:pPr marL="0" indent="0">
              <a:buNone/>
            </a:pPr>
            <a:r>
              <a:rPr lang="en-US" b="1" u="sng" dirty="0"/>
              <a:t>Step-03:</a:t>
            </a:r>
            <a:endParaRPr lang="en-US" b="1" dirty="0"/>
          </a:p>
          <a:p>
            <a:r>
              <a:rPr lang="en-US" dirty="0"/>
              <a:t>Now, start applying equivalence theorem.</a:t>
            </a:r>
          </a:p>
          <a:p>
            <a:r>
              <a:rPr lang="en-US" dirty="0"/>
              <a:t>Take a counter variable k and initialize it with value 0.</a:t>
            </a:r>
          </a:p>
          <a:p>
            <a:r>
              <a:rPr lang="en-US" dirty="0"/>
              <a:t>Divide Q (set of states) into two sets such that one set contains all the non-final states and other set contains all the final states.</a:t>
            </a:r>
          </a:p>
          <a:p>
            <a:r>
              <a:rPr lang="en-US" dirty="0"/>
              <a:t>This partition is called P</a:t>
            </a:r>
            <a:r>
              <a:rPr lang="en-US" baseline="-25000" dirty="0"/>
              <a:t>0</a:t>
            </a:r>
            <a:r>
              <a:rPr lang="en-US" dirty="0"/>
              <a:t>.</a:t>
            </a:r>
          </a:p>
          <a:p>
            <a:endParaRPr lang="en-US" dirty="0"/>
          </a:p>
          <a:p>
            <a:endParaRPr lang="en-US" dirty="0"/>
          </a:p>
        </p:txBody>
      </p:sp>
    </p:spTree>
    <p:extLst>
      <p:ext uri="{BB962C8B-B14F-4D97-AF65-F5344CB8AC3E}">
        <p14:creationId xmlns:p14="http://schemas.microsoft.com/office/powerpoint/2010/main" val="333682209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92500" lnSpcReduction="10000"/>
          </a:bodyPr>
          <a:lstStyle/>
          <a:p>
            <a:pPr marL="0" indent="0">
              <a:buNone/>
            </a:pPr>
            <a:r>
              <a:rPr lang="en-US" b="1" u="sng" dirty="0"/>
              <a:t>Step-04:</a:t>
            </a:r>
            <a:endParaRPr lang="en-US" dirty="0"/>
          </a:p>
          <a:p>
            <a:r>
              <a:rPr lang="en-US" dirty="0"/>
              <a:t>Increment k by 1.</a:t>
            </a:r>
          </a:p>
          <a:p>
            <a:r>
              <a:rPr lang="en-US" dirty="0"/>
              <a:t>Find </a:t>
            </a:r>
            <a:r>
              <a:rPr lang="en-US" dirty="0" err="1"/>
              <a:t>P</a:t>
            </a:r>
            <a:r>
              <a:rPr lang="en-US" baseline="-25000" dirty="0" err="1"/>
              <a:t>k</a:t>
            </a:r>
            <a:r>
              <a:rPr lang="en-US" dirty="0"/>
              <a:t> by partitioning the different sets of </a:t>
            </a:r>
          </a:p>
          <a:p>
            <a:pPr marL="0" indent="0">
              <a:buNone/>
            </a:pPr>
            <a:r>
              <a:rPr lang="en-US" dirty="0"/>
              <a:t>    P</a:t>
            </a:r>
            <a:r>
              <a:rPr lang="en-US" baseline="-25000" dirty="0"/>
              <a:t>k-1</a:t>
            </a:r>
            <a:r>
              <a:rPr lang="en-US" dirty="0"/>
              <a:t> .</a:t>
            </a:r>
          </a:p>
          <a:p>
            <a:r>
              <a:rPr lang="en-US" dirty="0"/>
              <a:t>In each set of P</a:t>
            </a:r>
            <a:r>
              <a:rPr lang="en-US" baseline="-25000" dirty="0"/>
              <a:t>k-1</a:t>
            </a:r>
            <a:r>
              <a:rPr lang="en-US" dirty="0"/>
              <a:t> , consider all the possible pair of states within each set and if the two states are distinguishable, partition the set into different sets in </a:t>
            </a:r>
            <a:r>
              <a:rPr lang="en-US" dirty="0" err="1"/>
              <a:t>P</a:t>
            </a:r>
            <a:r>
              <a:rPr lang="en-US" baseline="-25000" dirty="0" err="1"/>
              <a:t>k</a:t>
            </a:r>
            <a:endParaRPr lang="en-US" dirty="0"/>
          </a:p>
          <a:p>
            <a:pPr marL="0" indent="0">
              <a:buNone/>
            </a:pPr>
            <a:endParaRPr lang="en-US" b="1" dirty="0"/>
          </a:p>
          <a:p>
            <a:pPr marL="0" indent="0">
              <a:buNone/>
            </a:pPr>
            <a:r>
              <a:rPr lang="en-US" b="1" dirty="0"/>
              <a:t>Two states q</a:t>
            </a:r>
            <a:r>
              <a:rPr lang="en-US" b="1" baseline="-25000" dirty="0"/>
              <a:t>1</a:t>
            </a:r>
            <a:r>
              <a:rPr lang="en-US" b="1" dirty="0"/>
              <a:t> and q</a:t>
            </a:r>
            <a:r>
              <a:rPr lang="en-US" b="1" baseline="-25000" dirty="0"/>
              <a:t>2</a:t>
            </a:r>
            <a:r>
              <a:rPr lang="en-US" b="1" dirty="0"/>
              <a:t> are distinguishable in partition </a:t>
            </a:r>
            <a:r>
              <a:rPr lang="en-US" b="1" dirty="0" err="1"/>
              <a:t>P</a:t>
            </a:r>
            <a:r>
              <a:rPr lang="en-US" b="1" baseline="-25000" dirty="0" err="1"/>
              <a:t>k</a:t>
            </a:r>
            <a:r>
              <a:rPr lang="en-US" b="1" dirty="0"/>
              <a:t> for any input symbol ‘</a:t>
            </a:r>
            <a:r>
              <a:rPr lang="en-US" b="1" dirty="0" err="1"/>
              <a:t>a’,if</a:t>
            </a:r>
            <a:r>
              <a:rPr lang="en-US" b="1" dirty="0"/>
              <a:t> δ (q</a:t>
            </a:r>
            <a:r>
              <a:rPr lang="en-US" b="1" baseline="-25000" dirty="0"/>
              <a:t>1</a:t>
            </a:r>
            <a:r>
              <a:rPr lang="en-US" b="1" dirty="0"/>
              <a:t>, a) and δ (q</a:t>
            </a:r>
            <a:r>
              <a:rPr lang="en-US" b="1" baseline="-25000" dirty="0"/>
              <a:t>2</a:t>
            </a:r>
            <a:r>
              <a:rPr lang="en-US" b="1" dirty="0"/>
              <a:t>, a) are in different sets in partition P</a:t>
            </a:r>
            <a:r>
              <a:rPr lang="en-US" b="1" baseline="-25000" dirty="0"/>
              <a:t>k-1</a:t>
            </a:r>
            <a:endParaRPr lang="en-US" b="1" dirty="0"/>
          </a:p>
          <a:p>
            <a:endParaRPr lang="en-US" dirty="0"/>
          </a:p>
        </p:txBody>
      </p:sp>
    </p:spTree>
    <p:extLst>
      <p:ext uri="{BB962C8B-B14F-4D97-AF65-F5344CB8AC3E}">
        <p14:creationId xmlns:p14="http://schemas.microsoft.com/office/powerpoint/2010/main" val="40520471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marL="0" indent="0">
              <a:buNone/>
            </a:pPr>
            <a:r>
              <a:rPr lang="en-US" b="1" u="sng" dirty="0"/>
              <a:t>Step-05:</a:t>
            </a:r>
            <a:r>
              <a:rPr lang="en-US" dirty="0"/>
              <a:t> </a:t>
            </a:r>
          </a:p>
          <a:p>
            <a:r>
              <a:rPr lang="en-US" dirty="0"/>
              <a:t>Repeat step-04 until no change in partition occurs.</a:t>
            </a:r>
          </a:p>
          <a:p>
            <a:r>
              <a:rPr lang="en-US" dirty="0"/>
              <a:t>In other words, when you find </a:t>
            </a:r>
            <a:r>
              <a:rPr lang="en-US" dirty="0" err="1"/>
              <a:t>P</a:t>
            </a:r>
            <a:r>
              <a:rPr lang="en-US" baseline="-25000" dirty="0" err="1"/>
              <a:t>k</a:t>
            </a:r>
            <a:r>
              <a:rPr lang="en-US" dirty="0"/>
              <a:t> = P</a:t>
            </a:r>
            <a:r>
              <a:rPr lang="en-US" baseline="-25000" dirty="0"/>
              <a:t>k-1</a:t>
            </a:r>
            <a:r>
              <a:rPr lang="en-US" dirty="0"/>
              <a:t>, stop. </a:t>
            </a:r>
          </a:p>
          <a:p>
            <a:pPr marL="0" indent="0">
              <a:buNone/>
            </a:pPr>
            <a:r>
              <a:rPr lang="en-US" b="1" u="sng" dirty="0"/>
              <a:t>Step-06:</a:t>
            </a:r>
            <a:endParaRPr lang="en-US" b="1" dirty="0"/>
          </a:p>
          <a:p>
            <a:r>
              <a:rPr lang="en-US" dirty="0"/>
              <a:t>All those states which belong to the same set are equivalent.</a:t>
            </a:r>
          </a:p>
          <a:p>
            <a:r>
              <a:rPr lang="en-US" dirty="0"/>
              <a:t>The equivalent states are merged to form a single state in the minimal DFA.</a:t>
            </a:r>
          </a:p>
          <a:p>
            <a:pPr marL="0" indent="0">
              <a:buNone/>
            </a:pPr>
            <a:r>
              <a:rPr lang="en-US" b="1" dirty="0"/>
              <a:t>Number of states in Minimal DFA= Number of sets in </a:t>
            </a:r>
            <a:r>
              <a:rPr lang="en-US" b="1" dirty="0" err="1"/>
              <a:t>P</a:t>
            </a:r>
            <a:r>
              <a:rPr lang="en-US" b="1" baseline="-25000" dirty="0" err="1"/>
              <a:t>k</a:t>
            </a:r>
            <a:endParaRPr lang="en-US" dirty="0"/>
          </a:p>
          <a:p>
            <a:endParaRPr lang="en-US" dirty="0"/>
          </a:p>
          <a:p>
            <a:endParaRPr lang="en-US" dirty="0"/>
          </a:p>
        </p:txBody>
      </p:sp>
    </p:spTree>
    <p:extLst>
      <p:ext uri="{BB962C8B-B14F-4D97-AF65-F5344CB8AC3E}">
        <p14:creationId xmlns:p14="http://schemas.microsoft.com/office/powerpoint/2010/main" val="27689256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u="sng" dirty="0"/>
              <a:t>Problem-01:</a:t>
            </a:r>
            <a:br>
              <a:rPr lang="en-US" b="1" dirty="0"/>
            </a:br>
            <a:endParaRPr lang="en-US" dirty="0"/>
          </a:p>
        </p:txBody>
      </p:sp>
      <p:sp>
        <p:nvSpPr>
          <p:cNvPr id="3" name="Content Placeholder 2"/>
          <p:cNvSpPr>
            <a:spLocks noGrp="1"/>
          </p:cNvSpPr>
          <p:nvPr>
            <p:ph idx="1"/>
          </p:nvPr>
        </p:nvSpPr>
        <p:spPr>
          <a:xfrm>
            <a:off x="457200" y="838200"/>
            <a:ext cx="8229600" cy="5287963"/>
          </a:xfrm>
        </p:spPr>
        <p:txBody>
          <a:bodyPr/>
          <a:lstStyle/>
          <a:p>
            <a:pPr marL="0" indent="0">
              <a:buNone/>
            </a:pPr>
            <a:r>
              <a:rPr lang="en-US" dirty="0"/>
              <a:t>Minimize the given DFA-</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76400"/>
            <a:ext cx="6553200" cy="436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978269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u="sng" dirty="0"/>
              <a:t>Solution-</a:t>
            </a:r>
            <a:br>
              <a:rPr lang="en-US" b="1" dirty="0"/>
            </a:br>
            <a:endParaRPr lang="en-US" dirty="0"/>
          </a:p>
        </p:txBody>
      </p:sp>
      <p:sp>
        <p:nvSpPr>
          <p:cNvPr id="3" name="Content Placeholder 2"/>
          <p:cNvSpPr>
            <a:spLocks noGrp="1"/>
          </p:cNvSpPr>
          <p:nvPr>
            <p:ph idx="1"/>
          </p:nvPr>
        </p:nvSpPr>
        <p:spPr>
          <a:xfrm>
            <a:off x="457200" y="685800"/>
            <a:ext cx="8229600" cy="5440363"/>
          </a:xfrm>
        </p:spPr>
        <p:txBody>
          <a:bodyPr/>
          <a:lstStyle/>
          <a:p>
            <a:pPr marL="0" indent="0">
              <a:buNone/>
            </a:pPr>
            <a:r>
              <a:rPr lang="en-US" b="1" u="sng" dirty="0"/>
              <a:t>Step-01:</a:t>
            </a:r>
            <a:endParaRPr lang="en-US" b="1" dirty="0"/>
          </a:p>
          <a:p>
            <a:pPr marL="0" indent="0">
              <a:buNone/>
            </a:pPr>
            <a:r>
              <a:rPr lang="en-US" dirty="0"/>
              <a:t>The given DFA contains no dead states and inaccessible states.</a:t>
            </a:r>
          </a:p>
          <a:p>
            <a:pPr marL="0" indent="0">
              <a:buNone/>
            </a:pPr>
            <a:r>
              <a:rPr lang="en-US" b="1" u="sng" dirty="0"/>
              <a:t>Step-02:</a:t>
            </a:r>
            <a:endParaRPr lang="en-US" b="1" dirty="0"/>
          </a:p>
          <a:p>
            <a:pPr marL="0" indent="0">
              <a:buNone/>
            </a:pPr>
            <a:r>
              <a:rPr lang="en-US" dirty="0"/>
              <a:t>Draw a state transition table-</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359421169"/>
              </p:ext>
            </p:extLst>
          </p:nvPr>
        </p:nvGraphicFramePr>
        <p:xfrm>
          <a:off x="2286000" y="3581400"/>
          <a:ext cx="3975497" cy="3169920"/>
        </p:xfrm>
        <a:graphic>
          <a:graphicData uri="http://schemas.openxmlformats.org/drawingml/2006/table">
            <a:tbl>
              <a:tblPr/>
              <a:tblGrid>
                <a:gridCol w="1325067">
                  <a:extLst>
                    <a:ext uri="{9D8B030D-6E8A-4147-A177-3AD203B41FA5}">
                      <a16:colId xmlns:a16="http://schemas.microsoft.com/office/drawing/2014/main" val="20000"/>
                    </a:ext>
                  </a:extLst>
                </a:gridCol>
                <a:gridCol w="1325067">
                  <a:extLst>
                    <a:ext uri="{9D8B030D-6E8A-4147-A177-3AD203B41FA5}">
                      <a16:colId xmlns:a16="http://schemas.microsoft.com/office/drawing/2014/main" val="20001"/>
                    </a:ext>
                  </a:extLst>
                </a:gridCol>
                <a:gridCol w="1325363">
                  <a:extLst>
                    <a:ext uri="{9D8B030D-6E8A-4147-A177-3AD203B41FA5}">
                      <a16:colId xmlns:a16="http://schemas.microsoft.com/office/drawing/2014/main" val="20002"/>
                    </a:ext>
                  </a:extLst>
                </a:gridCol>
              </a:tblGrid>
              <a:tr h="469900">
                <a:tc>
                  <a:txBody>
                    <a:bodyPr/>
                    <a:lstStyle/>
                    <a:p>
                      <a:pPr algn="ctr"/>
                      <a:endParaRPr lang="en-US" sz="24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800" b="1" dirty="0">
                          <a:solidFill>
                            <a:schemeClr val="bg1"/>
                          </a:solidFill>
                          <a:effectLst/>
                        </a:rPr>
                        <a:t>a</a:t>
                      </a:r>
                      <a:endParaRPr lang="en-US" sz="4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800" b="1" dirty="0">
                          <a:solidFill>
                            <a:schemeClr val="bg1"/>
                          </a:solidFill>
                          <a:effectLst/>
                        </a:rPr>
                        <a:t>b</a:t>
                      </a:r>
                      <a:endParaRPr lang="en-US" sz="4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0"/>
                  </a:ext>
                </a:extLst>
              </a:tr>
              <a:tr h="469900">
                <a:tc>
                  <a:txBody>
                    <a:bodyPr/>
                    <a:lstStyle/>
                    <a:p>
                      <a:pPr algn="ctr"/>
                      <a:r>
                        <a:rPr lang="en-US" sz="2400" dirty="0">
                          <a:solidFill>
                            <a:schemeClr val="bg1"/>
                          </a:solidFill>
                          <a:effectLst/>
                        </a:rPr>
                        <a:t>→</a:t>
                      </a:r>
                      <a:r>
                        <a:rPr lang="en-US" sz="2400" b="1" dirty="0">
                          <a:solidFill>
                            <a:schemeClr val="bg1"/>
                          </a:solidFill>
                          <a:effectLst/>
                        </a:rPr>
                        <a:t>q0</a:t>
                      </a:r>
                      <a:endParaRPr lang="en-US" sz="36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1"/>
                  </a:ext>
                </a:extLst>
              </a:tr>
              <a:tr h="469900">
                <a:tc>
                  <a:txBody>
                    <a:bodyPr/>
                    <a:lstStyle/>
                    <a:p>
                      <a:pPr algn="ctr"/>
                      <a:r>
                        <a:rPr lang="en-US" sz="2400" b="1" dirty="0">
                          <a:solidFill>
                            <a:schemeClr val="bg1"/>
                          </a:solidFill>
                          <a:effectLst/>
                        </a:rPr>
                        <a:t>q1</a:t>
                      </a:r>
                      <a:endParaRPr lang="en-US" sz="36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a:solidFill>
                            <a:schemeClr val="bg1"/>
                          </a:solidFill>
                          <a:effectLst/>
                        </a:rPr>
                        <a:t>q3</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2"/>
                  </a:ext>
                </a:extLst>
              </a:tr>
              <a:tr h="469900">
                <a:tc>
                  <a:txBody>
                    <a:bodyPr/>
                    <a:lstStyle/>
                    <a:p>
                      <a:pPr algn="ctr"/>
                      <a:r>
                        <a:rPr lang="en-US" sz="2400" b="1" dirty="0">
                          <a:solidFill>
                            <a:schemeClr val="bg1"/>
                          </a:solidFill>
                          <a:effectLst/>
                        </a:rPr>
                        <a:t>q2</a:t>
                      </a:r>
                      <a:endParaRPr lang="en-US" sz="36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3"/>
                  </a:ext>
                </a:extLst>
              </a:tr>
              <a:tr h="469900">
                <a:tc>
                  <a:txBody>
                    <a:bodyPr/>
                    <a:lstStyle/>
                    <a:p>
                      <a:pPr algn="ctr"/>
                      <a:r>
                        <a:rPr lang="en-US" sz="2400" b="1" dirty="0">
                          <a:solidFill>
                            <a:schemeClr val="bg1"/>
                          </a:solidFill>
                          <a:effectLst/>
                        </a:rPr>
                        <a:t>q3</a:t>
                      </a:r>
                      <a:endParaRPr lang="en-US" sz="36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4"/>
                  </a:ext>
                </a:extLst>
              </a:tr>
              <a:tr h="469900">
                <a:tc>
                  <a:txBody>
                    <a:bodyPr/>
                    <a:lstStyle/>
                    <a:p>
                      <a:pPr algn="ctr"/>
                      <a:r>
                        <a:rPr lang="en-US" sz="2400" b="1" dirty="0">
                          <a:solidFill>
                            <a:schemeClr val="bg1"/>
                          </a:solidFill>
                          <a:effectLst/>
                        </a:rPr>
                        <a:t>*q4</a:t>
                      </a:r>
                      <a:endParaRPr lang="en-US" sz="36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400" dirty="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0779414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a:buNone/>
            </a:pPr>
            <a:r>
              <a:rPr lang="en-US" b="1" u="sng" dirty="0"/>
              <a:t>Step-03:</a:t>
            </a:r>
            <a:endParaRPr lang="en-US" b="1" dirty="0"/>
          </a:p>
          <a:p>
            <a:pPr marL="0" indent="0">
              <a:buNone/>
            </a:pPr>
            <a:r>
              <a:rPr lang="en-US" dirty="0"/>
              <a:t>Now using Equivalence Theorem, we have-</a:t>
            </a:r>
          </a:p>
          <a:p>
            <a:pPr marL="0" indent="0">
              <a:buNone/>
            </a:pPr>
            <a:r>
              <a:rPr lang="en-US" dirty="0"/>
              <a:t>P</a:t>
            </a:r>
            <a:r>
              <a:rPr lang="en-US" baseline="-25000" dirty="0"/>
              <a:t>0</a:t>
            </a:r>
            <a:r>
              <a:rPr lang="en-US" dirty="0"/>
              <a:t> = { q</a:t>
            </a:r>
            <a:r>
              <a:rPr lang="en-US" baseline="-25000" dirty="0"/>
              <a:t>0</a:t>
            </a:r>
            <a:r>
              <a:rPr lang="en-US" dirty="0"/>
              <a:t> , q</a:t>
            </a:r>
            <a:r>
              <a:rPr lang="en-US" baseline="-25000" dirty="0"/>
              <a:t>1</a:t>
            </a:r>
            <a:r>
              <a:rPr lang="en-US" dirty="0"/>
              <a:t> , q</a:t>
            </a:r>
            <a:r>
              <a:rPr lang="en-US" baseline="-25000" dirty="0"/>
              <a:t>2</a:t>
            </a:r>
            <a:r>
              <a:rPr lang="en-US" dirty="0"/>
              <a:t> , q</a:t>
            </a:r>
            <a:r>
              <a:rPr lang="en-US" baseline="-25000" dirty="0"/>
              <a:t>3</a:t>
            </a:r>
            <a:r>
              <a:rPr lang="en-US" dirty="0"/>
              <a:t> } { q</a:t>
            </a:r>
            <a:r>
              <a:rPr lang="en-US" baseline="-25000" dirty="0"/>
              <a:t>4</a:t>
            </a:r>
            <a:r>
              <a:rPr lang="en-US" dirty="0"/>
              <a:t> }</a:t>
            </a:r>
          </a:p>
          <a:p>
            <a:pPr marL="0" indent="0">
              <a:buNone/>
            </a:pPr>
            <a:r>
              <a:rPr lang="en-US" dirty="0"/>
              <a:t>P</a:t>
            </a:r>
            <a:r>
              <a:rPr lang="en-US" baseline="-25000" dirty="0"/>
              <a:t>1</a:t>
            </a:r>
            <a:r>
              <a:rPr lang="en-US" dirty="0"/>
              <a:t> = { q</a:t>
            </a:r>
            <a:r>
              <a:rPr lang="en-US" baseline="-25000" dirty="0"/>
              <a:t>0</a:t>
            </a:r>
            <a:r>
              <a:rPr lang="en-US" dirty="0"/>
              <a:t> , q</a:t>
            </a:r>
            <a:r>
              <a:rPr lang="en-US" baseline="-25000" dirty="0"/>
              <a:t>1</a:t>
            </a:r>
            <a:r>
              <a:rPr lang="en-US" dirty="0"/>
              <a:t> , q</a:t>
            </a:r>
            <a:r>
              <a:rPr lang="en-US" baseline="-25000" dirty="0"/>
              <a:t>2</a:t>
            </a:r>
            <a:r>
              <a:rPr lang="en-US" dirty="0"/>
              <a:t> } { q</a:t>
            </a:r>
            <a:r>
              <a:rPr lang="en-US" baseline="-25000" dirty="0"/>
              <a:t>3</a:t>
            </a:r>
            <a:r>
              <a:rPr lang="en-US" dirty="0"/>
              <a:t> } { q</a:t>
            </a:r>
            <a:r>
              <a:rPr lang="en-US" baseline="-25000" dirty="0"/>
              <a:t>4</a:t>
            </a:r>
            <a:r>
              <a:rPr lang="en-US" dirty="0"/>
              <a:t> }</a:t>
            </a:r>
          </a:p>
          <a:p>
            <a:pPr marL="0" indent="0">
              <a:buNone/>
            </a:pPr>
            <a:r>
              <a:rPr lang="en-US" dirty="0"/>
              <a:t>P</a:t>
            </a:r>
            <a:r>
              <a:rPr lang="en-US" baseline="-25000" dirty="0"/>
              <a:t>2</a:t>
            </a:r>
            <a:r>
              <a:rPr lang="en-US" dirty="0"/>
              <a:t> = { q</a:t>
            </a:r>
            <a:r>
              <a:rPr lang="en-US" baseline="-25000" dirty="0"/>
              <a:t>0</a:t>
            </a:r>
            <a:r>
              <a:rPr lang="en-US" dirty="0"/>
              <a:t> , q</a:t>
            </a:r>
            <a:r>
              <a:rPr lang="en-US" baseline="-25000" dirty="0"/>
              <a:t>2</a:t>
            </a:r>
            <a:r>
              <a:rPr lang="en-US" dirty="0"/>
              <a:t> } { q</a:t>
            </a:r>
            <a:r>
              <a:rPr lang="en-US" baseline="-25000" dirty="0"/>
              <a:t>1</a:t>
            </a:r>
            <a:r>
              <a:rPr lang="en-US" dirty="0"/>
              <a:t> } { q</a:t>
            </a:r>
            <a:r>
              <a:rPr lang="en-US" baseline="-25000" dirty="0"/>
              <a:t>3</a:t>
            </a:r>
            <a:r>
              <a:rPr lang="en-US" dirty="0"/>
              <a:t> } { q</a:t>
            </a:r>
            <a:r>
              <a:rPr lang="en-US" baseline="-25000" dirty="0"/>
              <a:t>4</a:t>
            </a:r>
            <a:r>
              <a:rPr lang="en-US" dirty="0"/>
              <a:t> }</a:t>
            </a:r>
          </a:p>
          <a:p>
            <a:pPr marL="0" indent="0">
              <a:buNone/>
            </a:pPr>
            <a:r>
              <a:rPr lang="en-US" dirty="0"/>
              <a:t>P</a:t>
            </a:r>
            <a:r>
              <a:rPr lang="en-US" baseline="-25000" dirty="0"/>
              <a:t>3</a:t>
            </a:r>
            <a:r>
              <a:rPr lang="en-US" dirty="0"/>
              <a:t> = { q</a:t>
            </a:r>
            <a:r>
              <a:rPr lang="en-US" baseline="-25000" dirty="0"/>
              <a:t>0</a:t>
            </a:r>
            <a:r>
              <a:rPr lang="en-US" dirty="0"/>
              <a:t> , q</a:t>
            </a:r>
            <a:r>
              <a:rPr lang="en-US" baseline="-25000" dirty="0"/>
              <a:t>2</a:t>
            </a:r>
            <a:r>
              <a:rPr lang="en-US" dirty="0"/>
              <a:t> } { q</a:t>
            </a:r>
            <a:r>
              <a:rPr lang="en-US" baseline="-25000" dirty="0"/>
              <a:t>1</a:t>
            </a:r>
            <a:r>
              <a:rPr lang="en-US" dirty="0"/>
              <a:t> } { q</a:t>
            </a:r>
            <a:r>
              <a:rPr lang="en-US" baseline="-25000" dirty="0"/>
              <a:t>3</a:t>
            </a:r>
            <a:r>
              <a:rPr lang="en-US" dirty="0"/>
              <a:t> } { q</a:t>
            </a:r>
            <a:r>
              <a:rPr lang="en-US" baseline="-25000" dirty="0"/>
              <a:t>4</a:t>
            </a:r>
            <a:r>
              <a:rPr lang="en-US" dirty="0"/>
              <a:t> }</a:t>
            </a:r>
          </a:p>
          <a:p>
            <a:pPr marL="0" indent="0">
              <a:buNone/>
            </a:pPr>
            <a:r>
              <a:rPr lang="en-US" dirty="0"/>
              <a:t>Since P</a:t>
            </a:r>
            <a:r>
              <a:rPr lang="en-US" baseline="-25000" dirty="0"/>
              <a:t>3</a:t>
            </a:r>
            <a:r>
              <a:rPr lang="en-US" dirty="0"/>
              <a:t> = P</a:t>
            </a:r>
            <a:r>
              <a:rPr lang="en-US" baseline="-25000" dirty="0"/>
              <a:t>2</a:t>
            </a:r>
            <a:r>
              <a:rPr lang="en-US" dirty="0"/>
              <a:t>, so we stop.</a:t>
            </a:r>
          </a:p>
          <a:p>
            <a:pPr marL="0" indent="0">
              <a:buNone/>
            </a:pPr>
            <a:r>
              <a:rPr lang="en-US" dirty="0"/>
              <a:t>From P</a:t>
            </a:r>
            <a:r>
              <a:rPr lang="en-US" baseline="-25000" dirty="0"/>
              <a:t>3</a:t>
            </a:r>
            <a:r>
              <a:rPr lang="en-US" dirty="0"/>
              <a:t>, we infer that states q</a:t>
            </a:r>
            <a:r>
              <a:rPr lang="en-US" baseline="-25000" dirty="0"/>
              <a:t>0</a:t>
            </a:r>
            <a:r>
              <a:rPr lang="en-US" dirty="0"/>
              <a:t> and q</a:t>
            </a:r>
            <a:r>
              <a:rPr lang="en-US" baseline="-25000" dirty="0"/>
              <a:t>2</a:t>
            </a:r>
            <a:r>
              <a:rPr lang="en-US" dirty="0"/>
              <a:t> are equivalent and can be merged together.</a:t>
            </a:r>
          </a:p>
          <a:p>
            <a:endParaRPr lang="en-US" dirty="0"/>
          </a:p>
        </p:txBody>
      </p:sp>
    </p:spTree>
    <p:extLst>
      <p:ext uri="{BB962C8B-B14F-4D97-AF65-F5344CB8AC3E}">
        <p14:creationId xmlns:p14="http://schemas.microsoft.com/office/powerpoint/2010/main" val="184630365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2800" dirty="0"/>
              <a:t>So, minimal DFA is-</a:t>
            </a: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609600"/>
            <a:ext cx="75438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304095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3200" b="1" u="sng" dirty="0"/>
              <a:t>Problem-02:</a:t>
            </a:r>
            <a:br>
              <a:rPr lang="en-US" sz="3200" b="1" dirty="0"/>
            </a:br>
            <a:endParaRPr lang="en-US" sz="3200" dirty="0"/>
          </a:p>
        </p:txBody>
      </p:sp>
      <p:sp>
        <p:nvSpPr>
          <p:cNvPr id="3" name="Content Placeholder 2"/>
          <p:cNvSpPr>
            <a:spLocks noGrp="1"/>
          </p:cNvSpPr>
          <p:nvPr>
            <p:ph idx="1"/>
          </p:nvPr>
        </p:nvSpPr>
        <p:spPr>
          <a:xfrm>
            <a:off x="457200" y="762000"/>
            <a:ext cx="8229600" cy="5364163"/>
          </a:xfrm>
        </p:spPr>
        <p:txBody>
          <a:bodyPr/>
          <a:lstStyle/>
          <a:p>
            <a:pPr marL="0" indent="0">
              <a:buNone/>
            </a:pPr>
            <a:r>
              <a:rPr lang="en-US" dirty="0"/>
              <a:t>Minimize the given DFA-</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4000"/>
            <a:ext cx="7096279"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8427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b="1" u="sng" dirty="0"/>
              <a:t>Solution-</a:t>
            </a:r>
            <a:r>
              <a:rPr lang="en-US" dirty="0"/>
              <a:t> </a:t>
            </a:r>
          </a:p>
          <a:p>
            <a:pPr marL="0" indent="0">
              <a:buNone/>
            </a:pPr>
            <a:r>
              <a:rPr lang="en-US" b="1" u="sng" dirty="0"/>
              <a:t>Step-01:</a:t>
            </a:r>
            <a:endParaRPr lang="en-US" dirty="0"/>
          </a:p>
          <a:p>
            <a:pPr marL="0" indent="0">
              <a:buNone/>
            </a:pPr>
            <a:r>
              <a:rPr lang="en-US" dirty="0"/>
              <a:t>State q</a:t>
            </a:r>
            <a:r>
              <a:rPr lang="en-US" baseline="-25000" dirty="0"/>
              <a:t>3</a:t>
            </a:r>
            <a:r>
              <a:rPr lang="en-US" dirty="0"/>
              <a:t> is inaccessible from the initial state.</a:t>
            </a:r>
          </a:p>
          <a:p>
            <a:pPr marL="0" indent="0">
              <a:buNone/>
            </a:pPr>
            <a:r>
              <a:rPr lang="en-US" dirty="0"/>
              <a:t>So, we eliminate it and its associated edges from the DFA.</a:t>
            </a:r>
          </a:p>
          <a:p>
            <a:pPr marL="0" indent="0">
              <a:buNone/>
            </a:pPr>
            <a:r>
              <a:rPr lang="en-US" dirty="0"/>
              <a:t>The resulting DFA is-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0"/>
            <a:ext cx="774189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424838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b="1" u="sng" dirty="0"/>
              <a:t>Step-02:</a:t>
            </a:r>
            <a:r>
              <a:rPr lang="en-US" dirty="0"/>
              <a:t> </a:t>
            </a:r>
          </a:p>
          <a:p>
            <a:pPr marL="0" indent="0">
              <a:buNone/>
            </a:pPr>
            <a:r>
              <a:rPr lang="en-US" dirty="0"/>
              <a:t>Draw a state transition table-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46701738"/>
              </p:ext>
            </p:extLst>
          </p:nvPr>
        </p:nvGraphicFramePr>
        <p:xfrm>
          <a:off x="761999" y="1676401"/>
          <a:ext cx="7086600" cy="4190998"/>
        </p:xfrm>
        <a:graphic>
          <a:graphicData uri="http://schemas.openxmlformats.org/drawingml/2006/table">
            <a:tbl>
              <a:tblPr/>
              <a:tblGrid>
                <a:gridCol w="2361848">
                  <a:extLst>
                    <a:ext uri="{9D8B030D-6E8A-4147-A177-3AD203B41FA5}">
                      <a16:colId xmlns:a16="http://schemas.microsoft.com/office/drawing/2014/main" val="20000"/>
                    </a:ext>
                  </a:extLst>
                </a:gridCol>
                <a:gridCol w="2362376">
                  <a:extLst>
                    <a:ext uri="{9D8B030D-6E8A-4147-A177-3AD203B41FA5}">
                      <a16:colId xmlns:a16="http://schemas.microsoft.com/office/drawing/2014/main" val="20001"/>
                    </a:ext>
                  </a:extLst>
                </a:gridCol>
                <a:gridCol w="2362376">
                  <a:extLst>
                    <a:ext uri="{9D8B030D-6E8A-4147-A177-3AD203B41FA5}">
                      <a16:colId xmlns:a16="http://schemas.microsoft.com/office/drawing/2014/main" val="20002"/>
                    </a:ext>
                  </a:extLst>
                </a:gridCol>
              </a:tblGrid>
              <a:tr h="1207576">
                <a:tc>
                  <a:txBody>
                    <a:bodyPr/>
                    <a:lstStyle/>
                    <a:p>
                      <a:endParaRPr lang="en-US" dirty="0"/>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400" b="1" dirty="0">
                          <a:solidFill>
                            <a:schemeClr val="bg1"/>
                          </a:solidFill>
                          <a:effectLst/>
                        </a:rPr>
                        <a:t>a</a:t>
                      </a:r>
                      <a:endParaRPr lang="en-US" sz="6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400" b="1" dirty="0">
                          <a:solidFill>
                            <a:schemeClr val="bg1"/>
                          </a:solidFill>
                          <a:effectLst/>
                        </a:rPr>
                        <a:t>b</a:t>
                      </a:r>
                      <a:endParaRPr lang="en-US" sz="6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B w="9525" cap="flat" cmpd="sng" algn="ctr">
                      <a:solidFill>
                        <a:srgbClr val="515455"/>
                      </a:solidFill>
                      <a:prstDash val="solid"/>
                      <a:round/>
                      <a:headEnd type="none" w="med" len="med"/>
                      <a:tailEnd type="none" w="med" len="med"/>
                    </a:lnB>
                    <a:solidFill>
                      <a:schemeClr val="tx1">
                        <a:lumMod val="85000"/>
                        <a:lumOff val="15000"/>
                      </a:schemeClr>
                    </a:solidFill>
                  </a:tcPr>
                </a:tc>
                <a:extLst>
                  <a:ext uri="{0D108BD9-81ED-4DB2-BD59-A6C34878D82A}">
                    <a16:rowId xmlns:a16="http://schemas.microsoft.com/office/drawing/2014/main" val="10000"/>
                  </a:ext>
                </a:extLst>
              </a:tr>
              <a:tr h="994474">
                <a:tc>
                  <a:txBody>
                    <a:bodyPr/>
                    <a:lstStyle/>
                    <a:p>
                      <a:pPr algn="ctr"/>
                      <a:r>
                        <a:rPr lang="en-US" sz="3600" dirty="0">
                          <a:solidFill>
                            <a:schemeClr val="bg1"/>
                          </a:solidFill>
                          <a:effectLst/>
                        </a:rPr>
                        <a:t>→</a:t>
                      </a:r>
                      <a:r>
                        <a:rPr lang="en-US" sz="3600" b="1" dirty="0">
                          <a:solidFill>
                            <a:schemeClr val="bg1"/>
                          </a:solidFill>
                          <a:effectLst/>
                        </a:rPr>
                        <a:t>q0</a:t>
                      </a:r>
                      <a:endParaRPr lang="en-US" sz="48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a:solidFill>
                            <a:schemeClr val="bg1"/>
                          </a:solidFill>
                          <a:effectLst/>
                        </a:rPr>
                        <a:t>q0</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1"/>
                  </a:ext>
                </a:extLst>
              </a:tr>
              <a:tr h="994474">
                <a:tc>
                  <a:txBody>
                    <a:bodyPr/>
                    <a:lstStyle/>
                    <a:p>
                      <a:pPr algn="ctr"/>
                      <a:r>
                        <a:rPr lang="en-US" sz="3600" b="1" dirty="0">
                          <a:solidFill>
                            <a:schemeClr val="bg1"/>
                          </a:solidFill>
                          <a:effectLst/>
                        </a:rPr>
                        <a:t>*q1</a:t>
                      </a:r>
                      <a:endParaRPr lang="en-US" sz="48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dirty="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2"/>
                  </a:ext>
                </a:extLst>
              </a:tr>
              <a:tr h="994474">
                <a:tc>
                  <a:txBody>
                    <a:bodyPr/>
                    <a:lstStyle/>
                    <a:p>
                      <a:pPr algn="ctr"/>
                      <a:r>
                        <a:rPr lang="en-US" sz="3600" b="1" dirty="0">
                          <a:solidFill>
                            <a:schemeClr val="bg1"/>
                          </a:solidFill>
                          <a:effectLst/>
                        </a:rPr>
                        <a:t>*q2</a:t>
                      </a:r>
                      <a:endParaRPr lang="en-US" sz="48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4000" dirty="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0939367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marL="0" indent="0">
              <a:buNone/>
            </a:pPr>
            <a:r>
              <a:rPr lang="en-US" sz="3600" b="1" u="sng" dirty="0"/>
              <a:t>Step-03:</a:t>
            </a:r>
            <a:endParaRPr lang="en-US" sz="3600" dirty="0"/>
          </a:p>
          <a:p>
            <a:pPr marL="0" indent="0">
              <a:buNone/>
            </a:pPr>
            <a:r>
              <a:rPr lang="en-US" sz="3600" dirty="0"/>
              <a:t>Now using Equivalence Theorem, we have-</a:t>
            </a:r>
          </a:p>
          <a:p>
            <a:pPr marL="0" indent="0">
              <a:buNone/>
            </a:pPr>
            <a:r>
              <a:rPr lang="en-US" sz="3600" dirty="0"/>
              <a:t>P</a:t>
            </a:r>
            <a:r>
              <a:rPr lang="en-US" sz="3600" baseline="-25000" dirty="0"/>
              <a:t>0</a:t>
            </a:r>
            <a:r>
              <a:rPr lang="en-US" sz="3600" dirty="0"/>
              <a:t> = { q</a:t>
            </a:r>
            <a:r>
              <a:rPr lang="en-US" sz="3600" baseline="-25000" dirty="0"/>
              <a:t>0</a:t>
            </a:r>
            <a:r>
              <a:rPr lang="en-US" sz="3600" dirty="0"/>
              <a:t> } { q</a:t>
            </a:r>
            <a:r>
              <a:rPr lang="en-US" sz="3600" baseline="-25000" dirty="0"/>
              <a:t>1</a:t>
            </a:r>
            <a:r>
              <a:rPr lang="en-US" sz="3600" dirty="0"/>
              <a:t> , q</a:t>
            </a:r>
            <a:r>
              <a:rPr lang="en-US" sz="3600" baseline="-25000" dirty="0"/>
              <a:t>2</a:t>
            </a:r>
            <a:r>
              <a:rPr lang="en-US" sz="3600" dirty="0"/>
              <a:t> }</a:t>
            </a:r>
          </a:p>
          <a:p>
            <a:pPr marL="0" indent="0">
              <a:buNone/>
            </a:pPr>
            <a:r>
              <a:rPr lang="en-US" sz="3600" dirty="0"/>
              <a:t>P</a:t>
            </a:r>
            <a:r>
              <a:rPr lang="en-US" sz="3600" baseline="-25000" dirty="0"/>
              <a:t>1</a:t>
            </a:r>
            <a:r>
              <a:rPr lang="en-US" sz="3600" dirty="0"/>
              <a:t> = { q</a:t>
            </a:r>
            <a:r>
              <a:rPr lang="en-US" sz="3600" baseline="-25000" dirty="0"/>
              <a:t>0</a:t>
            </a:r>
            <a:r>
              <a:rPr lang="en-US" sz="3600" dirty="0"/>
              <a:t> } { q</a:t>
            </a:r>
            <a:r>
              <a:rPr lang="en-US" sz="3600" baseline="-25000" dirty="0"/>
              <a:t>1</a:t>
            </a:r>
            <a:r>
              <a:rPr lang="en-US" sz="3600" dirty="0"/>
              <a:t> , q</a:t>
            </a:r>
            <a:r>
              <a:rPr lang="en-US" sz="3600" baseline="-25000" dirty="0"/>
              <a:t>2</a:t>
            </a:r>
            <a:r>
              <a:rPr lang="en-US" sz="3600" dirty="0"/>
              <a:t> }</a:t>
            </a:r>
          </a:p>
          <a:p>
            <a:pPr marL="0" indent="0">
              <a:buNone/>
            </a:pPr>
            <a:endParaRPr lang="en-US" sz="3600" dirty="0"/>
          </a:p>
          <a:p>
            <a:pPr marL="0" indent="0">
              <a:buNone/>
            </a:pPr>
            <a:r>
              <a:rPr lang="en-US" sz="3600" dirty="0"/>
              <a:t>Since P</a:t>
            </a:r>
            <a:r>
              <a:rPr lang="en-US" sz="3600" baseline="-25000" dirty="0"/>
              <a:t>1</a:t>
            </a:r>
            <a:r>
              <a:rPr lang="en-US" sz="3600" dirty="0"/>
              <a:t> = P</a:t>
            </a:r>
            <a:r>
              <a:rPr lang="en-US" sz="3600" baseline="-25000" dirty="0"/>
              <a:t>0</a:t>
            </a:r>
            <a:r>
              <a:rPr lang="en-US" sz="3600" dirty="0"/>
              <a:t>, so we stop.</a:t>
            </a:r>
          </a:p>
          <a:p>
            <a:pPr marL="0" indent="0">
              <a:buNone/>
            </a:pPr>
            <a:r>
              <a:rPr lang="en-US" sz="3600" dirty="0"/>
              <a:t>From P</a:t>
            </a:r>
            <a:r>
              <a:rPr lang="en-US" sz="3600" baseline="-25000" dirty="0"/>
              <a:t>1</a:t>
            </a:r>
            <a:r>
              <a:rPr lang="en-US" sz="3600" dirty="0"/>
              <a:t>, we infer that states q</a:t>
            </a:r>
            <a:r>
              <a:rPr lang="en-US" sz="3600" baseline="-25000" dirty="0"/>
              <a:t>1</a:t>
            </a:r>
            <a:r>
              <a:rPr lang="en-US" sz="3600" dirty="0"/>
              <a:t> and q</a:t>
            </a:r>
            <a:r>
              <a:rPr lang="en-US" sz="3600" baseline="-25000" dirty="0"/>
              <a:t>2</a:t>
            </a:r>
            <a:r>
              <a:rPr lang="en-US" sz="3600" dirty="0"/>
              <a:t> are equivalent and can be merged together.</a:t>
            </a:r>
          </a:p>
        </p:txBody>
      </p:sp>
    </p:spTree>
    <p:extLst>
      <p:ext uri="{BB962C8B-B14F-4D97-AF65-F5344CB8AC3E}">
        <p14:creationId xmlns:p14="http://schemas.microsoft.com/office/powerpoint/2010/main" val="389089704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minimal DFA is-</a:t>
            </a:r>
            <a:br>
              <a:rPr lang="en-US" dirty="0"/>
            </a:br>
            <a:endParaRPr lang="en-US"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914400"/>
            <a:ext cx="73914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525428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Problem-03:</a:t>
            </a:r>
            <a:br>
              <a:rPr lang="en-US" b="1" dirty="0"/>
            </a:b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a:t>Minimize the given DFA-</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05000"/>
            <a:ext cx="6612174" cy="423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89672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b="1" u="sng" dirty="0"/>
              <a:t>Solution-</a:t>
            </a:r>
            <a:r>
              <a:rPr lang="en-US" dirty="0"/>
              <a:t> </a:t>
            </a:r>
          </a:p>
          <a:p>
            <a:pPr marL="0" indent="0">
              <a:buNone/>
            </a:pPr>
            <a:r>
              <a:rPr lang="en-US" b="1" u="sng" dirty="0"/>
              <a:t>Step-01  </a:t>
            </a:r>
            <a:r>
              <a:rPr lang="en-US" dirty="0"/>
              <a:t>The given DFA contains no dead states and inaccessible states.</a:t>
            </a:r>
          </a:p>
          <a:p>
            <a:pPr marL="0" indent="0">
              <a:buNone/>
            </a:pPr>
            <a:r>
              <a:rPr lang="en-US" b="1" u="sng" dirty="0"/>
              <a:t>Step-02:</a:t>
            </a:r>
            <a:r>
              <a:rPr lang="en-US" dirty="0"/>
              <a:t>    Draw a state transition table-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97550453"/>
              </p:ext>
            </p:extLst>
          </p:nvPr>
        </p:nvGraphicFramePr>
        <p:xfrm>
          <a:off x="1447799" y="2537298"/>
          <a:ext cx="5111949" cy="3970226"/>
        </p:xfrm>
        <a:graphic>
          <a:graphicData uri="http://schemas.openxmlformats.org/drawingml/2006/table">
            <a:tbl>
              <a:tblPr/>
              <a:tblGrid>
                <a:gridCol w="1703729">
                  <a:extLst>
                    <a:ext uri="{9D8B030D-6E8A-4147-A177-3AD203B41FA5}">
                      <a16:colId xmlns:a16="http://schemas.microsoft.com/office/drawing/2014/main" val="20000"/>
                    </a:ext>
                  </a:extLst>
                </a:gridCol>
                <a:gridCol w="1704110">
                  <a:extLst>
                    <a:ext uri="{9D8B030D-6E8A-4147-A177-3AD203B41FA5}">
                      <a16:colId xmlns:a16="http://schemas.microsoft.com/office/drawing/2014/main" val="20001"/>
                    </a:ext>
                  </a:extLst>
                </a:gridCol>
                <a:gridCol w="1704110">
                  <a:extLst>
                    <a:ext uri="{9D8B030D-6E8A-4147-A177-3AD203B41FA5}">
                      <a16:colId xmlns:a16="http://schemas.microsoft.com/office/drawing/2014/main" val="20002"/>
                    </a:ext>
                  </a:extLst>
                </a:gridCol>
              </a:tblGrid>
              <a:tr h="769826">
                <a:tc>
                  <a:txBody>
                    <a:bodyPr/>
                    <a:lstStyle/>
                    <a:p>
                      <a:endParaRPr lang="en-US"/>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800" b="1" dirty="0">
                          <a:solidFill>
                            <a:schemeClr val="bg1"/>
                          </a:solidFill>
                          <a:effectLst/>
                        </a:rPr>
                        <a:t>0</a:t>
                      </a:r>
                      <a:endParaRPr lang="en-US" sz="4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2800" b="1" dirty="0">
                          <a:solidFill>
                            <a:schemeClr val="bg1"/>
                          </a:solidFill>
                          <a:effectLst/>
                        </a:rPr>
                        <a:t>1</a:t>
                      </a:r>
                      <a:endParaRPr lang="en-US" sz="40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B w="9525" cap="flat" cmpd="sng" algn="ctr">
                      <a:solidFill>
                        <a:srgbClr val="515455"/>
                      </a:solidFill>
                      <a:prstDash val="solid"/>
                      <a:round/>
                      <a:headEnd type="none" w="med" len="med"/>
                      <a:tailEnd type="none" w="med" len="med"/>
                    </a:lnB>
                    <a:solidFill>
                      <a:schemeClr val="tx1">
                        <a:lumMod val="85000"/>
                        <a:lumOff val="15000"/>
                      </a:schemeClr>
                    </a:solidFill>
                  </a:tcPr>
                </a:tc>
                <a:extLst>
                  <a:ext uri="{0D108BD9-81ED-4DB2-BD59-A6C34878D82A}">
                    <a16:rowId xmlns:a16="http://schemas.microsoft.com/office/drawing/2014/main" val="10000"/>
                  </a:ext>
                </a:extLst>
              </a:tr>
              <a:tr h="633975">
                <a:tc>
                  <a:txBody>
                    <a:bodyPr/>
                    <a:lstStyle/>
                    <a:p>
                      <a:pPr algn="ctr"/>
                      <a:r>
                        <a:rPr lang="en-US" sz="2000" dirty="0">
                          <a:solidFill>
                            <a:schemeClr val="bg1"/>
                          </a:solidFill>
                          <a:effectLst/>
                        </a:rPr>
                        <a:t>→</a:t>
                      </a:r>
                      <a:r>
                        <a:rPr lang="en-US" sz="2000" b="1" dirty="0">
                          <a:solidFill>
                            <a:schemeClr val="bg1"/>
                          </a:solidFill>
                          <a:effectLst/>
                        </a:rPr>
                        <a:t>q0</a:t>
                      </a:r>
                      <a:endParaRPr lang="en-US" sz="3200" dirty="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a:solidFill>
                            <a:schemeClr val="bg1"/>
                          </a:solidFill>
                          <a:effectLst/>
                        </a:rPr>
                        <a:t>q3</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1"/>
                  </a:ext>
                </a:extLst>
              </a:tr>
              <a:tr h="633975">
                <a:tc>
                  <a:txBody>
                    <a:bodyPr/>
                    <a:lstStyle/>
                    <a:p>
                      <a:pPr algn="ctr"/>
                      <a:r>
                        <a:rPr lang="en-US" sz="2000" b="1">
                          <a:solidFill>
                            <a:schemeClr val="bg1"/>
                          </a:solidFill>
                          <a:effectLst/>
                        </a:rPr>
                        <a:t>q1</a:t>
                      </a:r>
                      <a:endParaRPr lang="en-US" sz="320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dirty="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2"/>
                  </a:ext>
                </a:extLst>
              </a:tr>
              <a:tr h="633975">
                <a:tc>
                  <a:txBody>
                    <a:bodyPr/>
                    <a:lstStyle/>
                    <a:p>
                      <a:pPr algn="ctr"/>
                      <a:r>
                        <a:rPr lang="en-US" sz="2000" b="1">
                          <a:solidFill>
                            <a:schemeClr val="bg1"/>
                          </a:solidFill>
                          <a:effectLst/>
                        </a:rPr>
                        <a:t>q2</a:t>
                      </a:r>
                      <a:endParaRPr lang="en-US" sz="320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dirty="0">
                          <a:solidFill>
                            <a:schemeClr val="bg1"/>
                          </a:solidFill>
                          <a:effectLst/>
                        </a:rPr>
                        <a:t>q1</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3"/>
                  </a:ext>
                </a:extLst>
              </a:tr>
              <a:tr h="633975">
                <a:tc>
                  <a:txBody>
                    <a:bodyPr/>
                    <a:lstStyle/>
                    <a:p>
                      <a:pPr algn="ctr"/>
                      <a:r>
                        <a:rPr lang="en-US" sz="2000" b="1">
                          <a:solidFill>
                            <a:schemeClr val="bg1"/>
                          </a:solidFill>
                          <a:effectLst/>
                        </a:rPr>
                        <a:t>q3</a:t>
                      </a:r>
                      <a:endParaRPr lang="en-US" sz="320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a:solidFill>
                            <a:schemeClr val="bg1"/>
                          </a:solidFill>
                          <a:effectLst/>
                        </a:rPr>
                        <a:t>q2</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dirty="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4"/>
                  </a:ext>
                </a:extLst>
              </a:tr>
              <a:tr h="633975">
                <a:tc>
                  <a:txBody>
                    <a:bodyPr/>
                    <a:lstStyle/>
                    <a:p>
                      <a:pPr algn="ctr"/>
                      <a:r>
                        <a:rPr lang="en-US" sz="2000" b="1">
                          <a:solidFill>
                            <a:schemeClr val="bg1"/>
                          </a:solidFill>
                          <a:effectLst/>
                        </a:rPr>
                        <a:t>*q4</a:t>
                      </a:r>
                      <a:endParaRPr lang="en-US" sz="3200">
                        <a:solidFill>
                          <a:schemeClr val="bg1"/>
                        </a:solidFill>
                        <a:effectLst/>
                      </a:endParaRP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tc>
                  <a:txBody>
                    <a:bodyPr/>
                    <a:lstStyle/>
                    <a:p>
                      <a:pPr algn="ctr"/>
                      <a:r>
                        <a:rPr lang="en-US" sz="3200" dirty="0">
                          <a:solidFill>
                            <a:schemeClr val="bg1"/>
                          </a:solidFill>
                          <a:effectLst/>
                        </a:rPr>
                        <a:t>*q4</a:t>
                      </a:r>
                    </a:p>
                  </a:txBody>
                  <a:tcPr marL="95250" marR="95250" marT="76200" marB="76200" anchor="ctr">
                    <a:lnL w="9525" cap="flat" cmpd="sng" algn="ctr">
                      <a:solidFill>
                        <a:srgbClr val="515455"/>
                      </a:solidFill>
                      <a:prstDash val="solid"/>
                      <a:round/>
                      <a:headEnd type="none" w="med" len="med"/>
                      <a:tailEnd type="none" w="med" len="med"/>
                    </a:lnL>
                    <a:lnR w="9525" cap="flat" cmpd="sng" algn="ctr">
                      <a:solidFill>
                        <a:srgbClr val="515455"/>
                      </a:solidFill>
                      <a:prstDash val="solid"/>
                      <a:round/>
                      <a:headEnd type="none" w="med" len="med"/>
                      <a:tailEnd type="none" w="med" len="med"/>
                    </a:lnR>
                    <a:lnT w="9525" cap="flat" cmpd="sng" algn="ctr">
                      <a:solidFill>
                        <a:srgbClr val="515455"/>
                      </a:solidFill>
                      <a:prstDash val="solid"/>
                      <a:round/>
                      <a:headEnd type="none" w="med" len="med"/>
                      <a:tailEnd type="none" w="med" len="med"/>
                    </a:lnT>
                    <a:lnB w="9525" cap="flat" cmpd="sng" algn="ctr">
                      <a:solidFill>
                        <a:srgbClr val="515455"/>
                      </a:solidFill>
                      <a:prstDash val="solid"/>
                      <a:round/>
                      <a:headEnd type="none" w="med" len="med"/>
                      <a:tailEnd type="none" w="med" len="med"/>
                    </a:lnB>
                    <a:solidFill>
                      <a:srgbClr val="242525"/>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9419856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b="1" u="sng" dirty="0"/>
              <a:t>Step-03:</a:t>
            </a:r>
            <a:endParaRPr lang="en-US" dirty="0"/>
          </a:p>
          <a:p>
            <a:pPr marL="0" indent="0">
              <a:buNone/>
            </a:pPr>
            <a:r>
              <a:rPr lang="en-US" dirty="0"/>
              <a:t>Now using Equivalence Theorem, we have-</a:t>
            </a:r>
          </a:p>
          <a:p>
            <a:r>
              <a:rPr lang="en-US" dirty="0"/>
              <a:t>P</a:t>
            </a:r>
            <a:r>
              <a:rPr lang="en-US" baseline="-25000" dirty="0"/>
              <a:t>0</a:t>
            </a:r>
            <a:r>
              <a:rPr lang="en-US" dirty="0"/>
              <a:t> = { q</a:t>
            </a:r>
            <a:r>
              <a:rPr lang="en-US" baseline="-25000" dirty="0"/>
              <a:t>0</a:t>
            </a:r>
            <a:r>
              <a:rPr lang="en-US" dirty="0"/>
              <a:t> , q</a:t>
            </a:r>
            <a:r>
              <a:rPr lang="en-US" baseline="-25000" dirty="0"/>
              <a:t>1</a:t>
            </a:r>
            <a:r>
              <a:rPr lang="en-US" dirty="0"/>
              <a:t> , q</a:t>
            </a:r>
            <a:r>
              <a:rPr lang="en-US" baseline="-25000" dirty="0"/>
              <a:t>2</a:t>
            </a:r>
            <a:r>
              <a:rPr lang="en-US" dirty="0"/>
              <a:t> , q</a:t>
            </a:r>
            <a:r>
              <a:rPr lang="en-US" baseline="-25000" dirty="0"/>
              <a:t>3</a:t>
            </a:r>
            <a:r>
              <a:rPr lang="en-US" dirty="0"/>
              <a:t> } { q</a:t>
            </a:r>
            <a:r>
              <a:rPr lang="en-US" baseline="-25000" dirty="0"/>
              <a:t>4</a:t>
            </a:r>
            <a:r>
              <a:rPr lang="en-US" dirty="0"/>
              <a:t> }</a:t>
            </a:r>
          </a:p>
          <a:p>
            <a:r>
              <a:rPr lang="en-US" dirty="0"/>
              <a:t>P</a:t>
            </a:r>
            <a:r>
              <a:rPr lang="en-US" baseline="-25000" dirty="0"/>
              <a:t>1</a:t>
            </a:r>
            <a:r>
              <a:rPr lang="en-US" dirty="0"/>
              <a:t> = { q</a:t>
            </a:r>
            <a:r>
              <a:rPr lang="en-US" baseline="-25000" dirty="0"/>
              <a:t>0</a:t>
            </a:r>
            <a:r>
              <a:rPr lang="en-US" dirty="0"/>
              <a:t> } { q</a:t>
            </a:r>
            <a:r>
              <a:rPr lang="en-US" baseline="-25000" dirty="0"/>
              <a:t>1</a:t>
            </a:r>
            <a:r>
              <a:rPr lang="en-US" dirty="0"/>
              <a:t> , q</a:t>
            </a:r>
            <a:r>
              <a:rPr lang="en-US" baseline="-25000" dirty="0"/>
              <a:t>2</a:t>
            </a:r>
            <a:r>
              <a:rPr lang="en-US" dirty="0"/>
              <a:t> , q</a:t>
            </a:r>
            <a:r>
              <a:rPr lang="en-US" baseline="-25000" dirty="0"/>
              <a:t>3</a:t>
            </a:r>
            <a:r>
              <a:rPr lang="en-US" dirty="0"/>
              <a:t> } { q</a:t>
            </a:r>
            <a:r>
              <a:rPr lang="en-US" baseline="-25000" dirty="0"/>
              <a:t>4</a:t>
            </a:r>
            <a:r>
              <a:rPr lang="en-US" dirty="0"/>
              <a:t> }</a:t>
            </a:r>
          </a:p>
          <a:p>
            <a:r>
              <a:rPr lang="en-US" dirty="0"/>
              <a:t>P</a:t>
            </a:r>
            <a:r>
              <a:rPr lang="en-US" baseline="-25000" dirty="0"/>
              <a:t>2</a:t>
            </a:r>
            <a:r>
              <a:rPr lang="en-US" dirty="0"/>
              <a:t> = { q</a:t>
            </a:r>
            <a:r>
              <a:rPr lang="en-US" baseline="-25000" dirty="0"/>
              <a:t>0</a:t>
            </a:r>
            <a:r>
              <a:rPr lang="en-US" dirty="0"/>
              <a:t> } { q</a:t>
            </a:r>
            <a:r>
              <a:rPr lang="en-US" baseline="-25000" dirty="0"/>
              <a:t>1</a:t>
            </a:r>
            <a:r>
              <a:rPr lang="en-US" dirty="0"/>
              <a:t> , q</a:t>
            </a:r>
            <a:r>
              <a:rPr lang="en-US" baseline="-25000" dirty="0"/>
              <a:t>2</a:t>
            </a:r>
            <a:r>
              <a:rPr lang="en-US" dirty="0"/>
              <a:t> , q</a:t>
            </a:r>
            <a:r>
              <a:rPr lang="en-US" baseline="-25000" dirty="0"/>
              <a:t>3</a:t>
            </a:r>
            <a:r>
              <a:rPr lang="en-US" dirty="0"/>
              <a:t> } { q</a:t>
            </a:r>
            <a:r>
              <a:rPr lang="en-US" baseline="-25000" dirty="0"/>
              <a:t>4</a:t>
            </a:r>
            <a:r>
              <a:rPr lang="en-US" dirty="0"/>
              <a:t> } </a:t>
            </a:r>
          </a:p>
          <a:p>
            <a:r>
              <a:rPr lang="en-US" dirty="0"/>
              <a:t>Since P</a:t>
            </a:r>
            <a:r>
              <a:rPr lang="en-US" baseline="-25000" dirty="0"/>
              <a:t>2</a:t>
            </a:r>
            <a:r>
              <a:rPr lang="en-US" dirty="0"/>
              <a:t> = P</a:t>
            </a:r>
            <a:r>
              <a:rPr lang="en-US" baseline="-25000" dirty="0"/>
              <a:t>1</a:t>
            </a:r>
            <a:r>
              <a:rPr lang="en-US" dirty="0"/>
              <a:t>, so we stop.</a:t>
            </a:r>
          </a:p>
          <a:p>
            <a:r>
              <a:rPr lang="en-US" dirty="0"/>
              <a:t>From P</a:t>
            </a:r>
            <a:r>
              <a:rPr lang="en-US" baseline="-25000" dirty="0"/>
              <a:t>2</a:t>
            </a:r>
            <a:r>
              <a:rPr lang="en-US" dirty="0"/>
              <a:t>, we infer that states q</a:t>
            </a:r>
            <a:r>
              <a:rPr lang="en-US" baseline="-25000" dirty="0"/>
              <a:t>1</a:t>
            </a:r>
            <a:r>
              <a:rPr lang="en-US" dirty="0"/>
              <a:t> , q</a:t>
            </a:r>
            <a:r>
              <a:rPr lang="en-US" baseline="-25000" dirty="0"/>
              <a:t>2</a:t>
            </a:r>
            <a:r>
              <a:rPr lang="en-US" dirty="0"/>
              <a:t> and q</a:t>
            </a:r>
            <a:r>
              <a:rPr lang="en-US" baseline="-25000" dirty="0"/>
              <a:t>3</a:t>
            </a:r>
            <a:r>
              <a:rPr lang="en-US" dirty="0"/>
              <a:t> are equivalent and can be merged together.</a:t>
            </a:r>
          </a:p>
          <a:p>
            <a:endParaRPr lang="en-US" dirty="0"/>
          </a:p>
        </p:txBody>
      </p:sp>
    </p:spTree>
    <p:extLst>
      <p:ext uri="{BB962C8B-B14F-4D97-AF65-F5344CB8AC3E}">
        <p14:creationId xmlns:p14="http://schemas.microsoft.com/office/powerpoint/2010/main" val="304185456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minimal DFA is-</a:t>
            </a:r>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143000"/>
            <a:ext cx="7647846"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0394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1582</TotalTime>
  <Words>7666</Words>
  <Application>Microsoft Office PowerPoint</Application>
  <PresentationFormat>On-screen Show (4:3)</PresentationFormat>
  <Paragraphs>561</Paragraphs>
  <Slides>159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159</vt:i4>
      </vt:variant>
    </vt:vector>
  </HeadingPairs>
  <TitlesOfParts>
    <vt:vector size="162" baseType="lpstr">
      <vt:lpstr>Arial</vt:lpstr>
      <vt:lpstr>Calibri</vt:lpstr>
      <vt:lpstr>Office Theme</vt:lpstr>
      <vt:lpstr>COMPILER DESIGN</vt:lpstr>
      <vt:lpstr>PowerPoint Presentation</vt:lpstr>
      <vt:lpstr>INTRODUCTION TO COMPILERS</vt:lpstr>
      <vt:lpstr>LANGUAGE PROCESSING SYSTEM</vt:lpstr>
      <vt:lpstr>LANGUAGE PROCESSING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 PHASES of a Compiler </vt:lpstr>
      <vt:lpstr>PowerPoint Presentation</vt:lpstr>
      <vt:lpstr>STRUCTURE/ PHASES of a Compiler </vt:lpstr>
      <vt:lpstr>PowerPoint Presentation</vt:lpstr>
      <vt:lpstr>PowerPoint Presentation</vt:lpstr>
      <vt:lpstr>LEXICAL ANALYZER </vt:lpstr>
      <vt:lpstr>PowerPoint Presentation</vt:lpstr>
      <vt:lpstr>SYNTAX ANALYZER </vt:lpstr>
      <vt:lpstr>EXAMPLE </vt:lpstr>
      <vt:lpstr>SEMANTIC ANALYSIS </vt:lpstr>
      <vt:lpstr>PowerPoint Presentation</vt:lpstr>
      <vt:lpstr>Intermediate Code Generator</vt:lpstr>
      <vt:lpstr>PowerPoint Presentation</vt:lpstr>
      <vt:lpstr>Optimization</vt:lpstr>
      <vt:lpstr>Code Generation</vt:lpstr>
      <vt:lpstr>Symbol Table</vt:lpstr>
      <vt:lpstr>PowerPoint Presentation</vt:lpstr>
      <vt:lpstr>PowerPoint Presentation</vt:lpstr>
      <vt:lpstr>GROUPING OF PHASES</vt:lpstr>
      <vt:lpstr>PowerPoint Presentation</vt:lpstr>
      <vt:lpstr>PowerPoint Presentation</vt:lpstr>
      <vt:lpstr>PowerPoint Presentation</vt:lpstr>
      <vt:lpstr>PowerPoint Presentation</vt:lpstr>
      <vt:lpstr>Passes in Compiler: </vt:lpstr>
      <vt:lpstr>PowerPoint Presentation</vt:lpstr>
      <vt:lpstr>Compiler construction tools </vt:lpstr>
      <vt:lpstr>PowerPoint Presentation</vt:lpstr>
      <vt:lpstr>PowerPoint Presentation</vt:lpstr>
      <vt:lpstr>PowerPoint Presentation</vt:lpstr>
      <vt:lpstr>PowerPoint Presentation</vt:lpstr>
      <vt:lpstr>PowerPoint Presentation</vt:lpstr>
      <vt:lpstr>LEXICAL ANALYSIS</vt:lpstr>
      <vt:lpstr>ROLE OF LEXICAL ANALYZER</vt:lpstr>
      <vt:lpstr>PowerPoint Presentation</vt:lpstr>
      <vt:lpstr>PowerPoint Presentation</vt:lpstr>
      <vt:lpstr>TOKENS, PATTERNS AND LEXEMES</vt:lpstr>
      <vt:lpstr>PowerPoint Presentation</vt:lpstr>
      <vt:lpstr>PowerPoint Presentation</vt:lpstr>
      <vt:lpstr>PowerPoint Presentation</vt:lpstr>
      <vt:lpstr>PowerPoint Presentation</vt:lpstr>
      <vt:lpstr>PATTERN</vt:lpstr>
      <vt:lpstr>Example of Programming Language (C, C++)</vt:lpstr>
      <vt:lpstr>LEXEME</vt:lpstr>
      <vt:lpstr>INPUT BUFFERING</vt:lpstr>
      <vt:lpstr>It uses two pointers to scan tokens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Specification of Tokens </vt:lpstr>
      <vt:lpstr>There are 3 specifications of tokens:</vt:lpstr>
      <vt:lpstr>1. String  </vt:lpstr>
      <vt:lpstr>Operations on String: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RECOGNITION OF TOKENS</vt:lpstr>
      <vt:lpstr>1. Transition Table</vt:lpstr>
      <vt:lpstr>PowerPoint Presentation</vt:lpstr>
      <vt:lpstr>PowerPoint Presentation</vt:lpstr>
      <vt:lpstr>PowerPoint Presentation</vt:lpstr>
      <vt:lpstr>2. Transition Diagram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What is LEX in Compiler Design?  </vt:lpstr>
      <vt:lpstr>Function of Lex </vt:lpstr>
      <vt:lpstr>PowerPoint Presentation</vt:lpstr>
      <vt:lpstr> LEX Source Program </vt:lpstr>
      <vt:lpstr>PowerPoint Presentation</vt:lpstr>
      <vt:lpstr>PowerPoint Presentation</vt:lpstr>
      <vt:lpstr>Working of Lex </vt:lpstr>
      <vt:lpstr>PowerPoint Presentation</vt:lpstr>
      <vt:lpstr> Lex File Format </vt:lpstr>
      <vt:lpstr>The formal lex file has the following format- (separated by % delimiters)  </vt:lpstr>
      <vt:lpstr>PowerPoint Presentation</vt:lpstr>
      <vt:lpstr> An example implementation of a Lexical Analyser using Lex </vt:lpstr>
      <vt:lpstr> DFA(Deterministic finite automaton )</vt:lpstr>
      <vt:lpstr> Representation of DFA  </vt:lpstr>
      <vt:lpstr>PowerPoint Presentation</vt:lpstr>
      <vt:lpstr> Dead state in DFA  </vt:lpstr>
      <vt:lpstr> Need of Deterministic Finite Automata </vt:lpstr>
      <vt:lpstr> How Can I Use Deterministic Finite Automata? </vt:lpstr>
      <vt:lpstr>PowerPoint Presentation</vt:lpstr>
      <vt:lpstr>Non-Deterministic Finite Automata </vt:lpstr>
      <vt:lpstr> Formal definition of Non-Deterministic Finite Automata </vt:lpstr>
      <vt:lpstr>Example </vt:lpstr>
      <vt:lpstr> DFA VS NFA </vt:lpstr>
      <vt:lpstr>Conversion Of Regular Expressions to Finite Automata </vt:lpstr>
      <vt:lpstr>PowerPoint Presentation</vt:lpstr>
      <vt:lpstr>Example 1: Design a Finite Automata from the given RE [ ab + (b + aa)b* a ].</vt:lpstr>
      <vt:lpstr>PowerPoint Presentation</vt:lpstr>
      <vt:lpstr>PowerPoint Presentation</vt:lpstr>
      <vt:lpstr>The Corresponding transition table for DFA is:</vt:lpstr>
      <vt:lpstr>Example 2: Design an NFA from the given RE [ a (a* ba* ba*)* ].</vt:lpstr>
      <vt:lpstr>Minimization of DFA </vt:lpstr>
      <vt:lpstr>How To Minimize DFA?</vt:lpstr>
      <vt:lpstr>Minimization of DFA Using Equivalence Theorem-</vt:lpstr>
      <vt:lpstr>PowerPoint Presentation</vt:lpstr>
      <vt:lpstr>PowerPoint Presentation</vt:lpstr>
      <vt:lpstr>PowerPoint Presentation</vt:lpstr>
      <vt:lpstr>Problem-01: </vt:lpstr>
      <vt:lpstr>Solution- </vt:lpstr>
      <vt:lpstr>PowerPoint Presentation</vt:lpstr>
      <vt:lpstr>So, minimal DFA is-</vt:lpstr>
      <vt:lpstr>Problem-02: </vt:lpstr>
      <vt:lpstr>PowerPoint Presentation</vt:lpstr>
      <vt:lpstr>PowerPoint Presentation</vt:lpstr>
      <vt:lpstr>PowerPoint Presentation</vt:lpstr>
      <vt:lpstr>So minimal DFA is- </vt:lpstr>
      <vt:lpstr>Problem-03: </vt:lpstr>
      <vt:lpstr>PowerPoint Presentation</vt:lpstr>
      <vt:lpstr>PowerPoint Presentation</vt:lpstr>
      <vt:lpstr>So,  minimal DFA 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DESIGN</dc:title>
  <dc:creator>Windows User</dc:creator>
  <cp:lastModifiedBy>Ayush Saini</cp:lastModifiedBy>
  <cp:revision>116</cp:revision>
  <dcterms:created xsi:type="dcterms:W3CDTF">2025-01-19T04:59:51Z</dcterms:created>
  <dcterms:modified xsi:type="dcterms:W3CDTF">2026-02-08T16:42:10Z</dcterms:modified>
</cp:coreProperties>
</file>